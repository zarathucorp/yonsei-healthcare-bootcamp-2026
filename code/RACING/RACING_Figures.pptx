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  <p:sldId id="257" r:id="rId9"/>
    <p:sldId id="258" r:id="rId10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Relationship Id="rId9" Type="http://schemas.openxmlformats.org/officeDocument/2006/relationships/slide" Target="slides/slide2.xml"/>
<Relationship Id="rId10" Type="http://schemas.openxmlformats.org/officeDocument/2006/relationships/slide" Target="slides/slide3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2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_rels/slide3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2838264" y="306694"/>
              <a:ext cx="3467470" cy="41988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37708" y="1217924"/>
              <a:ext cx="3022922" cy="9380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5950097" y="1217924"/>
              <a:ext cx="2845103" cy="938031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437708" y="2691974"/>
              <a:ext cx="3022922" cy="8933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5950097" y="2691974"/>
              <a:ext cx="2845103" cy="893363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437708" y="4344697"/>
              <a:ext cx="3022922" cy="8486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5950097" y="4344697"/>
              <a:ext cx="2845103" cy="848695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7615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" name="tx12"/>
            <p:cNvSpPr/>
            <p:nvPr/>
          </p:nvSpPr>
          <p:spPr>
            <a:xfrm>
              <a:off x="3459769" y="478412"/>
              <a:ext cx="2224460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3780 patients underwent random assignment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331172" y="1512492"/>
              <a:ext cx="1235994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1894 assigned to receive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1229400" y="1648718"/>
              <a:ext cx="1439539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moderate-intensity statin with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195384" y="1784945"/>
              <a:ext cx="1507571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ezetimibe combination therapy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6754651" y="1580605"/>
              <a:ext cx="1235994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1886 assigned to receive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6557004" y="1716832"/>
              <a:ext cx="1631289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high-intensity statin monotherapy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003634" y="2964208"/>
              <a:ext cx="1891070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92 discontinued or reduced study drug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846129" y="3100434"/>
              <a:ext cx="2206081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owing to intolerance-related safety endpoints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380641" y="3236660"/>
              <a:ext cx="1137056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1802 without this event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396206" y="2964208"/>
              <a:ext cx="1952884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144 discontinued or reduced study drug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269608" y="3100434"/>
              <a:ext cx="2206081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owing to intolerance-related safety endpoints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804120" y="3236660"/>
              <a:ext cx="1137056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1742 without this event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907897" y="4594597"/>
              <a:ext cx="2082545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1894 included in intention-to-treat analysis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972773" y="4730823"/>
              <a:ext cx="19527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172 primary endpoint events; 26 deaths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74989" y="4867049"/>
              <a:ext cx="234836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67 censored before 3 years, reason unavailable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331375" y="4594597"/>
              <a:ext cx="2082545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1886 included in intention-to-treat analysis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396252" y="4730823"/>
              <a:ext cx="195279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186 primary endpoint events; 22 deaths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198467" y="4867049"/>
              <a:ext cx="2348362" cy="7644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76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61 censored before 3 years, reason unavailable</a:t>
              </a:r>
            </a:p>
          </p:txBody>
        </p:sp>
        <p:sp>
          <p:nvSpPr>
            <p:cNvPr id="30" name="pl30"/>
            <p:cNvSpPr/>
            <p:nvPr/>
          </p:nvSpPr>
          <p:spPr>
            <a:xfrm>
              <a:off x="4572000" y="726574"/>
              <a:ext cx="0" cy="285876"/>
            </a:xfrm>
            <a:custGeom>
              <a:avLst/>
              <a:pathLst>
                <a:path w="0" h="285876">
                  <a:moveTo>
                    <a:pt x="0" y="0"/>
                  </a:moveTo>
                  <a:lnTo>
                    <a:pt x="0" y="285876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949170" y="1012451"/>
              <a:ext cx="5423478" cy="0"/>
            </a:xfrm>
            <a:custGeom>
              <a:avLst/>
              <a:pathLst>
                <a:path w="5423478" h="0">
                  <a:moveTo>
                    <a:pt x="0" y="0"/>
                  </a:moveTo>
                  <a:lnTo>
                    <a:pt x="5423478" y="0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949170" y="1012451"/>
              <a:ext cx="0" cy="205473"/>
            </a:xfrm>
            <a:custGeom>
              <a:avLst/>
              <a:pathLst>
                <a:path w="0" h="205473">
                  <a:moveTo>
                    <a:pt x="0" y="0"/>
                  </a:moveTo>
                  <a:lnTo>
                    <a:pt x="0" y="205473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g33"/>
            <p:cNvSpPr/>
            <p:nvPr/>
          </p:nvSpPr>
          <p:spPr>
            <a:xfrm>
              <a:off x="1903450" y="1138735"/>
              <a:ext cx="91439" cy="79189"/>
            </a:xfrm>
            <a:custGeom>
              <a:avLst/>
              <a:pathLst>
                <a:path w="91439" h="79189">
                  <a:moveTo>
                    <a:pt x="0" y="0"/>
                  </a:moveTo>
                  <a:lnTo>
                    <a:pt x="45719" y="79189"/>
                  </a:lnTo>
                  <a:lnTo>
                    <a:pt x="91439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7372648" y="1012451"/>
              <a:ext cx="0" cy="205473"/>
            </a:xfrm>
            <a:custGeom>
              <a:avLst/>
              <a:pathLst>
                <a:path w="0" h="205473">
                  <a:moveTo>
                    <a:pt x="0" y="0"/>
                  </a:moveTo>
                  <a:lnTo>
                    <a:pt x="0" y="205473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g35"/>
            <p:cNvSpPr/>
            <p:nvPr/>
          </p:nvSpPr>
          <p:spPr>
            <a:xfrm>
              <a:off x="7326928" y="1138735"/>
              <a:ext cx="91440" cy="79189"/>
            </a:xfrm>
            <a:custGeom>
              <a:avLst/>
              <a:pathLst>
                <a:path w="91440" h="79189">
                  <a:moveTo>
                    <a:pt x="0" y="0"/>
                  </a:moveTo>
                  <a:lnTo>
                    <a:pt x="45720" y="79189"/>
                  </a:lnTo>
                  <a:lnTo>
                    <a:pt x="9144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1949170" y="2155956"/>
              <a:ext cx="0" cy="2188740"/>
            </a:xfrm>
            <a:custGeom>
              <a:avLst/>
              <a:pathLst>
                <a:path w="0" h="2188740">
                  <a:moveTo>
                    <a:pt x="0" y="0"/>
                  </a:moveTo>
                  <a:lnTo>
                    <a:pt x="0" y="2188740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g37"/>
            <p:cNvSpPr/>
            <p:nvPr/>
          </p:nvSpPr>
          <p:spPr>
            <a:xfrm>
              <a:off x="1903450" y="4265508"/>
              <a:ext cx="91439" cy="79189"/>
            </a:xfrm>
            <a:custGeom>
              <a:avLst/>
              <a:pathLst>
                <a:path w="91439" h="79189">
                  <a:moveTo>
                    <a:pt x="0" y="0"/>
                  </a:moveTo>
                  <a:lnTo>
                    <a:pt x="45719" y="79189"/>
                  </a:lnTo>
                  <a:lnTo>
                    <a:pt x="91439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7372648" y="2155956"/>
              <a:ext cx="0" cy="2188740"/>
            </a:xfrm>
            <a:custGeom>
              <a:avLst/>
              <a:pathLst>
                <a:path w="0" h="2188740">
                  <a:moveTo>
                    <a:pt x="0" y="0"/>
                  </a:moveTo>
                  <a:lnTo>
                    <a:pt x="0" y="2188740"/>
                  </a:lnTo>
                </a:path>
              </a:pathLst>
            </a:custGeom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g39"/>
            <p:cNvSpPr/>
            <p:nvPr/>
          </p:nvSpPr>
          <p:spPr>
            <a:xfrm>
              <a:off x="7326928" y="4265508"/>
              <a:ext cx="91440" cy="79189"/>
            </a:xfrm>
            <a:custGeom>
              <a:avLst/>
              <a:pathLst>
                <a:path w="91440" h="79189">
                  <a:moveTo>
                    <a:pt x="0" y="0"/>
                  </a:moveTo>
                  <a:lnTo>
                    <a:pt x="45720" y="79189"/>
                  </a:lnTo>
                  <a:lnTo>
                    <a:pt x="9144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  <a:ln w="1490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tx40"/>
            <p:cNvSpPr/>
            <p:nvPr/>
          </p:nvSpPr>
          <p:spPr>
            <a:xfrm>
              <a:off x="304344" y="6228167"/>
              <a:ext cx="11410066" cy="745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853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Figure 1: Trial profile. Intolerance row is derived from intolerance-related safety endpoints; explicit lost-to-follow-up and withdrawal reasons are not available. Synthetic example data; not original RACING patient-level data.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9004821" cy="495664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4782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69589" y="5026229"/>
              <a:ext cx="9004821" cy="1582498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745957" y="170809"/>
              <a:ext cx="8138664" cy="46781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02470" y="1707661"/>
              <a:ext cx="7825639" cy="3141248"/>
            </a:xfrm>
            <a:custGeom>
              <a:avLst/>
              <a:pathLst>
                <a:path w="7825639" h="3141248">
                  <a:moveTo>
                    <a:pt x="0" y="3141248"/>
                  </a:moveTo>
                  <a:lnTo>
                    <a:pt x="217378" y="3141248"/>
                  </a:lnTo>
                  <a:lnTo>
                    <a:pt x="217378" y="2992421"/>
                  </a:lnTo>
                  <a:lnTo>
                    <a:pt x="434757" y="2992421"/>
                  </a:lnTo>
                  <a:lnTo>
                    <a:pt x="434757" y="2942786"/>
                  </a:lnTo>
                  <a:lnTo>
                    <a:pt x="652136" y="2942786"/>
                  </a:lnTo>
                  <a:lnTo>
                    <a:pt x="652136" y="2810355"/>
                  </a:lnTo>
                  <a:lnTo>
                    <a:pt x="869515" y="2810355"/>
                  </a:lnTo>
                  <a:lnTo>
                    <a:pt x="869515" y="2760614"/>
                  </a:lnTo>
                  <a:lnTo>
                    <a:pt x="1086894" y="2760614"/>
                  </a:lnTo>
                  <a:lnTo>
                    <a:pt x="1086894" y="2727417"/>
                  </a:lnTo>
                  <a:lnTo>
                    <a:pt x="1304273" y="2727417"/>
                  </a:lnTo>
                  <a:lnTo>
                    <a:pt x="1304273" y="2627449"/>
                  </a:lnTo>
                  <a:lnTo>
                    <a:pt x="1521652" y="2627449"/>
                  </a:lnTo>
                  <a:lnTo>
                    <a:pt x="1521652" y="2560622"/>
                  </a:lnTo>
                  <a:lnTo>
                    <a:pt x="1739030" y="2560622"/>
                  </a:lnTo>
                  <a:lnTo>
                    <a:pt x="1739030" y="2426895"/>
                  </a:lnTo>
                  <a:lnTo>
                    <a:pt x="1956409" y="2426895"/>
                  </a:lnTo>
                  <a:lnTo>
                    <a:pt x="1956409" y="2343178"/>
                  </a:lnTo>
                  <a:lnTo>
                    <a:pt x="2173788" y="2343178"/>
                  </a:lnTo>
                  <a:lnTo>
                    <a:pt x="2173788" y="2225715"/>
                  </a:lnTo>
                  <a:lnTo>
                    <a:pt x="2391167" y="2225715"/>
                  </a:lnTo>
                  <a:lnTo>
                    <a:pt x="2391167" y="2158482"/>
                  </a:lnTo>
                  <a:lnTo>
                    <a:pt x="2608546" y="2158482"/>
                  </a:lnTo>
                  <a:lnTo>
                    <a:pt x="2608546" y="2057294"/>
                  </a:lnTo>
                  <a:lnTo>
                    <a:pt x="2825925" y="2057294"/>
                  </a:lnTo>
                  <a:lnTo>
                    <a:pt x="2825925" y="1922226"/>
                  </a:lnTo>
                  <a:lnTo>
                    <a:pt x="3043304" y="1922226"/>
                  </a:lnTo>
                  <a:lnTo>
                    <a:pt x="3043304" y="1888382"/>
                  </a:lnTo>
                  <a:lnTo>
                    <a:pt x="3260683" y="1888382"/>
                  </a:lnTo>
                  <a:lnTo>
                    <a:pt x="3260683" y="1786795"/>
                  </a:lnTo>
                  <a:lnTo>
                    <a:pt x="3478061" y="1786795"/>
                  </a:lnTo>
                  <a:lnTo>
                    <a:pt x="3478061" y="1685150"/>
                  </a:lnTo>
                  <a:lnTo>
                    <a:pt x="3695440" y="1685150"/>
                  </a:lnTo>
                  <a:lnTo>
                    <a:pt x="3695440" y="1532682"/>
                  </a:lnTo>
                  <a:lnTo>
                    <a:pt x="3912819" y="1532682"/>
                  </a:lnTo>
                  <a:lnTo>
                    <a:pt x="3912819" y="1414096"/>
                  </a:lnTo>
                  <a:lnTo>
                    <a:pt x="4130198" y="1414096"/>
                  </a:lnTo>
                  <a:lnTo>
                    <a:pt x="4130198" y="1397125"/>
                  </a:lnTo>
                  <a:lnTo>
                    <a:pt x="4347577" y="1397125"/>
                  </a:lnTo>
                  <a:lnTo>
                    <a:pt x="4347577" y="1346215"/>
                  </a:lnTo>
                  <a:lnTo>
                    <a:pt x="4564956" y="1346215"/>
                  </a:lnTo>
                  <a:lnTo>
                    <a:pt x="4564956" y="1210375"/>
                  </a:lnTo>
                  <a:lnTo>
                    <a:pt x="4782335" y="1210375"/>
                  </a:lnTo>
                  <a:lnTo>
                    <a:pt x="4782335" y="1125377"/>
                  </a:lnTo>
                  <a:lnTo>
                    <a:pt x="4999714" y="1125377"/>
                  </a:lnTo>
                  <a:lnTo>
                    <a:pt x="4999714" y="1057338"/>
                  </a:lnTo>
                  <a:lnTo>
                    <a:pt x="5217092" y="1057338"/>
                  </a:lnTo>
                  <a:lnTo>
                    <a:pt x="5217092" y="1040329"/>
                  </a:lnTo>
                  <a:lnTo>
                    <a:pt x="5434471" y="1040329"/>
                  </a:lnTo>
                  <a:lnTo>
                    <a:pt x="5434471" y="938271"/>
                  </a:lnTo>
                  <a:lnTo>
                    <a:pt x="5651850" y="938271"/>
                  </a:lnTo>
                  <a:lnTo>
                    <a:pt x="5651850" y="870193"/>
                  </a:lnTo>
                  <a:lnTo>
                    <a:pt x="5869229" y="870193"/>
                  </a:lnTo>
                  <a:lnTo>
                    <a:pt x="5869229" y="819134"/>
                  </a:lnTo>
                  <a:lnTo>
                    <a:pt x="6086608" y="819134"/>
                  </a:lnTo>
                  <a:lnTo>
                    <a:pt x="6086608" y="648838"/>
                  </a:lnTo>
                  <a:lnTo>
                    <a:pt x="6303987" y="648838"/>
                  </a:lnTo>
                  <a:lnTo>
                    <a:pt x="6303987" y="495389"/>
                  </a:lnTo>
                  <a:lnTo>
                    <a:pt x="6521366" y="495389"/>
                  </a:lnTo>
                  <a:lnTo>
                    <a:pt x="6521366" y="444240"/>
                  </a:lnTo>
                  <a:lnTo>
                    <a:pt x="6738744" y="444240"/>
                  </a:lnTo>
                  <a:lnTo>
                    <a:pt x="6738744" y="341818"/>
                  </a:lnTo>
                  <a:lnTo>
                    <a:pt x="6956123" y="341818"/>
                  </a:lnTo>
                  <a:lnTo>
                    <a:pt x="6956123" y="239334"/>
                  </a:lnTo>
                  <a:lnTo>
                    <a:pt x="7173502" y="239334"/>
                  </a:lnTo>
                  <a:lnTo>
                    <a:pt x="7173502" y="119698"/>
                  </a:lnTo>
                  <a:lnTo>
                    <a:pt x="7390881" y="119698"/>
                  </a:lnTo>
                  <a:lnTo>
                    <a:pt x="7390881" y="85516"/>
                  </a:lnTo>
                  <a:lnTo>
                    <a:pt x="7608260" y="85516"/>
                  </a:lnTo>
                  <a:lnTo>
                    <a:pt x="7608260" y="17111"/>
                  </a:lnTo>
                  <a:lnTo>
                    <a:pt x="7825639" y="17111"/>
                  </a:lnTo>
                  <a:lnTo>
                    <a:pt x="7825639" y="0"/>
                  </a:lnTo>
                </a:path>
              </a:pathLst>
            </a:custGeom>
            <a:ln w="24391" cap="flat">
              <a:solidFill>
                <a:srgbClr val="009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902470" y="1946807"/>
              <a:ext cx="7825639" cy="2902102"/>
            </a:xfrm>
            <a:custGeom>
              <a:avLst/>
              <a:pathLst>
                <a:path w="7825639" h="2902102">
                  <a:moveTo>
                    <a:pt x="0" y="2902102"/>
                  </a:moveTo>
                  <a:lnTo>
                    <a:pt x="217378" y="2902102"/>
                  </a:lnTo>
                  <a:lnTo>
                    <a:pt x="217378" y="2852702"/>
                  </a:lnTo>
                  <a:lnTo>
                    <a:pt x="434757" y="2852702"/>
                  </a:lnTo>
                  <a:lnTo>
                    <a:pt x="434757" y="2819752"/>
                  </a:lnTo>
                  <a:lnTo>
                    <a:pt x="652136" y="2819752"/>
                  </a:lnTo>
                  <a:lnTo>
                    <a:pt x="652136" y="2770117"/>
                  </a:lnTo>
                  <a:lnTo>
                    <a:pt x="869515" y="2770117"/>
                  </a:lnTo>
                  <a:lnTo>
                    <a:pt x="869515" y="2687170"/>
                  </a:lnTo>
                  <a:lnTo>
                    <a:pt x="1086894" y="2687170"/>
                  </a:lnTo>
                  <a:lnTo>
                    <a:pt x="1086894" y="2620741"/>
                  </a:lnTo>
                  <a:lnTo>
                    <a:pt x="1304273" y="2620741"/>
                  </a:lnTo>
                  <a:lnTo>
                    <a:pt x="1304273" y="2487740"/>
                  </a:lnTo>
                  <a:lnTo>
                    <a:pt x="1521652" y="2487740"/>
                  </a:lnTo>
                  <a:lnTo>
                    <a:pt x="1521652" y="2437811"/>
                  </a:lnTo>
                  <a:lnTo>
                    <a:pt x="1739030" y="2437811"/>
                  </a:lnTo>
                  <a:lnTo>
                    <a:pt x="1739030" y="2354097"/>
                  </a:lnTo>
                  <a:lnTo>
                    <a:pt x="1956409" y="2354097"/>
                  </a:lnTo>
                  <a:lnTo>
                    <a:pt x="1956409" y="2203247"/>
                  </a:lnTo>
                  <a:lnTo>
                    <a:pt x="2173788" y="2203247"/>
                  </a:lnTo>
                  <a:lnTo>
                    <a:pt x="2173788" y="2102570"/>
                  </a:lnTo>
                  <a:lnTo>
                    <a:pt x="2391167" y="2102570"/>
                  </a:lnTo>
                  <a:lnTo>
                    <a:pt x="2391167" y="1951303"/>
                  </a:lnTo>
                  <a:lnTo>
                    <a:pt x="2608546" y="1951303"/>
                  </a:lnTo>
                  <a:lnTo>
                    <a:pt x="2608546" y="1934468"/>
                  </a:lnTo>
                  <a:lnTo>
                    <a:pt x="2825925" y="1934468"/>
                  </a:lnTo>
                  <a:lnTo>
                    <a:pt x="2825925" y="1833398"/>
                  </a:lnTo>
                  <a:lnTo>
                    <a:pt x="3043304" y="1833398"/>
                  </a:lnTo>
                  <a:lnTo>
                    <a:pt x="3043304" y="1715418"/>
                  </a:lnTo>
                  <a:lnTo>
                    <a:pt x="3260683" y="1715418"/>
                  </a:lnTo>
                  <a:lnTo>
                    <a:pt x="3260683" y="1631099"/>
                  </a:lnTo>
                  <a:lnTo>
                    <a:pt x="3478061" y="1631099"/>
                  </a:lnTo>
                  <a:lnTo>
                    <a:pt x="3478061" y="1496037"/>
                  </a:lnTo>
                  <a:lnTo>
                    <a:pt x="3695440" y="1496037"/>
                  </a:lnTo>
                  <a:lnTo>
                    <a:pt x="3695440" y="1428467"/>
                  </a:lnTo>
                  <a:lnTo>
                    <a:pt x="3912819" y="1428467"/>
                  </a:lnTo>
                  <a:lnTo>
                    <a:pt x="3912819" y="1377761"/>
                  </a:lnTo>
                  <a:lnTo>
                    <a:pt x="4130198" y="1377761"/>
                  </a:lnTo>
                  <a:lnTo>
                    <a:pt x="4130198" y="1276234"/>
                  </a:lnTo>
                  <a:lnTo>
                    <a:pt x="4347577" y="1276234"/>
                  </a:lnTo>
                  <a:lnTo>
                    <a:pt x="4347577" y="1174648"/>
                  </a:lnTo>
                  <a:lnTo>
                    <a:pt x="4564956" y="1174648"/>
                  </a:lnTo>
                  <a:lnTo>
                    <a:pt x="4564956" y="1140767"/>
                  </a:lnTo>
                  <a:lnTo>
                    <a:pt x="4999714" y="1140767"/>
                  </a:lnTo>
                  <a:lnTo>
                    <a:pt x="4999714" y="988037"/>
                  </a:lnTo>
                  <a:lnTo>
                    <a:pt x="5217092" y="988037"/>
                  </a:lnTo>
                  <a:lnTo>
                    <a:pt x="5217092" y="971067"/>
                  </a:lnTo>
                  <a:lnTo>
                    <a:pt x="5434471" y="971067"/>
                  </a:lnTo>
                  <a:lnTo>
                    <a:pt x="5434471" y="818248"/>
                  </a:lnTo>
                  <a:lnTo>
                    <a:pt x="5651850" y="818248"/>
                  </a:lnTo>
                  <a:lnTo>
                    <a:pt x="5651850" y="733299"/>
                  </a:lnTo>
                  <a:lnTo>
                    <a:pt x="5869229" y="733299"/>
                  </a:lnTo>
                  <a:lnTo>
                    <a:pt x="5869229" y="682300"/>
                  </a:lnTo>
                  <a:lnTo>
                    <a:pt x="6086608" y="682300"/>
                  </a:lnTo>
                  <a:lnTo>
                    <a:pt x="6086608" y="614301"/>
                  </a:lnTo>
                  <a:lnTo>
                    <a:pt x="6303987" y="614301"/>
                  </a:lnTo>
                  <a:lnTo>
                    <a:pt x="6303987" y="546222"/>
                  </a:lnTo>
                  <a:lnTo>
                    <a:pt x="6521366" y="546222"/>
                  </a:lnTo>
                  <a:lnTo>
                    <a:pt x="6521366" y="461073"/>
                  </a:lnTo>
                  <a:lnTo>
                    <a:pt x="6738744" y="461073"/>
                  </a:lnTo>
                  <a:lnTo>
                    <a:pt x="6738744" y="341723"/>
                  </a:lnTo>
                  <a:lnTo>
                    <a:pt x="6956123" y="341723"/>
                  </a:lnTo>
                  <a:lnTo>
                    <a:pt x="6956123" y="324652"/>
                  </a:lnTo>
                  <a:lnTo>
                    <a:pt x="7173502" y="324652"/>
                  </a:lnTo>
                  <a:lnTo>
                    <a:pt x="7173502" y="205089"/>
                  </a:lnTo>
                  <a:lnTo>
                    <a:pt x="7390881" y="205089"/>
                  </a:lnTo>
                  <a:lnTo>
                    <a:pt x="7390881" y="119635"/>
                  </a:lnTo>
                  <a:lnTo>
                    <a:pt x="7608260" y="119635"/>
                  </a:lnTo>
                  <a:lnTo>
                    <a:pt x="7608260" y="17090"/>
                  </a:lnTo>
                  <a:lnTo>
                    <a:pt x="7825639" y="17090"/>
                  </a:lnTo>
                  <a:lnTo>
                    <a:pt x="7825639" y="0"/>
                  </a:lnTo>
                </a:path>
              </a:pathLst>
            </a:custGeom>
            <a:ln w="24391" cap="flat">
              <a:solidFill>
                <a:srgbClr val="A500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tx10"/>
            <p:cNvSpPr/>
            <p:nvPr/>
          </p:nvSpPr>
          <p:spPr>
            <a:xfrm>
              <a:off x="3567945" y="1344230"/>
              <a:ext cx="2755544" cy="857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Absolute difference -0.78% (90% CI -2.35 to 0.79)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4446089" y="1908116"/>
              <a:ext cx="999256" cy="8074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24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Log-rank P = 0.421</a:t>
              </a:r>
            </a:p>
          </p:txBody>
        </p:sp>
        <p:sp>
          <p:nvSpPr>
            <p:cNvPr id="12" name="pl12"/>
            <p:cNvSpPr/>
            <p:nvPr/>
          </p:nvSpPr>
          <p:spPr>
            <a:xfrm>
              <a:off x="745957" y="170809"/>
              <a:ext cx="0" cy="4678100"/>
            </a:xfrm>
            <a:custGeom>
              <a:avLst/>
              <a:pathLst>
                <a:path w="0" h="4678100">
                  <a:moveTo>
                    <a:pt x="0" y="4678100"/>
                  </a:moveTo>
                  <a:lnTo>
                    <a:pt x="0" y="0"/>
                  </a:lnTo>
                </a:path>
              </a:pathLst>
            </a:custGeom>
            <a:ln w="1478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tx13"/>
            <p:cNvSpPr/>
            <p:nvPr/>
          </p:nvSpPr>
          <p:spPr>
            <a:xfrm>
              <a:off x="501611" y="4807029"/>
              <a:ext cx="176022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0%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501611" y="3247663"/>
              <a:ext cx="176022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5%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433854" y="1688296"/>
              <a:ext cx="243779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10%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433854" y="128929"/>
              <a:ext cx="243779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15%</a:t>
              </a:r>
            </a:p>
          </p:txBody>
        </p:sp>
        <p:sp>
          <p:nvSpPr>
            <p:cNvPr id="17" name="pl17"/>
            <p:cNvSpPr/>
            <p:nvPr/>
          </p:nvSpPr>
          <p:spPr>
            <a:xfrm>
              <a:off x="708000" y="48489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708000" y="3289542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708000" y="1730176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8000" y="170809"/>
              <a:ext cx="37957" cy="0"/>
            </a:xfrm>
            <a:custGeom>
              <a:avLst/>
              <a:pathLst>
                <a:path w="37957" h="0">
                  <a:moveTo>
                    <a:pt x="0" y="0"/>
                  </a:moveTo>
                  <a:lnTo>
                    <a:pt x="37957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45957" y="4848909"/>
              <a:ext cx="8138664" cy="0"/>
            </a:xfrm>
            <a:custGeom>
              <a:avLst/>
              <a:pathLst>
                <a:path w="8138664" h="0">
                  <a:moveTo>
                    <a:pt x="0" y="0"/>
                  </a:moveTo>
                  <a:lnTo>
                    <a:pt x="8138664" y="0"/>
                  </a:lnTo>
                </a:path>
              </a:pathLst>
            </a:custGeom>
            <a:ln w="14782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02470" y="484890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511016" y="484890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6119563" y="484890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728109" y="4848909"/>
              <a:ext cx="0" cy="37957"/>
            </a:xfrm>
            <a:custGeom>
              <a:avLst/>
              <a:pathLst>
                <a:path w="0" h="37957">
                  <a:moveTo>
                    <a:pt x="0" y="37957"/>
                  </a:moveTo>
                  <a:lnTo>
                    <a:pt x="0" y="0"/>
                  </a:lnTo>
                </a:path>
              </a:pathLst>
            </a:custGeom>
            <a:ln w="14782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tx26"/>
            <p:cNvSpPr/>
            <p:nvPr/>
          </p:nvSpPr>
          <p:spPr>
            <a:xfrm>
              <a:off x="868592" y="4917233"/>
              <a:ext cx="67757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3477138" y="4917233"/>
              <a:ext cx="67757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085684" y="4917233"/>
              <a:ext cx="67757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2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8694231" y="4917233"/>
              <a:ext cx="67757" cy="8375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3</a:t>
              </a:r>
            </a:p>
          </p:txBody>
        </p:sp>
        <p:sp>
          <p:nvSpPr>
            <p:cNvPr id="30" name="tx30"/>
            <p:cNvSpPr/>
            <p:nvPr/>
          </p:nvSpPr>
          <p:spPr>
            <a:xfrm rot="-5400000">
              <a:off x="-552244" y="2457418"/>
              <a:ext cx="1728124" cy="10488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2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Cumulative incidence (%)</a:t>
              </a:r>
            </a:p>
          </p:txBody>
        </p:sp>
        <p:sp>
          <p:nvSpPr>
            <p:cNvPr id="31" name="rc31"/>
            <p:cNvSpPr/>
            <p:nvPr/>
          </p:nvSpPr>
          <p:spPr>
            <a:xfrm>
              <a:off x="4571130" y="451495"/>
              <a:ext cx="3574175" cy="5907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4647045" y="527410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4668991" y="63713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0099B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4647045" y="746866"/>
              <a:ext cx="219455" cy="219456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68991" y="856594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4391" cap="flat">
              <a:solidFill>
                <a:srgbClr val="A5003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4942416" y="596996"/>
              <a:ext cx="1732147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High-intensity statin monotherapy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942416" y="816452"/>
              <a:ext cx="3126973" cy="8028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19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Moderate-intensity statin with ezetimibe combination therapy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102102" y="5409216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1894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645435" y="5409216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1796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188767" y="5409216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1725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732100" y="5409216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1656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102102" y="5982777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1886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3645435" y="5982777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1791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6193842" y="5982777"/>
              <a:ext cx="294894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1711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8732100" y="5982777"/>
              <a:ext cx="305043" cy="9436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81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1640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796824" y="5098696"/>
              <a:ext cx="859901" cy="844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Number at risk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222848" y="6328581"/>
              <a:ext cx="63550" cy="78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3766181" y="6328581"/>
              <a:ext cx="63550" cy="78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309514" y="6328581"/>
              <a:ext cx="63550" cy="78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2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8852847" y="6328581"/>
              <a:ext cx="63550" cy="786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3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3878350" y="6432228"/>
              <a:ext cx="1873879" cy="8741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100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Time since randomisation (years)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59377" y="6678317"/>
              <a:ext cx="8988094" cy="8458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69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Figure 2: Kaplan-Meier curves of the primary endpoint of the intention-to-treat population. Synthetic example data; not original RACING patient-level data.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 rot="0">
            <a:off x="0" y="0"/>
            <a:ext cx="9144000" cy="6858000"/>
            <a:chOff x="0" y="0"/>
            <a:chExt cx="9144000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0" y="0"/>
              <a:ext cx="914400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3550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69589" y="69589"/>
              <a:ext cx="4025422" cy="6541242"/>
            </a:xfrm>
            <a:prstGeom prst="rect">
              <a:avLst/>
            </a:prstGeom>
            <a:noFill/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4095011" y="69589"/>
              <a:ext cx="4979399" cy="654124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tx7"/>
            <p:cNvSpPr/>
            <p:nvPr/>
          </p:nvSpPr>
          <p:spPr>
            <a:xfrm>
              <a:off x="120199" y="435196"/>
              <a:ext cx="476859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All patients</a:t>
              </a:r>
            </a:p>
          </p:txBody>
        </p:sp>
        <p:sp>
          <p:nvSpPr>
            <p:cNvPr id="8" name="tx8"/>
            <p:cNvSpPr/>
            <p:nvPr/>
          </p:nvSpPr>
          <p:spPr>
            <a:xfrm>
              <a:off x="120199" y="627111"/>
              <a:ext cx="447598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Age, years</a:t>
              </a:r>
            </a:p>
          </p:txBody>
        </p:sp>
        <p:sp>
          <p:nvSpPr>
            <p:cNvPr id="9" name="tx9"/>
            <p:cNvSpPr/>
            <p:nvPr/>
          </p:nvSpPr>
          <p:spPr>
            <a:xfrm>
              <a:off x="120199" y="819025"/>
              <a:ext cx="223845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&lt;60</a:t>
              </a:r>
            </a:p>
          </p:txBody>
        </p:sp>
        <p:sp>
          <p:nvSpPr>
            <p:cNvPr id="10" name="tx10"/>
            <p:cNvSpPr/>
            <p:nvPr/>
          </p:nvSpPr>
          <p:spPr>
            <a:xfrm>
              <a:off x="120199" y="1010940"/>
              <a:ext cx="220736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≥60</a:t>
              </a:r>
            </a:p>
          </p:txBody>
        </p:sp>
        <p:sp>
          <p:nvSpPr>
            <p:cNvPr id="11" name="tx11"/>
            <p:cNvSpPr/>
            <p:nvPr/>
          </p:nvSpPr>
          <p:spPr>
            <a:xfrm>
              <a:off x="120199" y="1202855"/>
              <a:ext cx="157459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Sex</a:t>
              </a:r>
            </a:p>
          </p:txBody>
        </p:sp>
        <p:sp>
          <p:nvSpPr>
            <p:cNvPr id="12" name="tx12"/>
            <p:cNvSpPr/>
            <p:nvPr/>
          </p:nvSpPr>
          <p:spPr>
            <a:xfrm>
              <a:off x="120199" y="1394770"/>
              <a:ext cx="245882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Men</a:t>
              </a:r>
            </a:p>
          </p:txBody>
        </p:sp>
        <p:sp>
          <p:nvSpPr>
            <p:cNvPr id="13" name="tx13"/>
            <p:cNvSpPr/>
            <p:nvPr/>
          </p:nvSpPr>
          <p:spPr>
            <a:xfrm>
              <a:off x="120199" y="1586684"/>
              <a:ext cx="377098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Women</a:t>
              </a:r>
            </a:p>
          </p:txBody>
        </p:sp>
        <p:sp>
          <p:nvSpPr>
            <p:cNvPr id="14" name="tx14"/>
            <p:cNvSpPr/>
            <p:nvPr/>
          </p:nvSpPr>
          <p:spPr>
            <a:xfrm>
              <a:off x="120199" y="1778599"/>
              <a:ext cx="1017818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Body-mass index, kg/m²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20199" y="1970514"/>
              <a:ext cx="223845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&lt;25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20199" y="2162429"/>
              <a:ext cx="220736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≥25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20199" y="2354343"/>
              <a:ext cx="368777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Diabetes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120199" y="2546258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120199" y="2738173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120199" y="2930088"/>
              <a:ext cx="56537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Hypertension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120199" y="3122003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120199" y="3313917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120199" y="3505832"/>
              <a:ext cx="988374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Chronic kidney disease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120199" y="3697747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120199" y="3889662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120199" y="4081576"/>
              <a:ext cx="1293327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Previous myocardial infarction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120199" y="4273491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120199" y="4465406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120199" y="4657321"/>
              <a:ext cx="663945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Previous stroke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120199" y="4849235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120199" y="5041150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120199" y="5233065"/>
              <a:ext cx="1446032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Previous peripheral artery disease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120199" y="5424980"/>
              <a:ext cx="216621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Yes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20199" y="5616895"/>
              <a:ext cx="186903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No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20199" y="5808809"/>
              <a:ext cx="1370228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Baseline LDL cholesterol, mg/dL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120199" y="6000724"/>
              <a:ext cx="273039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&lt;100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120199" y="6192639"/>
              <a:ext cx="269930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   ≥100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2234848" y="437710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172/1894 (9.1)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2280019" y="821540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47/637 (7.4)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2234848" y="1013455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125/1257 (9.9)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2234848" y="1397284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134/1420 (9.4)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2280019" y="1589199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38/474 (8.0)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257434" y="1973029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94/1015 (9.3)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280019" y="2164943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78/879 (8.9)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280019" y="2548773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69/701 (9.8)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2237865" y="2740688"/>
              <a:ext cx="522396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103/1193 (8.6)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2212262" y="3124517"/>
              <a:ext cx="573603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126/1246 (10.1)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2280019" y="3316432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46/648 (7.1)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2257434" y="3700261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26/193 (13.5)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2234848" y="3892176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146/1701 (8.6)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2257434" y="4276006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79/744 (10.6)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260451" y="4467921"/>
              <a:ext cx="477225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93/1150 (8.1)</a:t>
              </a:r>
            </a:p>
          </p:txBody>
        </p:sp>
        <p:sp>
          <p:nvSpPr>
            <p:cNvPr id="53" name="tx53"/>
            <p:cNvSpPr/>
            <p:nvPr/>
          </p:nvSpPr>
          <p:spPr>
            <a:xfrm>
              <a:off x="2260451" y="4851750"/>
              <a:ext cx="477225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12/101 (11.9)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2234848" y="5043665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160/1793 (8.9)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2325191" y="5427494"/>
              <a:ext cx="347746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6/66 (9.1)</a:t>
              </a:r>
            </a:p>
          </p:txBody>
        </p:sp>
        <p:sp>
          <p:nvSpPr>
            <p:cNvPr id="56" name="tx56"/>
            <p:cNvSpPr/>
            <p:nvPr/>
          </p:nvSpPr>
          <p:spPr>
            <a:xfrm>
              <a:off x="2234848" y="5619409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166/1828 (9.1)</a:t>
              </a:r>
            </a:p>
          </p:txBody>
        </p:sp>
        <p:sp>
          <p:nvSpPr>
            <p:cNvPr id="57" name="tx57"/>
            <p:cNvSpPr/>
            <p:nvPr/>
          </p:nvSpPr>
          <p:spPr>
            <a:xfrm>
              <a:off x="2234848" y="6003239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121/1406 (8.6)</a:t>
              </a:r>
            </a:p>
          </p:txBody>
        </p:sp>
        <p:sp>
          <p:nvSpPr>
            <p:cNvPr id="58" name="tx58"/>
            <p:cNvSpPr/>
            <p:nvPr/>
          </p:nvSpPr>
          <p:spPr>
            <a:xfrm>
              <a:off x="2257434" y="6195153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51/488 (10.5)</a:t>
              </a:r>
            </a:p>
          </p:txBody>
        </p:sp>
        <p:sp>
          <p:nvSpPr>
            <p:cNvPr id="59" name="tx59"/>
            <p:cNvSpPr/>
            <p:nvPr/>
          </p:nvSpPr>
          <p:spPr>
            <a:xfrm>
              <a:off x="3318888" y="437710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186/1886 (9.9)</a:t>
              </a:r>
            </a:p>
          </p:txBody>
        </p:sp>
        <p:sp>
          <p:nvSpPr>
            <p:cNvPr id="60" name="tx60"/>
            <p:cNvSpPr/>
            <p:nvPr/>
          </p:nvSpPr>
          <p:spPr>
            <a:xfrm>
              <a:off x="3341473" y="821540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61/593 (10.3)</a:t>
              </a:r>
            </a:p>
          </p:txBody>
        </p:sp>
        <p:sp>
          <p:nvSpPr>
            <p:cNvPr id="61" name="tx61"/>
            <p:cNvSpPr/>
            <p:nvPr/>
          </p:nvSpPr>
          <p:spPr>
            <a:xfrm>
              <a:off x="3318888" y="1013455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125/1293 (9.7)</a:t>
              </a:r>
            </a:p>
          </p:txBody>
        </p:sp>
        <p:sp>
          <p:nvSpPr>
            <p:cNvPr id="62" name="tx62"/>
            <p:cNvSpPr/>
            <p:nvPr/>
          </p:nvSpPr>
          <p:spPr>
            <a:xfrm>
              <a:off x="3296302" y="1397284"/>
              <a:ext cx="573603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146/1406 (10.4)</a:t>
              </a:r>
            </a:p>
          </p:txBody>
        </p:sp>
        <p:sp>
          <p:nvSpPr>
            <p:cNvPr id="63" name="tx63"/>
            <p:cNvSpPr/>
            <p:nvPr/>
          </p:nvSpPr>
          <p:spPr>
            <a:xfrm>
              <a:off x="3364059" y="1589199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40/480 (8.3)</a:t>
              </a:r>
            </a:p>
          </p:txBody>
        </p:sp>
        <p:sp>
          <p:nvSpPr>
            <p:cNvPr id="64" name="tx64"/>
            <p:cNvSpPr/>
            <p:nvPr/>
          </p:nvSpPr>
          <p:spPr>
            <a:xfrm>
              <a:off x="3364059" y="1973029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93/995 (9.3)</a:t>
              </a:r>
            </a:p>
          </p:txBody>
        </p:sp>
        <p:sp>
          <p:nvSpPr>
            <p:cNvPr id="65" name="tx65"/>
            <p:cNvSpPr/>
            <p:nvPr/>
          </p:nvSpPr>
          <p:spPr>
            <a:xfrm>
              <a:off x="3341473" y="2164943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93/891 (10.4)</a:t>
              </a:r>
            </a:p>
          </p:txBody>
        </p:sp>
        <p:sp>
          <p:nvSpPr>
            <p:cNvPr id="66" name="tx66"/>
            <p:cNvSpPr/>
            <p:nvPr/>
          </p:nvSpPr>
          <p:spPr>
            <a:xfrm>
              <a:off x="3344491" y="2548773"/>
              <a:ext cx="477225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77/697 (11.0)</a:t>
              </a:r>
            </a:p>
          </p:txBody>
        </p:sp>
        <p:sp>
          <p:nvSpPr>
            <p:cNvPr id="67" name="tx67"/>
            <p:cNvSpPr/>
            <p:nvPr/>
          </p:nvSpPr>
          <p:spPr>
            <a:xfrm>
              <a:off x="3321905" y="2740688"/>
              <a:ext cx="522396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109/1189 (9.2)</a:t>
              </a:r>
            </a:p>
          </p:txBody>
        </p:sp>
        <p:sp>
          <p:nvSpPr>
            <p:cNvPr id="68" name="tx68"/>
            <p:cNvSpPr/>
            <p:nvPr/>
          </p:nvSpPr>
          <p:spPr>
            <a:xfrm>
              <a:off x="3296302" y="3124517"/>
              <a:ext cx="573603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127/1274 (10.0)</a:t>
              </a:r>
            </a:p>
          </p:txBody>
        </p:sp>
        <p:sp>
          <p:nvSpPr>
            <p:cNvPr id="69" name="tx69"/>
            <p:cNvSpPr/>
            <p:nvPr/>
          </p:nvSpPr>
          <p:spPr>
            <a:xfrm>
              <a:off x="3364059" y="3316432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59/612 (9.6)</a:t>
              </a:r>
            </a:p>
          </p:txBody>
        </p:sp>
        <p:sp>
          <p:nvSpPr>
            <p:cNvPr id="70" name="tx70"/>
            <p:cNvSpPr/>
            <p:nvPr/>
          </p:nvSpPr>
          <p:spPr>
            <a:xfrm>
              <a:off x="3341473" y="3700261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24/199 (12.1)</a:t>
              </a:r>
            </a:p>
          </p:txBody>
        </p:sp>
        <p:sp>
          <p:nvSpPr>
            <p:cNvPr id="71" name="tx71"/>
            <p:cNvSpPr/>
            <p:nvPr/>
          </p:nvSpPr>
          <p:spPr>
            <a:xfrm>
              <a:off x="3318888" y="3892176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162/1687 (9.6)</a:t>
              </a:r>
            </a:p>
          </p:txBody>
        </p:sp>
        <p:sp>
          <p:nvSpPr>
            <p:cNvPr id="72" name="tx72"/>
            <p:cNvSpPr/>
            <p:nvPr/>
          </p:nvSpPr>
          <p:spPr>
            <a:xfrm>
              <a:off x="3341473" y="4276006"/>
              <a:ext cx="483260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75/745 (10.1)</a:t>
              </a:r>
            </a:p>
          </p:txBody>
        </p:sp>
        <p:sp>
          <p:nvSpPr>
            <p:cNvPr id="73" name="tx73"/>
            <p:cNvSpPr/>
            <p:nvPr/>
          </p:nvSpPr>
          <p:spPr>
            <a:xfrm>
              <a:off x="3327940" y="4467921"/>
              <a:ext cx="510326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111/1141 (9.7)</a:t>
              </a:r>
            </a:p>
          </p:txBody>
        </p:sp>
        <p:sp>
          <p:nvSpPr>
            <p:cNvPr id="74" name="tx74"/>
            <p:cNvSpPr/>
            <p:nvPr/>
          </p:nvSpPr>
          <p:spPr>
            <a:xfrm>
              <a:off x="3344491" y="4851750"/>
              <a:ext cx="477225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16/112 (14.3)</a:t>
              </a:r>
            </a:p>
          </p:txBody>
        </p:sp>
        <p:sp>
          <p:nvSpPr>
            <p:cNvPr id="75" name="tx75"/>
            <p:cNvSpPr/>
            <p:nvPr/>
          </p:nvSpPr>
          <p:spPr>
            <a:xfrm>
              <a:off x="3318888" y="5043665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170/1774 (9.6)</a:t>
              </a:r>
            </a:p>
          </p:txBody>
        </p:sp>
        <p:sp>
          <p:nvSpPr>
            <p:cNvPr id="76" name="tx76"/>
            <p:cNvSpPr/>
            <p:nvPr/>
          </p:nvSpPr>
          <p:spPr>
            <a:xfrm>
              <a:off x="3367077" y="5427494"/>
              <a:ext cx="432054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11/69 (15.9)</a:t>
              </a:r>
            </a:p>
          </p:txBody>
        </p:sp>
        <p:sp>
          <p:nvSpPr>
            <p:cNvPr id="77" name="tx77"/>
            <p:cNvSpPr/>
            <p:nvPr/>
          </p:nvSpPr>
          <p:spPr>
            <a:xfrm>
              <a:off x="3318888" y="5619409"/>
              <a:ext cx="528431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175/1817 (9.6)</a:t>
              </a:r>
            </a:p>
          </p:txBody>
        </p:sp>
        <p:sp>
          <p:nvSpPr>
            <p:cNvPr id="78" name="tx78"/>
            <p:cNvSpPr/>
            <p:nvPr/>
          </p:nvSpPr>
          <p:spPr>
            <a:xfrm>
              <a:off x="3299319" y="6003239"/>
              <a:ext cx="56756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142/1411 (10.1)</a:t>
              </a:r>
            </a:p>
          </p:txBody>
        </p:sp>
        <p:sp>
          <p:nvSpPr>
            <p:cNvPr id="79" name="tx79"/>
            <p:cNvSpPr/>
            <p:nvPr/>
          </p:nvSpPr>
          <p:spPr>
            <a:xfrm>
              <a:off x="3364059" y="6195153"/>
              <a:ext cx="43808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44/475 (9.3)</a:t>
              </a:r>
            </a:p>
          </p:txBody>
        </p:sp>
        <p:sp>
          <p:nvSpPr>
            <p:cNvPr id="80" name="tx80"/>
            <p:cNvSpPr/>
            <p:nvPr/>
          </p:nvSpPr>
          <p:spPr>
            <a:xfrm>
              <a:off x="120199" y="70976"/>
              <a:ext cx="736457" cy="633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5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Number/total (%)</a:t>
              </a:r>
            </a:p>
          </p:txBody>
        </p:sp>
        <p:sp>
          <p:nvSpPr>
            <p:cNvPr id="81" name="tx81"/>
            <p:cNvSpPr/>
            <p:nvPr/>
          </p:nvSpPr>
          <p:spPr>
            <a:xfrm>
              <a:off x="120199" y="203664"/>
              <a:ext cx="0" cy="633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5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/>
              </a:r>
            </a:p>
          </p:txBody>
        </p:sp>
        <p:sp>
          <p:nvSpPr>
            <p:cNvPr id="82" name="tx82"/>
            <p:cNvSpPr/>
            <p:nvPr/>
          </p:nvSpPr>
          <p:spPr>
            <a:xfrm>
              <a:off x="120199" y="336351"/>
              <a:ext cx="434705" cy="6336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5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Subgroup</a:t>
              </a:r>
            </a:p>
          </p:txBody>
        </p:sp>
        <p:sp>
          <p:nvSpPr>
            <p:cNvPr id="83" name="tx83"/>
            <p:cNvSpPr/>
            <p:nvPr/>
          </p:nvSpPr>
          <p:spPr>
            <a:xfrm>
              <a:off x="2075148" y="206178"/>
              <a:ext cx="847831" cy="58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68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Combination therapy</a:t>
              </a:r>
            </a:p>
          </p:txBody>
        </p:sp>
        <p:sp>
          <p:nvSpPr>
            <p:cNvPr id="84" name="tx84"/>
            <p:cNvSpPr/>
            <p:nvPr/>
          </p:nvSpPr>
          <p:spPr>
            <a:xfrm>
              <a:off x="3317013" y="206178"/>
              <a:ext cx="532180" cy="5833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68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Monotherapy</a:t>
              </a:r>
            </a:p>
          </p:txBody>
        </p:sp>
        <p:sp>
          <p:nvSpPr>
            <p:cNvPr id="85" name="pl85"/>
            <p:cNvSpPr/>
            <p:nvPr/>
          </p:nvSpPr>
          <p:spPr>
            <a:xfrm>
              <a:off x="4518324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5526212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6534101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6937256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7541989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549877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108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6534101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6937256" y="120199"/>
              <a:ext cx="0" cy="6256421"/>
            </a:xfrm>
            <a:custGeom>
              <a:avLst/>
              <a:pathLst>
                <a:path w="0" h="6256421">
                  <a:moveTo>
                    <a:pt x="0" y="62564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6692522" y="46564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6060882" y="465645"/>
              <a:ext cx="631640" cy="0"/>
            </a:xfrm>
            <a:custGeom>
              <a:avLst/>
              <a:pathLst>
                <a:path w="631640" h="0">
                  <a:moveTo>
                    <a:pt x="63164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6060882" y="46564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6485459" y="8494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5410229" y="849475"/>
              <a:ext cx="1075229" cy="0"/>
            </a:xfrm>
            <a:custGeom>
              <a:avLst/>
              <a:pathLst>
                <a:path w="1075229" h="0">
                  <a:moveTo>
                    <a:pt x="1075229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5410229" y="84947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6980518" y="10413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6199306" y="1041390"/>
              <a:ext cx="781212" cy="0"/>
            </a:xfrm>
            <a:custGeom>
              <a:avLst/>
              <a:pathLst>
                <a:path w="781212" h="0">
                  <a:moveTo>
                    <a:pt x="781212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6199306" y="104139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6715844" y="14252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5970388" y="1425219"/>
              <a:ext cx="745455" cy="0"/>
            </a:xfrm>
            <a:custGeom>
              <a:avLst/>
              <a:pathLst>
                <a:path w="745455" h="0">
                  <a:moveTo>
                    <a:pt x="745455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5970388" y="142521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7058516" y="16171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5882104" y="1617134"/>
              <a:ext cx="1176412" cy="0"/>
            </a:xfrm>
            <a:custGeom>
              <a:avLst/>
              <a:pathLst>
                <a:path w="1176412" h="0">
                  <a:moveTo>
                    <a:pt x="1176412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5882104" y="161713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6946529" y="20009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6087142" y="2000963"/>
              <a:ext cx="859386" cy="0"/>
            </a:xfrm>
            <a:custGeom>
              <a:avLst/>
              <a:pathLst>
                <a:path w="859386" h="0">
                  <a:moveTo>
                    <a:pt x="859386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6087142" y="200096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6684107" y="21928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5753563" y="2192878"/>
              <a:ext cx="930543" cy="0"/>
            </a:xfrm>
            <a:custGeom>
              <a:avLst/>
              <a:pathLst>
                <a:path w="930543" h="0">
                  <a:moveTo>
                    <a:pt x="930543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5753563" y="219287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6833721" y="2576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5748974" y="2576708"/>
              <a:ext cx="1084746" cy="0"/>
            </a:xfrm>
            <a:custGeom>
              <a:avLst/>
              <a:pathLst>
                <a:path w="1084746" h="0">
                  <a:moveTo>
                    <a:pt x="1084746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5748974" y="257670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6813413" y="27686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6039636" y="2768623"/>
              <a:ext cx="773777" cy="0"/>
            </a:xfrm>
            <a:custGeom>
              <a:avLst/>
              <a:pathLst>
                <a:path w="773777" h="0">
                  <a:moveTo>
                    <a:pt x="773777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6039636" y="2768623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6960125" y="3152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6166033" y="3152452"/>
              <a:ext cx="794092" cy="0"/>
            </a:xfrm>
            <a:custGeom>
              <a:avLst/>
              <a:pathLst>
                <a:path w="794092" h="0">
                  <a:moveTo>
                    <a:pt x="794092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6166033" y="3152452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6539779" y="33443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5503699" y="3344367"/>
              <a:ext cx="1036079" cy="0"/>
            </a:xfrm>
            <a:custGeom>
              <a:avLst/>
              <a:pathLst>
                <a:path w="1036079" h="0">
                  <a:moveTo>
                    <a:pt x="1036079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5503699" y="334436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7936552" y="37281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5700582" y="3728196"/>
              <a:ext cx="2235970" cy="0"/>
            </a:xfrm>
            <a:custGeom>
              <a:avLst/>
              <a:pathLst>
                <a:path w="2235970" h="0">
                  <a:moveTo>
                    <a:pt x="223597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5700582" y="372819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6656098" y="39201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6001023" y="3920111"/>
              <a:ext cx="655075" cy="0"/>
            </a:xfrm>
            <a:custGeom>
              <a:avLst/>
              <a:pathLst>
                <a:path w="655075" h="0">
                  <a:moveTo>
                    <a:pt x="655075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6001023" y="392011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7168500" y="43039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6121907" y="4303941"/>
              <a:ext cx="1046592" cy="0"/>
            </a:xfrm>
            <a:custGeom>
              <a:avLst/>
              <a:pathLst>
                <a:path w="1046592" h="0">
                  <a:moveTo>
                    <a:pt x="1046592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6121907" y="4303941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6597792" y="44958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5808690" y="4495855"/>
              <a:ext cx="789102" cy="0"/>
            </a:xfrm>
            <a:custGeom>
              <a:avLst/>
              <a:pathLst>
                <a:path w="789102" h="0">
                  <a:moveTo>
                    <a:pt x="789102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5808690" y="449585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7579600" y="48796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4519204" y="4879685"/>
              <a:ext cx="3060396" cy="0"/>
            </a:xfrm>
            <a:custGeom>
              <a:avLst/>
              <a:pathLst>
                <a:path w="3060396" h="0">
                  <a:moveTo>
                    <a:pt x="3060396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4519204" y="487968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6722961" y="507160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6079451" y="5071600"/>
              <a:ext cx="643510" cy="0"/>
            </a:xfrm>
            <a:custGeom>
              <a:avLst/>
              <a:pathLst>
                <a:path w="643510" h="0">
                  <a:moveTo>
                    <a:pt x="64351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6079451" y="5071600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7027016" y="545542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6743039" y="56473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6103307" y="5647344"/>
              <a:ext cx="639731" cy="0"/>
            </a:xfrm>
            <a:custGeom>
              <a:avLst/>
              <a:pathLst>
                <a:path w="639731" h="0">
                  <a:moveTo>
                    <a:pt x="639731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6103307" y="564734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6603583" y="6031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5876895" y="6031174"/>
              <a:ext cx="726687" cy="0"/>
            </a:xfrm>
            <a:custGeom>
              <a:avLst/>
              <a:pathLst>
                <a:path w="726687" h="0">
                  <a:moveTo>
                    <a:pt x="726687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5876895" y="6031174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7410186" y="6223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6136828" y="6223088"/>
              <a:ext cx="1273358" cy="0"/>
            </a:xfrm>
            <a:custGeom>
              <a:avLst/>
              <a:pathLst>
                <a:path w="1273358" h="0">
                  <a:moveTo>
                    <a:pt x="1273358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6136828" y="6223088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</a:path>
              </a:pathLst>
            </a:custGeom>
            <a:ln w="12195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g154"/>
            <p:cNvSpPr/>
            <p:nvPr/>
          </p:nvSpPr>
          <p:spPr>
            <a:xfrm>
              <a:off x="6348629" y="437572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5" name="pg155"/>
            <p:cNvSpPr/>
            <p:nvPr/>
          </p:nvSpPr>
          <p:spPr>
            <a:xfrm>
              <a:off x="5919771" y="821402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6" name="pg156"/>
            <p:cNvSpPr/>
            <p:nvPr/>
          </p:nvSpPr>
          <p:spPr>
            <a:xfrm>
              <a:off x="6561839" y="1013317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7" name="pg157"/>
            <p:cNvSpPr/>
            <p:nvPr/>
          </p:nvSpPr>
          <p:spPr>
            <a:xfrm>
              <a:off x="6315043" y="1397146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8" name="pg158"/>
            <p:cNvSpPr/>
            <p:nvPr/>
          </p:nvSpPr>
          <p:spPr>
            <a:xfrm>
              <a:off x="6442237" y="1589061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59" name="pg159"/>
            <p:cNvSpPr/>
            <p:nvPr/>
          </p:nvSpPr>
          <p:spPr>
            <a:xfrm>
              <a:off x="6488763" y="1972891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0" name="pg160"/>
            <p:cNvSpPr/>
            <p:nvPr/>
          </p:nvSpPr>
          <p:spPr>
            <a:xfrm>
              <a:off x="6190762" y="2164805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1" name="pg161"/>
            <p:cNvSpPr/>
            <p:nvPr/>
          </p:nvSpPr>
          <p:spPr>
            <a:xfrm>
              <a:off x="6263275" y="2548635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2" name="pg162"/>
            <p:cNvSpPr/>
            <p:nvPr/>
          </p:nvSpPr>
          <p:spPr>
            <a:xfrm>
              <a:off x="6398452" y="2740550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3" name="pg163"/>
            <p:cNvSpPr/>
            <p:nvPr/>
          </p:nvSpPr>
          <p:spPr>
            <a:xfrm>
              <a:off x="6535006" y="3124379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4" name="pg164"/>
            <p:cNvSpPr/>
            <p:nvPr/>
          </p:nvSpPr>
          <p:spPr>
            <a:xfrm>
              <a:off x="5993666" y="3316294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5" name="pg165"/>
            <p:cNvSpPr/>
            <p:nvPr/>
          </p:nvSpPr>
          <p:spPr>
            <a:xfrm>
              <a:off x="6790494" y="3700123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6" name="pg166"/>
            <p:cNvSpPr/>
            <p:nvPr/>
          </p:nvSpPr>
          <p:spPr>
            <a:xfrm>
              <a:off x="6300487" y="3892038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7" name="pg167"/>
            <p:cNvSpPr/>
            <p:nvPr/>
          </p:nvSpPr>
          <p:spPr>
            <a:xfrm>
              <a:off x="6617130" y="4275868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8" name="pg168"/>
            <p:cNvSpPr/>
            <p:nvPr/>
          </p:nvSpPr>
          <p:spPr>
            <a:xfrm>
              <a:off x="6175168" y="4467782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69" name="pg169"/>
            <p:cNvSpPr/>
            <p:nvPr/>
          </p:nvSpPr>
          <p:spPr>
            <a:xfrm>
              <a:off x="6021329" y="4851612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0" name="pg170"/>
            <p:cNvSpPr/>
            <p:nvPr/>
          </p:nvSpPr>
          <p:spPr>
            <a:xfrm>
              <a:off x="6373133" y="5043527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1" name="pg171"/>
            <p:cNvSpPr/>
            <p:nvPr/>
          </p:nvSpPr>
          <p:spPr>
            <a:xfrm>
              <a:off x="5124995" y="5427356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2" name="pg172"/>
            <p:cNvSpPr/>
            <p:nvPr/>
          </p:nvSpPr>
          <p:spPr>
            <a:xfrm>
              <a:off x="6395100" y="5619271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3" name="pg173"/>
            <p:cNvSpPr/>
            <p:nvPr/>
          </p:nvSpPr>
          <p:spPr>
            <a:xfrm>
              <a:off x="6212166" y="6003101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4" name="pg174"/>
            <p:cNvSpPr/>
            <p:nvPr/>
          </p:nvSpPr>
          <p:spPr>
            <a:xfrm>
              <a:off x="6745434" y="6195015"/>
              <a:ext cx="56145" cy="56145"/>
            </a:xfrm>
            <a:custGeom>
              <a:avLst/>
              <a:pathLst>
                <a:path w="56145" h="56145">
                  <a:moveTo>
                    <a:pt x="0" y="56145"/>
                  </a:moveTo>
                  <a:lnTo>
                    <a:pt x="56145" y="56145"/>
                  </a:lnTo>
                  <a:lnTo>
                    <a:pt x="56145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0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75" name="tx175"/>
            <p:cNvSpPr/>
            <p:nvPr/>
          </p:nvSpPr>
          <p:spPr>
            <a:xfrm>
              <a:off x="7993061" y="437710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-0.78 (-2.35 to 0.79)</a:t>
              </a:r>
            </a:p>
          </p:txBody>
        </p:sp>
        <p:sp>
          <p:nvSpPr>
            <p:cNvPr id="176" name="tx176"/>
            <p:cNvSpPr/>
            <p:nvPr/>
          </p:nvSpPr>
          <p:spPr>
            <a:xfrm>
              <a:off x="7965995" y="821540"/>
              <a:ext cx="745144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-2.91 (-5.58 to -0.24)</a:t>
              </a:r>
            </a:p>
          </p:txBody>
        </p:sp>
        <p:sp>
          <p:nvSpPr>
            <p:cNvPr id="177" name="tx177"/>
            <p:cNvSpPr/>
            <p:nvPr/>
          </p:nvSpPr>
          <p:spPr>
            <a:xfrm>
              <a:off x="8020127" y="1013455"/>
              <a:ext cx="691012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0.28 (-1.66 to 2.21)</a:t>
              </a:r>
            </a:p>
          </p:txBody>
        </p:sp>
        <p:sp>
          <p:nvSpPr>
            <p:cNvPr id="178" name="tx178"/>
            <p:cNvSpPr/>
            <p:nvPr/>
          </p:nvSpPr>
          <p:spPr>
            <a:xfrm>
              <a:off x="7993061" y="1397284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-0.95 (-2.80 to 0.90)</a:t>
              </a:r>
            </a:p>
          </p:txBody>
        </p:sp>
        <p:sp>
          <p:nvSpPr>
            <p:cNvPr id="179" name="tx179"/>
            <p:cNvSpPr/>
            <p:nvPr/>
          </p:nvSpPr>
          <p:spPr>
            <a:xfrm>
              <a:off x="7993061" y="1589199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-0.32 (-3.23 to 2.60)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993061" y="1973029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-0.09 (-2.22 to 2.05)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993061" y="2164943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-1.56 (-3.87 to 0.74)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993061" y="2548773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-1.20 (-3.89 to 1.49)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993061" y="2740688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-0.53 (-2.45 to 1.39)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8026162" y="3124517"/>
              <a:ext cx="684977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0.14 (-1.83 to 2.11)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7999096" y="3316432"/>
              <a:ext cx="712043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-2.54 (-5.11 to 0.03)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8020127" y="3700261"/>
              <a:ext cx="691012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1.41 (-4.13 to 6.96)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7993061" y="3892176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-1.02 (-2.64 to 0.61)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8020127" y="4276006"/>
              <a:ext cx="691012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0.55 (-2.04 to 3.15)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7993061" y="4467921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-1.64 (-3.60 to 0.32)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7947889" y="4851750"/>
              <a:ext cx="76324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-2.40 (-10.00 to 5.19)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7993061" y="5043665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-0.66 (-2.26 to 0.94)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7947889" y="5427494"/>
              <a:ext cx="763249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-6.85 (-16.15 to 2.45)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7993061" y="5619409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-0.55 (-2.14 to 1.04)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7993061" y="6003239"/>
              <a:ext cx="718078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-1.46 (-3.26 to 0.34)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8020127" y="6195153"/>
              <a:ext cx="691012" cy="5586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40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1.19 (-1.97 to 4.35)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7462343" y="204898"/>
              <a:ext cx="1248796" cy="6089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97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Absolute differences (90% CI)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4417535" y="6262964"/>
              <a:ext cx="1023762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Favours combination therapy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6997729" y="6262964"/>
              <a:ext cx="772210" cy="5458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625" i="0" b="0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Favours monotherapy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4452396" y="6427863"/>
              <a:ext cx="131856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-10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5485659" y="6427863"/>
              <a:ext cx="81107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-5</a:t>
              </a:r>
            </a:p>
          </p:txBody>
        </p:sp>
        <p:sp>
          <p:nvSpPr>
            <p:cNvPr id="201" name="tx201"/>
            <p:cNvSpPr/>
            <p:nvPr/>
          </p:nvSpPr>
          <p:spPr>
            <a:xfrm>
              <a:off x="6508726" y="6427863"/>
              <a:ext cx="50749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0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6911881" y="6427863"/>
              <a:ext cx="50749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2</a:t>
              </a:r>
            </a:p>
          </p:txBody>
        </p:sp>
        <p:sp>
          <p:nvSpPr>
            <p:cNvPr id="203" name="tx203"/>
            <p:cNvSpPr/>
            <p:nvPr/>
          </p:nvSpPr>
          <p:spPr>
            <a:xfrm>
              <a:off x="7516614" y="6427863"/>
              <a:ext cx="50749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5</a:t>
              </a:r>
            </a:p>
          </p:txBody>
        </p:sp>
        <p:sp>
          <p:nvSpPr>
            <p:cNvPr id="204" name="tx204"/>
            <p:cNvSpPr/>
            <p:nvPr/>
          </p:nvSpPr>
          <p:spPr>
            <a:xfrm>
              <a:off x="8499128" y="6427863"/>
              <a:ext cx="101498" cy="6281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720" i="0" b="0">
                  <a:solidFill>
                    <a:srgbClr val="4D4D4D">
                      <a:alpha val="100000"/>
                    </a:srgbClr>
                  </a:solidFill>
                  <a:latin typeface="Liberation Sans"/>
                  <a:cs typeface="Liberation Sans"/>
                </a:rPr>
                <a:t>10</a:t>
              </a:r>
            </a:p>
          </p:txBody>
        </p:sp>
        <p:sp>
          <p:nvSpPr>
            <p:cNvPr id="205" name="tx205"/>
            <p:cNvSpPr/>
            <p:nvPr/>
          </p:nvSpPr>
          <p:spPr>
            <a:xfrm>
              <a:off x="120199" y="6680420"/>
              <a:ext cx="12210348" cy="829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spcBef>
                  <a:spcPts val="0"/>
                </a:spcBef>
                <a:spcAft>
                  <a:spcPts val="0"/>
                </a:spcAft>
              </a:pPr>
              <a:r>
                <a:rPr sz="950" i="0" b="1">
                  <a:solidFill>
                    <a:srgbClr val="000000">
                      <a:alpha val="100000"/>
                    </a:srgbClr>
                  </a:solidFill>
                  <a:latin typeface="Liberation Sans"/>
                  <a:cs typeface="Liberation Sans"/>
                </a:rPr>
                <a:t>Figure 3: Subgroup analyses for the primary endpoint of the intention-to-treat population. The dashed line indicates the 2.0%p non-inferiority margin. Synthetic example data; not original RACING patient-level data.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chaeeon.lee</cp:lastModifiedBy>
  <cp:revision>3</cp:revision>
  <dcterms:created xsi:type="dcterms:W3CDTF">2017-02-13T16:18:36Z</dcterms:created>
  <dcterms:modified xsi:type="dcterms:W3CDTF">2026-07-14T10:38:11Z</dcterms:modified>
  <cp:category/>
</cp:coreProperties>
</file>