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423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noFill/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2848133" y="367442"/>
              <a:ext cx="3447732" cy="4880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417040" y="1343591"/>
              <a:ext cx="3005715" cy="1020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5942252" y="1343591"/>
              <a:ext cx="2784706" cy="1020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52503" y="3074036"/>
              <a:ext cx="2386891" cy="754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4704605" y="3074036"/>
              <a:ext cx="2386891" cy="754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417040" y="4582630"/>
              <a:ext cx="3005715" cy="8874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5942252" y="4582630"/>
              <a:ext cx="2784706" cy="8874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x12"/>
            <p:cNvSpPr/>
            <p:nvPr/>
          </p:nvSpPr>
          <p:spPr>
            <a:xfrm>
              <a:off x="3179963" y="563656"/>
              <a:ext cx="2784073" cy="95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95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3780 patients underwent random assignment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715130" y="1731224"/>
              <a:ext cx="2409535" cy="88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10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1894 assigned to moderate-intensity statin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918493" y="1888238"/>
              <a:ext cx="2002810" cy="88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10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with ezetimibe combination therapy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279525" y="1731224"/>
              <a:ext cx="2110160" cy="88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10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1886 assigned to high-intensity statin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960341" y="1888238"/>
              <a:ext cx="748527" cy="88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10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452067" y="3284041"/>
              <a:ext cx="1587764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88 discontinued allocated therapy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333698" y="3414517"/>
              <a:ext cx="1824502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owing to adverse events or intolerance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881652" y="3544994"/>
              <a:ext cx="728593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4.8% (88/1846)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074542" y="3284041"/>
              <a:ext cx="1647017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150 discontinued allocated therapy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985799" y="3414517"/>
              <a:ext cx="1824502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owing to adverse events or intolerance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504127" y="3544994"/>
              <a:ext cx="787847" cy="73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39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8.2% (150/1832)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52209" y="4907153"/>
              <a:ext cx="2335377" cy="857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81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1894 included in intention-to-treat analysis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133422" y="5059744"/>
              <a:ext cx="1572950" cy="857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81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172 primary endpoint events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166917" y="4907153"/>
              <a:ext cx="2335377" cy="857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81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1886 included in intention-to-treat analysis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548130" y="5059744"/>
              <a:ext cx="1572950" cy="857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81" b="0" i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186 primary endpoint events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4571999" y="855517"/>
              <a:ext cx="0" cy="239600"/>
            </a:xfrm>
            <a:custGeom>
              <a:avLst/>
              <a:gdLst/>
              <a:ahLst/>
              <a:cxnLst/>
              <a:rect l="0" t="0" r="0" b="0"/>
              <a:pathLst>
                <a:path h="239600">
                  <a:moveTo>
                    <a:pt x="0" y="0"/>
                  </a:moveTo>
                  <a:lnTo>
                    <a:pt x="0" y="23960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1919898" y="1095117"/>
              <a:ext cx="5410287" cy="0"/>
            </a:xfrm>
            <a:custGeom>
              <a:avLst/>
              <a:gdLst/>
              <a:ahLst/>
              <a:cxnLst/>
              <a:rect l="0" t="0" r="0" b="0"/>
              <a:pathLst>
                <a:path w="5410287">
                  <a:moveTo>
                    <a:pt x="0" y="0"/>
                  </a:moveTo>
                  <a:lnTo>
                    <a:pt x="5410287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1919898" y="1095117"/>
              <a:ext cx="0" cy="248474"/>
            </a:xfrm>
            <a:custGeom>
              <a:avLst/>
              <a:gdLst/>
              <a:ahLst/>
              <a:cxnLst/>
              <a:rect l="0" t="0" r="0" b="0"/>
              <a:pathLst>
                <a:path h="248474">
                  <a:moveTo>
                    <a:pt x="0" y="0"/>
                  </a:moveTo>
                  <a:lnTo>
                    <a:pt x="0" y="248474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869606" y="1256483"/>
              <a:ext cx="100584" cy="87108"/>
            </a:xfrm>
            <a:custGeom>
              <a:avLst/>
              <a:gdLst/>
              <a:ahLst/>
              <a:cxnLst/>
              <a:rect l="0" t="0" r="0" b="0"/>
              <a:pathLst>
                <a:path w="100584" h="87108">
                  <a:moveTo>
                    <a:pt x="0" y="0"/>
                  </a:moveTo>
                  <a:lnTo>
                    <a:pt x="50292" y="87108"/>
                  </a:lnTo>
                  <a:lnTo>
                    <a:pt x="1005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7330185" y="1095117"/>
              <a:ext cx="0" cy="248474"/>
            </a:xfrm>
            <a:custGeom>
              <a:avLst/>
              <a:gdLst/>
              <a:ahLst/>
              <a:cxnLst/>
              <a:rect l="0" t="0" r="0" b="0"/>
              <a:pathLst>
                <a:path h="248474">
                  <a:moveTo>
                    <a:pt x="0" y="0"/>
                  </a:moveTo>
                  <a:lnTo>
                    <a:pt x="0" y="248474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7279893" y="1256483"/>
              <a:ext cx="100583" cy="87108"/>
            </a:xfrm>
            <a:custGeom>
              <a:avLst/>
              <a:gdLst/>
              <a:ahLst/>
              <a:cxnLst/>
              <a:rect l="0" t="0" r="0" b="0"/>
              <a:pathLst>
                <a:path w="100583" h="87108">
                  <a:moveTo>
                    <a:pt x="0" y="0"/>
                  </a:moveTo>
                  <a:lnTo>
                    <a:pt x="50291" y="87108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919898" y="2364110"/>
              <a:ext cx="0" cy="2218519"/>
            </a:xfrm>
            <a:custGeom>
              <a:avLst/>
              <a:gdLst/>
              <a:ahLst/>
              <a:cxnLst/>
              <a:rect l="0" t="0" r="0" b="0"/>
              <a:pathLst>
                <a:path h="2218519">
                  <a:moveTo>
                    <a:pt x="0" y="0"/>
                  </a:moveTo>
                  <a:lnTo>
                    <a:pt x="0" y="2218519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1869606" y="4495521"/>
              <a:ext cx="100584" cy="87108"/>
            </a:xfrm>
            <a:custGeom>
              <a:avLst/>
              <a:gdLst/>
              <a:ahLst/>
              <a:cxnLst/>
              <a:rect l="0" t="0" r="0" b="0"/>
              <a:pathLst>
                <a:path w="100584" h="87108">
                  <a:moveTo>
                    <a:pt x="0" y="0"/>
                  </a:moveTo>
                  <a:lnTo>
                    <a:pt x="50292" y="87108"/>
                  </a:lnTo>
                  <a:lnTo>
                    <a:pt x="1005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7330185" y="2364110"/>
              <a:ext cx="0" cy="2218519"/>
            </a:xfrm>
            <a:custGeom>
              <a:avLst/>
              <a:gdLst/>
              <a:ahLst/>
              <a:cxnLst/>
              <a:rect l="0" t="0" r="0" b="0"/>
              <a:pathLst>
                <a:path h="2218519">
                  <a:moveTo>
                    <a:pt x="0" y="0"/>
                  </a:moveTo>
                  <a:lnTo>
                    <a:pt x="0" y="2218519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7279893" y="4495521"/>
              <a:ext cx="100583" cy="87108"/>
            </a:xfrm>
            <a:custGeom>
              <a:avLst/>
              <a:gdLst/>
              <a:ahLst/>
              <a:cxnLst/>
              <a:rect l="0" t="0" r="0" b="0"/>
              <a:pathLst>
                <a:path w="100583" h="87108">
                  <a:moveTo>
                    <a:pt x="0" y="0"/>
                  </a:moveTo>
                  <a:lnTo>
                    <a:pt x="50291" y="87108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919898" y="3455622"/>
              <a:ext cx="132605" cy="0"/>
            </a:xfrm>
            <a:custGeom>
              <a:avLst/>
              <a:gdLst/>
              <a:ahLst/>
              <a:cxnLst/>
              <a:rect l="0" t="0" r="0" b="0"/>
              <a:pathLst>
                <a:path w="132605">
                  <a:moveTo>
                    <a:pt x="0" y="0"/>
                  </a:moveTo>
                  <a:lnTo>
                    <a:pt x="132605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g38"/>
            <p:cNvSpPr/>
            <p:nvPr/>
          </p:nvSpPr>
          <p:spPr>
            <a:xfrm>
              <a:off x="1973314" y="3409902"/>
              <a:ext cx="79189" cy="91439"/>
            </a:xfrm>
            <a:custGeom>
              <a:avLst/>
              <a:gdLst/>
              <a:ahLst/>
              <a:cxnLst/>
              <a:rect l="0" t="0" r="0" b="0"/>
              <a:pathLst>
                <a:path w="79189" h="91439">
                  <a:moveTo>
                    <a:pt x="0" y="91439"/>
                  </a:moveTo>
                  <a:lnTo>
                    <a:pt x="79189" y="45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7091496" y="3455622"/>
              <a:ext cx="238689" cy="0"/>
            </a:xfrm>
            <a:custGeom>
              <a:avLst/>
              <a:gdLst/>
              <a:ahLst/>
              <a:cxnLst/>
              <a:rect l="0" t="0" r="0" b="0"/>
              <a:pathLst>
                <a:path w="238689">
                  <a:moveTo>
                    <a:pt x="23868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40"/>
            <p:cNvSpPr/>
            <p:nvPr/>
          </p:nvSpPr>
          <p:spPr>
            <a:xfrm>
              <a:off x="7091496" y="3409902"/>
              <a:ext cx="79189" cy="91439"/>
            </a:xfrm>
            <a:custGeom>
              <a:avLst/>
              <a:gdLst/>
              <a:ahLst/>
              <a:cxnLst/>
              <a:rect l="0" t="0" r="0" b="0"/>
              <a:pathLst>
                <a:path w="79189" h="91439">
                  <a:moveTo>
                    <a:pt x="79189" y="0"/>
                  </a:moveTo>
                  <a:lnTo>
                    <a:pt x="0" y="45720"/>
                  </a:lnTo>
                  <a:lnTo>
                    <a:pt x="79189" y="914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x41"/>
            <p:cNvSpPr/>
            <p:nvPr/>
          </p:nvSpPr>
          <p:spPr>
            <a:xfrm>
              <a:off x="310956" y="5895055"/>
              <a:ext cx="1302837" cy="906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38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Figure 1: Trial profile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10956" y="6290822"/>
              <a:ext cx="4332061" cy="658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53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*Discontinuation and safety-population values are summary numbers from published RACING Table 4;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0956" y="6411477"/>
              <a:ext cx="5201290" cy="658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53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they were not derived from the synthetic patient-level data. Synthetic example data; not original RACING patient-level data.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49463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69589" y="5015983"/>
              <a:ext cx="9004821" cy="1241720"/>
            </a:xfrm>
            <a:prstGeom prst="rect">
              <a:avLst/>
            </a:prstGeom>
            <a:noFill/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69589" y="6257703"/>
              <a:ext cx="9004821" cy="530706"/>
            </a:xfrm>
            <a:prstGeom prst="rect">
              <a:avLst/>
            </a:prstGeom>
            <a:noFill/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1684337" y="196114"/>
              <a:ext cx="7137022" cy="4438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854266" y="1654299"/>
              <a:ext cx="6797164" cy="2980455"/>
            </a:xfrm>
            <a:custGeom>
              <a:avLst/>
              <a:gdLst/>
              <a:ahLst/>
              <a:cxnLst/>
              <a:rect l="0" t="0" r="0" b="0"/>
              <a:pathLst>
                <a:path w="6797164" h="2980455">
                  <a:moveTo>
                    <a:pt x="0" y="2980455"/>
                  </a:moveTo>
                  <a:lnTo>
                    <a:pt x="188810" y="2980455"/>
                  </a:lnTo>
                  <a:lnTo>
                    <a:pt x="188810" y="2839247"/>
                  </a:lnTo>
                  <a:lnTo>
                    <a:pt x="377620" y="2839247"/>
                  </a:lnTo>
                  <a:lnTo>
                    <a:pt x="377620" y="2792153"/>
                  </a:lnTo>
                  <a:lnTo>
                    <a:pt x="566430" y="2792153"/>
                  </a:lnTo>
                  <a:lnTo>
                    <a:pt x="566430" y="2666500"/>
                  </a:lnTo>
                  <a:lnTo>
                    <a:pt x="755240" y="2666500"/>
                  </a:lnTo>
                  <a:lnTo>
                    <a:pt x="755240" y="2619305"/>
                  </a:lnTo>
                  <a:lnTo>
                    <a:pt x="944050" y="2619305"/>
                  </a:lnTo>
                  <a:lnTo>
                    <a:pt x="944050" y="2587807"/>
                  </a:lnTo>
                  <a:lnTo>
                    <a:pt x="1132860" y="2587807"/>
                  </a:lnTo>
                  <a:lnTo>
                    <a:pt x="1132860" y="2492956"/>
                  </a:lnTo>
                  <a:lnTo>
                    <a:pt x="1321670" y="2492956"/>
                  </a:lnTo>
                  <a:lnTo>
                    <a:pt x="1321670" y="2429550"/>
                  </a:lnTo>
                  <a:lnTo>
                    <a:pt x="1510480" y="2429550"/>
                  </a:lnTo>
                  <a:lnTo>
                    <a:pt x="1510480" y="2302668"/>
                  </a:lnTo>
                  <a:lnTo>
                    <a:pt x="1699291" y="2302668"/>
                  </a:lnTo>
                  <a:lnTo>
                    <a:pt x="1699291" y="2223237"/>
                  </a:lnTo>
                  <a:lnTo>
                    <a:pt x="1888101" y="2223237"/>
                  </a:lnTo>
                  <a:lnTo>
                    <a:pt x="1888101" y="2111787"/>
                  </a:lnTo>
                  <a:lnTo>
                    <a:pt x="2076911" y="2111787"/>
                  </a:lnTo>
                  <a:lnTo>
                    <a:pt x="2076911" y="2047995"/>
                  </a:lnTo>
                  <a:lnTo>
                    <a:pt x="2265721" y="2047995"/>
                  </a:lnTo>
                  <a:lnTo>
                    <a:pt x="2265721" y="1951987"/>
                  </a:lnTo>
                  <a:lnTo>
                    <a:pt x="2454531" y="1951987"/>
                  </a:lnTo>
                  <a:lnTo>
                    <a:pt x="2454531" y="1823832"/>
                  </a:lnTo>
                  <a:lnTo>
                    <a:pt x="2643341" y="1823832"/>
                  </a:lnTo>
                  <a:lnTo>
                    <a:pt x="2643341" y="1791721"/>
                  </a:lnTo>
                  <a:lnTo>
                    <a:pt x="2832151" y="1791721"/>
                  </a:lnTo>
                  <a:lnTo>
                    <a:pt x="2832151" y="1695333"/>
                  </a:lnTo>
                  <a:lnTo>
                    <a:pt x="3020961" y="1695333"/>
                  </a:lnTo>
                  <a:lnTo>
                    <a:pt x="3020961" y="1598891"/>
                  </a:lnTo>
                  <a:lnTo>
                    <a:pt x="3209772" y="1598891"/>
                  </a:lnTo>
                  <a:lnTo>
                    <a:pt x="3209772" y="1454228"/>
                  </a:lnTo>
                  <a:lnTo>
                    <a:pt x="3398582" y="1454228"/>
                  </a:lnTo>
                  <a:lnTo>
                    <a:pt x="3398582" y="1341712"/>
                  </a:lnTo>
                  <a:lnTo>
                    <a:pt x="3587392" y="1341712"/>
                  </a:lnTo>
                  <a:lnTo>
                    <a:pt x="3587392" y="1325610"/>
                  </a:lnTo>
                  <a:lnTo>
                    <a:pt x="3776202" y="1325610"/>
                  </a:lnTo>
                  <a:lnTo>
                    <a:pt x="3776202" y="1277306"/>
                  </a:lnTo>
                  <a:lnTo>
                    <a:pt x="3965012" y="1277306"/>
                  </a:lnTo>
                  <a:lnTo>
                    <a:pt x="3965012" y="1148419"/>
                  </a:lnTo>
                  <a:lnTo>
                    <a:pt x="4153822" y="1148419"/>
                  </a:lnTo>
                  <a:lnTo>
                    <a:pt x="4153822" y="1067772"/>
                  </a:lnTo>
                  <a:lnTo>
                    <a:pt x="4342632" y="1067772"/>
                  </a:lnTo>
                  <a:lnTo>
                    <a:pt x="4342632" y="1003216"/>
                  </a:lnTo>
                  <a:lnTo>
                    <a:pt x="4531442" y="1003216"/>
                  </a:lnTo>
                  <a:lnTo>
                    <a:pt x="4531442" y="987077"/>
                  </a:lnTo>
                  <a:lnTo>
                    <a:pt x="4720252" y="987077"/>
                  </a:lnTo>
                  <a:lnTo>
                    <a:pt x="4720252" y="890244"/>
                  </a:lnTo>
                  <a:lnTo>
                    <a:pt x="4909063" y="890244"/>
                  </a:lnTo>
                  <a:lnTo>
                    <a:pt x="4909063" y="825650"/>
                  </a:lnTo>
                  <a:lnTo>
                    <a:pt x="5097873" y="825650"/>
                  </a:lnTo>
                  <a:lnTo>
                    <a:pt x="5097873" y="777205"/>
                  </a:lnTo>
                  <a:lnTo>
                    <a:pt x="5286683" y="777205"/>
                  </a:lnTo>
                  <a:lnTo>
                    <a:pt x="5286683" y="615626"/>
                  </a:lnTo>
                  <a:lnTo>
                    <a:pt x="5475493" y="615626"/>
                  </a:lnTo>
                  <a:lnTo>
                    <a:pt x="5475493" y="470031"/>
                  </a:lnTo>
                  <a:lnTo>
                    <a:pt x="5664303" y="470031"/>
                  </a:lnTo>
                  <a:lnTo>
                    <a:pt x="5664303" y="421500"/>
                  </a:lnTo>
                  <a:lnTo>
                    <a:pt x="5853113" y="421500"/>
                  </a:lnTo>
                  <a:lnTo>
                    <a:pt x="5853113" y="324321"/>
                  </a:lnTo>
                  <a:lnTo>
                    <a:pt x="6041923" y="324321"/>
                  </a:lnTo>
                  <a:lnTo>
                    <a:pt x="6041923" y="227083"/>
                  </a:lnTo>
                  <a:lnTo>
                    <a:pt x="6230733" y="227083"/>
                  </a:lnTo>
                  <a:lnTo>
                    <a:pt x="6230733" y="113571"/>
                  </a:lnTo>
                  <a:lnTo>
                    <a:pt x="6419544" y="113571"/>
                  </a:lnTo>
                  <a:lnTo>
                    <a:pt x="6419544" y="81139"/>
                  </a:lnTo>
                  <a:lnTo>
                    <a:pt x="6608354" y="81139"/>
                  </a:lnTo>
                  <a:lnTo>
                    <a:pt x="6608354" y="16235"/>
                  </a:lnTo>
                  <a:lnTo>
                    <a:pt x="6797164" y="16235"/>
                  </a:lnTo>
                  <a:lnTo>
                    <a:pt x="6797164" y="0"/>
                  </a:lnTo>
                </a:path>
              </a:pathLst>
            </a:custGeom>
            <a:ln w="24391" cap="flat">
              <a:solidFill>
                <a:srgbClr val="0099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854266" y="1881203"/>
              <a:ext cx="6797164" cy="2753550"/>
            </a:xfrm>
            <a:custGeom>
              <a:avLst/>
              <a:gdLst/>
              <a:ahLst/>
              <a:cxnLst/>
              <a:rect l="0" t="0" r="0" b="0"/>
              <a:pathLst>
                <a:path w="6797164" h="2753550">
                  <a:moveTo>
                    <a:pt x="0" y="2753550"/>
                  </a:moveTo>
                  <a:lnTo>
                    <a:pt x="188810" y="2753550"/>
                  </a:lnTo>
                  <a:lnTo>
                    <a:pt x="188810" y="2706680"/>
                  </a:lnTo>
                  <a:lnTo>
                    <a:pt x="377620" y="2706680"/>
                  </a:lnTo>
                  <a:lnTo>
                    <a:pt x="377620" y="2675416"/>
                  </a:lnTo>
                  <a:lnTo>
                    <a:pt x="566430" y="2675416"/>
                  </a:lnTo>
                  <a:lnTo>
                    <a:pt x="566430" y="2628321"/>
                  </a:lnTo>
                  <a:lnTo>
                    <a:pt x="755240" y="2628321"/>
                  </a:lnTo>
                  <a:lnTo>
                    <a:pt x="755240" y="2549620"/>
                  </a:lnTo>
                  <a:lnTo>
                    <a:pt x="944050" y="2549620"/>
                  </a:lnTo>
                  <a:lnTo>
                    <a:pt x="944050" y="2486592"/>
                  </a:lnTo>
                  <a:lnTo>
                    <a:pt x="1132860" y="2486592"/>
                  </a:lnTo>
                  <a:lnTo>
                    <a:pt x="1132860" y="2360399"/>
                  </a:lnTo>
                  <a:lnTo>
                    <a:pt x="1321670" y="2360399"/>
                  </a:lnTo>
                  <a:lnTo>
                    <a:pt x="1321670" y="2313026"/>
                  </a:lnTo>
                  <a:lnTo>
                    <a:pt x="1510480" y="2313026"/>
                  </a:lnTo>
                  <a:lnTo>
                    <a:pt x="1510480" y="2233597"/>
                  </a:lnTo>
                  <a:lnTo>
                    <a:pt x="1699291" y="2233597"/>
                  </a:lnTo>
                  <a:lnTo>
                    <a:pt x="1699291" y="2090469"/>
                  </a:lnTo>
                  <a:lnTo>
                    <a:pt x="1888101" y="2090469"/>
                  </a:lnTo>
                  <a:lnTo>
                    <a:pt x="1888101" y="1994945"/>
                  </a:lnTo>
                  <a:lnTo>
                    <a:pt x="2076911" y="1994945"/>
                  </a:lnTo>
                  <a:lnTo>
                    <a:pt x="2076911" y="1851421"/>
                  </a:lnTo>
                  <a:lnTo>
                    <a:pt x="2265721" y="1851421"/>
                  </a:lnTo>
                  <a:lnTo>
                    <a:pt x="2265721" y="1835447"/>
                  </a:lnTo>
                  <a:lnTo>
                    <a:pt x="2454531" y="1835447"/>
                  </a:lnTo>
                  <a:lnTo>
                    <a:pt x="2454531" y="1739551"/>
                  </a:lnTo>
                  <a:lnTo>
                    <a:pt x="2643341" y="1739551"/>
                  </a:lnTo>
                  <a:lnTo>
                    <a:pt x="2643341" y="1627610"/>
                  </a:lnTo>
                  <a:lnTo>
                    <a:pt x="2832151" y="1627610"/>
                  </a:lnTo>
                  <a:lnTo>
                    <a:pt x="2832151" y="1547608"/>
                  </a:lnTo>
                  <a:lnTo>
                    <a:pt x="3020961" y="1547608"/>
                  </a:lnTo>
                  <a:lnTo>
                    <a:pt x="3020961" y="1419459"/>
                  </a:lnTo>
                  <a:lnTo>
                    <a:pt x="3209772" y="1419459"/>
                  </a:lnTo>
                  <a:lnTo>
                    <a:pt x="3209772" y="1355348"/>
                  </a:lnTo>
                  <a:lnTo>
                    <a:pt x="3398582" y="1355348"/>
                  </a:lnTo>
                  <a:lnTo>
                    <a:pt x="3398582" y="1307237"/>
                  </a:lnTo>
                  <a:lnTo>
                    <a:pt x="3587392" y="1307237"/>
                  </a:lnTo>
                  <a:lnTo>
                    <a:pt x="3587392" y="1210907"/>
                  </a:lnTo>
                  <a:lnTo>
                    <a:pt x="3776202" y="1210907"/>
                  </a:lnTo>
                  <a:lnTo>
                    <a:pt x="3776202" y="1114521"/>
                  </a:lnTo>
                  <a:lnTo>
                    <a:pt x="3965012" y="1114521"/>
                  </a:lnTo>
                  <a:lnTo>
                    <a:pt x="3965012" y="1082374"/>
                  </a:lnTo>
                  <a:lnTo>
                    <a:pt x="4342632" y="1082374"/>
                  </a:lnTo>
                  <a:lnTo>
                    <a:pt x="4342632" y="937461"/>
                  </a:lnTo>
                  <a:lnTo>
                    <a:pt x="4531442" y="937461"/>
                  </a:lnTo>
                  <a:lnTo>
                    <a:pt x="4531442" y="921360"/>
                  </a:lnTo>
                  <a:lnTo>
                    <a:pt x="4720252" y="921360"/>
                  </a:lnTo>
                  <a:lnTo>
                    <a:pt x="4720252" y="776364"/>
                  </a:lnTo>
                  <a:lnTo>
                    <a:pt x="4909063" y="776364"/>
                  </a:lnTo>
                  <a:lnTo>
                    <a:pt x="4909063" y="695763"/>
                  </a:lnTo>
                  <a:lnTo>
                    <a:pt x="5097873" y="695763"/>
                  </a:lnTo>
                  <a:lnTo>
                    <a:pt x="5097873" y="647375"/>
                  </a:lnTo>
                  <a:lnTo>
                    <a:pt x="5286683" y="647375"/>
                  </a:lnTo>
                  <a:lnTo>
                    <a:pt x="5286683" y="582856"/>
                  </a:lnTo>
                  <a:lnTo>
                    <a:pt x="5475493" y="582856"/>
                  </a:lnTo>
                  <a:lnTo>
                    <a:pt x="5475493" y="518262"/>
                  </a:lnTo>
                  <a:lnTo>
                    <a:pt x="5664303" y="518262"/>
                  </a:lnTo>
                  <a:lnTo>
                    <a:pt x="5664303" y="437472"/>
                  </a:lnTo>
                  <a:lnTo>
                    <a:pt x="5853113" y="437472"/>
                  </a:lnTo>
                  <a:lnTo>
                    <a:pt x="5853113" y="324231"/>
                  </a:lnTo>
                  <a:lnTo>
                    <a:pt x="6041923" y="324231"/>
                  </a:lnTo>
                  <a:lnTo>
                    <a:pt x="6041923" y="308034"/>
                  </a:lnTo>
                  <a:lnTo>
                    <a:pt x="6230733" y="308034"/>
                  </a:lnTo>
                  <a:lnTo>
                    <a:pt x="6230733" y="194591"/>
                  </a:lnTo>
                  <a:lnTo>
                    <a:pt x="6419544" y="194591"/>
                  </a:lnTo>
                  <a:lnTo>
                    <a:pt x="6419544" y="113511"/>
                  </a:lnTo>
                  <a:lnTo>
                    <a:pt x="6608354" y="113511"/>
                  </a:lnTo>
                  <a:lnTo>
                    <a:pt x="6608354" y="16215"/>
                  </a:lnTo>
                  <a:lnTo>
                    <a:pt x="6797164" y="16215"/>
                  </a:lnTo>
                  <a:lnTo>
                    <a:pt x="6797164" y="0"/>
                  </a:lnTo>
                </a:path>
              </a:pathLst>
            </a:custGeom>
            <a:ln w="24391" cap="flat">
              <a:solidFill>
                <a:srgbClr val="A500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11"/>
            <p:cNvSpPr/>
            <p:nvPr/>
          </p:nvSpPr>
          <p:spPr>
            <a:xfrm>
              <a:off x="3388309" y="1386767"/>
              <a:ext cx="3351458" cy="1043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95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Absolute difference -0.78% (90% CI -2.35 to 0.79)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10872" y="1808492"/>
              <a:ext cx="1106332" cy="894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24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Log-rank P = 0.421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1684337" y="196114"/>
              <a:ext cx="0" cy="4438640"/>
            </a:xfrm>
            <a:custGeom>
              <a:avLst/>
              <a:gdLst/>
              <a:ahLst/>
              <a:cxnLst/>
              <a:rect l="0" t="0" r="0" b="0"/>
              <a:pathLst>
                <a:path h="4438640">
                  <a:moveTo>
                    <a:pt x="0" y="4438640"/>
                  </a:moveTo>
                  <a:lnTo>
                    <a:pt x="0" y="0"/>
                  </a:lnTo>
                </a:path>
              </a:pathLst>
            </a:custGeom>
            <a:ln w="1761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4"/>
            <p:cNvSpPr/>
            <p:nvPr/>
          </p:nvSpPr>
          <p:spPr>
            <a:xfrm>
              <a:off x="1419576" y="4589354"/>
              <a:ext cx="190743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419576" y="3109808"/>
              <a:ext cx="190743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346149" y="1630261"/>
              <a:ext cx="264170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346149" y="150714"/>
              <a:ext cx="264170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15%</a:t>
              </a:r>
            </a:p>
          </p:txBody>
        </p:sp>
        <p:sp>
          <p:nvSpPr>
            <p:cNvPr id="18" name="pl18"/>
            <p:cNvSpPr/>
            <p:nvPr/>
          </p:nvSpPr>
          <p:spPr>
            <a:xfrm>
              <a:off x="1643216" y="4634754"/>
              <a:ext cx="41120" cy="0"/>
            </a:xfrm>
            <a:custGeom>
              <a:avLst/>
              <a:gdLst/>
              <a:ahLst/>
              <a:cxnLst/>
              <a:rect l="0" t="0" r="0" b="0"/>
              <a:pathLst>
                <a:path w="4112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643216" y="3155207"/>
              <a:ext cx="41120" cy="0"/>
            </a:xfrm>
            <a:custGeom>
              <a:avLst/>
              <a:gdLst/>
              <a:ahLst/>
              <a:cxnLst/>
              <a:rect l="0" t="0" r="0" b="0"/>
              <a:pathLst>
                <a:path w="4112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643216" y="1675661"/>
              <a:ext cx="41120" cy="0"/>
            </a:xfrm>
            <a:custGeom>
              <a:avLst/>
              <a:gdLst/>
              <a:ahLst/>
              <a:cxnLst/>
              <a:rect l="0" t="0" r="0" b="0"/>
              <a:pathLst>
                <a:path w="4112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643216" y="196114"/>
              <a:ext cx="41120" cy="0"/>
            </a:xfrm>
            <a:custGeom>
              <a:avLst/>
              <a:gdLst/>
              <a:ahLst/>
              <a:cxnLst/>
              <a:rect l="0" t="0" r="0" b="0"/>
              <a:pathLst>
                <a:path w="4112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684337" y="4634754"/>
              <a:ext cx="7137022" cy="0"/>
            </a:xfrm>
            <a:custGeom>
              <a:avLst/>
              <a:gdLst/>
              <a:ahLst/>
              <a:cxnLst/>
              <a:rect l="0" t="0" r="0" b="0"/>
              <a:pathLst>
                <a:path w="7137022">
                  <a:moveTo>
                    <a:pt x="0" y="0"/>
                  </a:moveTo>
                  <a:lnTo>
                    <a:pt x="7137022" y="0"/>
                  </a:lnTo>
                </a:path>
              </a:pathLst>
            </a:custGeom>
            <a:ln w="1761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854266" y="4634754"/>
              <a:ext cx="0" cy="41120"/>
            </a:xfrm>
            <a:custGeom>
              <a:avLst/>
              <a:gdLst/>
              <a:ahLst/>
              <a:cxnLst/>
              <a:rect l="0" t="0" r="0" b="0"/>
              <a:pathLst>
                <a:path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4119987" y="4634754"/>
              <a:ext cx="0" cy="41120"/>
            </a:xfrm>
            <a:custGeom>
              <a:avLst/>
              <a:gdLst/>
              <a:ahLst/>
              <a:cxnLst/>
              <a:rect l="0" t="0" r="0" b="0"/>
              <a:pathLst>
                <a:path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6385709" y="4634754"/>
              <a:ext cx="0" cy="41120"/>
            </a:xfrm>
            <a:custGeom>
              <a:avLst/>
              <a:gdLst/>
              <a:ahLst/>
              <a:cxnLst/>
              <a:rect l="0" t="0" r="0" b="0"/>
              <a:pathLst>
                <a:path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8651430" y="4634754"/>
              <a:ext cx="0" cy="41120"/>
            </a:xfrm>
            <a:custGeom>
              <a:avLst/>
              <a:gdLst/>
              <a:ahLst/>
              <a:cxnLst/>
              <a:rect l="0" t="0" r="0" b="0"/>
              <a:pathLst>
                <a:path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x27"/>
            <p:cNvSpPr/>
            <p:nvPr/>
          </p:nvSpPr>
          <p:spPr>
            <a:xfrm>
              <a:off x="1817553" y="4708772"/>
              <a:ext cx="73426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046561" y="4708772"/>
              <a:ext cx="146852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312283" y="4708772"/>
              <a:ext cx="146852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578004" y="4708772"/>
              <a:ext cx="146852" cy="90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4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36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966790" y="4868033"/>
              <a:ext cx="2572115" cy="1136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Time since randomisation (months)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556464" y="2358604"/>
              <a:ext cx="1871868" cy="1136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Cumulative incidence (%)</a:t>
              </a:r>
            </a:p>
          </p:txBody>
        </p:sp>
        <p:sp>
          <p:nvSpPr>
            <p:cNvPr id="33" name="rc33"/>
            <p:cNvSpPr/>
            <p:nvPr/>
          </p:nvSpPr>
          <p:spPr>
            <a:xfrm>
              <a:off x="6109291" y="551205"/>
              <a:ext cx="2680675" cy="659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6191532" y="633447"/>
              <a:ext cx="360000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6227532" y="743175"/>
              <a:ext cx="288000" cy="0"/>
            </a:xfrm>
            <a:custGeom>
              <a:avLst/>
              <a:gdLst/>
              <a:ahLst/>
              <a:cxnLst/>
              <a:rect l="0" t="0" r="0" b="0"/>
              <a:pathLst>
                <a:path w="288000">
                  <a:moveTo>
                    <a:pt x="0" y="0"/>
                  </a:moveTo>
                  <a:lnTo>
                    <a:pt x="288000" y="0"/>
                  </a:lnTo>
                </a:path>
              </a:pathLst>
            </a:custGeom>
            <a:ln w="24391" cap="flat">
              <a:solidFill>
                <a:srgbClr val="0099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6191532" y="852903"/>
              <a:ext cx="360000" cy="275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6227532" y="990886"/>
              <a:ext cx="288000" cy="0"/>
            </a:xfrm>
            <a:custGeom>
              <a:avLst/>
              <a:gdLst/>
              <a:ahLst/>
              <a:cxnLst/>
              <a:rect l="0" t="0" r="0" b="0"/>
              <a:pathLst>
                <a:path w="288000">
                  <a:moveTo>
                    <a:pt x="0" y="0"/>
                  </a:moveTo>
                  <a:lnTo>
                    <a:pt x="288000" y="0"/>
                  </a:lnTo>
                </a:path>
              </a:pathLst>
            </a:custGeom>
            <a:ln w="24391" cap="flat">
              <a:solidFill>
                <a:srgbClr val="A500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8"/>
            <p:cNvSpPr/>
            <p:nvPr/>
          </p:nvSpPr>
          <p:spPr>
            <a:xfrm>
              <a:off x="6633774" y="695123"/>
              <a:ext cx="2073950" cy="961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High-intensity statin monotherapy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633774" y="867396"/>
              <a:ext cx="1809780" cy="961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Moderate-intensity statin with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33774" y="1018272"/>
              <a:ext cx="1895368" cy="961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ezetimibe combination therapy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693514" y="5831094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1894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959236" y="5831094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1796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24957" y="5831094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1725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490679" y="5831094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1656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693514" y="5392493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1886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59236" y="5392493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1791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230307" y="5392493"/>
              <a:ext cx="310804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1711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490679" y="5392493"/>
              <a:ext cx="321503" cy="993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38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1710" y="5837083"/>
              <a:ext cx="117262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Combination therapy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42576" y="5398483"/>
              <a:ext cx="741761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818924" y="6157119"/>
              <a:ext cx="70683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049304" y="6157119"/>
              <a:ext cx="14136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315026" y="6157119"/>
              <a:ext cx="14136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580747" y="6157119"/>
              <a:ext cx="14136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684337" y="5015983"/>
              <a:ext cx="978590" cy="961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 at risk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54265" y="6368590"/>
              <a:ext cx="5837529" cy="94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81" b="1" i="0" dirty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Figure 2: Kaplan–Meier curves of the primary endpoint in the intention-to-treat population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854265" y="6557732"/>
              <a:ext cx="4130893" cy="94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81" b="1" i="0" dirty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Synthetic example data; not original RACING patient-level data.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977121" y="165800"/>
            <a:ext cx="7189757" cy="6526399"/>
            <a:chOff x="814492" y="-164455"/>
            <a:chExt cx="7393116" cy="6935646"/>
          </a:xfrm>
        </p:grpSpPr>
        <p:sp>
          <p:nvSpPr>
            <p:cNvPr id="4" name="rc4"/>
            <p:cNvSpPr/>
            <p:nvPr/>
          </p:nvSpPr>
          <p:spPr>
            <a:xfrm>
              <a:off x="936390" y="0"/>
              <a:ext cx="1839205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2775596" y="0"/>
              <a:ext cx="1414192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4189789" y="0"/>
              <a:ext cx="1160263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5350054" y="0"/>
              <a:ext cx="991099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6341154" y="0"/>
              <a:ext cx="1866454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936390" y="177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936390" y="3732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936390" y="568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936390" y="7640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936390" y="959508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936390" y="1154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936390" y="13503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6" name="rc16"/>
            <p:cNvSpPr/>
            <p:nvPr/>
          </p:nvSpPr>
          <p:spPr>
            <a:xfrm>
              <a:off x="936390" y="15457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936390" y="17411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936390" y="19365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936390" y="2132008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936390" y="23274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936390" y="2522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936390" y="27182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936390" y="2913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936390" y="31090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936390" y="33045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936390" y="3499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936390" y="36953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936390" y="3890757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936390" y="40861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936390" y="42815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936390" y="44770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936390" y="46724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936390" y="4867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936390" y="5063257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936390" y="5258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936390" y="5454090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936390" y="56495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936390" y="5844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936390" y="6040340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775596" y="177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2775596" y="3732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775596" y="568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2775596" y="7640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775596" y="959508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775596" y="1154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775596" y="13503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775596" y="15457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775596" y="17411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775596" y="19365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775596" y="2132008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775596" y="23274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775596" y="2522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775596" y="27182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2775596" y="2913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2775596" y="31090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2775596" y="33045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2775596" y="3499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2775596" y="36953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2775596" y="3890757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2775596" y="40861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2775596" y="42815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2775596" y="44770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2775596" y="46724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2775596" y="4867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2775596" y="5063257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2775596" y="5258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2775596" y="5454090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2775596" y="56495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2775596" y="5844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775596" y="6040340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4189789" y="177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4189789" y="3732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4189789" y="568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4189789" y="7640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4189789" y="959508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4189789" y="1154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4189789" y="13503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4189789" y="15457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4189789" y="17411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4189789" y="19365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4189789" y="2132008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4189789" y="23274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4189789" y="2522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4189789" y="27182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4189789" y="2913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4189789" y="31090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4189789" y="33045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4189789" y="3499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4189789" y="36953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4189789" y="3890757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4189789" y="40861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4189789" y="42815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4189789" y="44770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4189789" y="46724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4189789" y="4867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4189789" y="5063257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4189789" y="5258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4189789" y="5454090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4189789" y="56495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4189789" y="5844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4189789" y="6040340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5350054" y="177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5350054" y="3732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5350054" y="568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5350054" y="7640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5350054" y="959508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5350054" y="1154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5350054" y="13503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5350054" y="15457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5350054" y="17411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5350054" y="19365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5350054" y="2132008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5350054" y="23274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5350054" y="2522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5350054" y="27182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5350054" y="2913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5350054" y="31090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5350054" y="33045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5350054" y="3499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5350054" y="36953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5350054" y="3890757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5350054" y="40861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5350054" y="42815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5350054" y="44770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5350054" y="46724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5350054" y="4867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5350054" y="5063257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5350054" y="5258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5350054" y="5454090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5350054" y="56495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5350054" y="5844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5350054" y="6040340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6341154" y="177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6341154" y="3732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6341154" y="568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6341154" y="7640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6341154" y="959508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6341154" y="1154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6341154" y="13503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6341154" y="15457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6341154" y="17411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6341154" y="19365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6341154" y="2132008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6341154" y="23274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6341154" y="2522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6341154" y="27182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6341154" y="2913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6341154" y="31090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6341154" y="33045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6341154" y="3499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6341154" y="36953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6341154" y="3890757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6341154" y="40861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6341154" y="42815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6341154" y="44770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rc156"/>
            <p:cNvSpPr/>
            <p:nvPr/>
          </p:nvSpPr>
          <p:spPr>
            <a:xfrm>
              <a:off x="6341154" y="46724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6341154" y="4867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6341154" y="5063257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6341154" y="5258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6341154" y="5454090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6341154" y="56495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6341154" y="5844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6341154" y="6040340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tx164"/>
            <p:cNvSpPr/>
            <p:nvPr/>
          </p:nvSpPr>
          <p:spPr>
            <a:xfrm>
              <a:off x="1028350" y="-73015"/>
              <a:ext cx="59938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 dirty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Subgroup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28350" y="231841"/>
              <a:ext cx="6216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All patients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846306" y="-164455"/>
              <a:ext cx="1270193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Combination therapy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846306" y="18424"/>
              <a:ext cx="101626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Number/total (%)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028350" y="427258"/>
              <a:ext cx="60743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Age, years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247803" y="-164455"/>
              <a:ext cx="79735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247803" y="18424"/>
              <a:ext cx="101626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Number/total (%)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028350" y="622674"/>
              <a:ext cx="321411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&lt;60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399608" y="-73015"/>
              <a:ext cx="3529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028350" y="818091"/>
              <a:ext cx="316931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≥60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434476" y="-73015"/>
              <a:ext cx="172245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Absolute difference (90% CI)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028350" y="1013508"/>
              <a:ext cx="21890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Sex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28350" y="1208924"/>
              <a:ext cx="52952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Female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8350" y="1404341"/>
              <a:ext cx="38130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Male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28350" y="1599757"/>
              <a:ext cx="61401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BMI, kg/m²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28350" y="1795174"/>
              <a:ext cx="321411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&lt;25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28350" y="1990591"/>
              <a:ext cx="316931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≥25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028350" y="2186007"/>
              <a:ext cx="5015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Diabetes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028350" y="238142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028350" y="2576841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028350" y="2772257"/>
              <a:ext cx="74880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Hypertension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028350" y="296767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028350" y="3163091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28350" y="3358507"/>
              <a:ext cx="131399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Chronic kidney disease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028350" y="355392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028350" y="3749341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028350" y="3944757"/>
              <a:ext cx="169520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Previous myocardial infarction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028350" y="414017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028350" y="4335590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028350" y="4531007"/>
              <a:ext cx="147611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Previous ischaemic stroke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028350" y="472642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028350" y="4921840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028350" y="5117257"/>
              <a:ext cx="141283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Peripheral artery disease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028350" y="5312674"/>
              <a:ext cx="26828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28350" y="5508090"/>
              <a:ext cx="31089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028350" y="5703507"/>
              <a:ext cx="131362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Baseline LDL-C, mg/dL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028350" y="5898924"/>
              <a:ext cx="39209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&lt;100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028350" y="6094340"/>
              <a:ext cx="38761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≥100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846306" y="231841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172/1894 (9.1)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2846306" y="62267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47/637 (7.4)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846306" y="818091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125/1257 (9.9)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846306" y="120892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38/474 (8.0)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2846306" y="1404341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134/1420 (9.4)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2846306" y="1795174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94/1015 (9.3)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846306" y="1990591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78/879 (8.9)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2846306" y="2381424"/>
              <a:ext cx="81729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103/1193 (8.6)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2846306" y="2576841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69/701 (9.8)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2846306" y="296767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46/648 (7.1)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2846306" y="3163091"/>
              <a:ext cx="89739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126/1246 (10.1)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2846306" y="355392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146/1701 (8.6)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2846306" y="3749341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 dirty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26/193 (13.5)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2846306" y="4140174"/>
              <a:ext cx="74660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93/1150 (8.1)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846306" y="4335590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79/744 (10.6)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846306" y="472642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160/1793 (8.9)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846306" y="4921840"/>
              <a:ext cx="74660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12/101 (11.9)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2846306" y="531267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166/1828 (9.1)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2846306" y="5508090"/>
              <a:ext cx="543976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6/66 (9.1)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2846306" y="589892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121/1406 (8.6)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6306" y="6094340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51/488 (10.5)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47803" y="231841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186/1886 (9.9)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247803" y="622674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61/593 (10.3)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247803" y="818091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125/1293 (9.7)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247803" y="120892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40/480 (8.3)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4247803" y="1404341"/>
              <a:ext cx="89739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146/1406 (10.4)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247803" y="179517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93/995 (9.3)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247803" y="1990591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93/891 (10.4)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4247803" y="2381424"/>
              <a:ext cx="81729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109/1189 (9.2)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247803" y="2576841"/>
              <a:ext cx="74660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77/697 (11.0)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47803" y="2967674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59/612 (9.6)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247803" y="3163091"/>
              <a:ext cx="89739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127/1274 (10.0)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247803" y="355392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162/1687 (9.6)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247803" y="3749341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24/199 (12.1)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247803" y="4140174"/>
              <a:ext cx="79845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111/1141 (9.7)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247803" y="4335590"/>
              <a:ext cx="75602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75/745 (10.1)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4247803" y="472642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170/1774 (9.6)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4247803" y="4921840"/>
              <a:ext cx="74660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16/112 (14.3)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4247803" y="5312674"/>
              <a:ext cx="826709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175/1817 (9.6)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4247803" y="5508090"/>
              <a:ext cx="67592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11/69 (15.9)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4247803" y="5898924"/>
              <a:ext cx="887973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142/1411 (10.1)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4247803" y="6094340"/>
              <a:ext cx="68534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44/475 (9.3)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5399608" y="23184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399608" y="427258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399608" y="62267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399608" y="81809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5399608" y="1013508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5399608" y="120892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5399608" y="140434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5399608" y="159975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5399608" y="179517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5399608" y="199059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 dirty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5399608" y="218600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5399608" y="238142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5399608" y="257684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5399608" y="277225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5399608" y="296767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5399608" y="316309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399608" y="335850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5399608" y="355392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399608" y="3749341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399608" y="394475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5399608" y="414017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399608" y="4335590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399608" y="453100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399608" y="472642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5399608" y="4921840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5399608" y="511725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5399608" y="531267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5399608" y="5508090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5399608" y="5703507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5399608" y="5898924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5399608" y="6094340"/>
              <a:ext cx="84710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434476" y="231841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-0.78 (-2.35 to 0.79)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6434476" y="622674"/>
              <a:ext cx="116558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-2.91 (-5.58 to -0.24)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6434476" y="818091"/>
              <a:ext cx="108091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0.28 (-1.66 to 2.21)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6434476" y="120892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-0.32 (-3.23 to 2.60)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6434476" y="1404341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-0.95 (-2.80 to 0.90)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6434476" y="179517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-0.09 (-2.22 to 2.05)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6434476" y="1990591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-1.56 (-3.87 to 0.74)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434476" y="238142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-0.53 (-2.45 to 1.39)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6434476" y="2576841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-1.20 (-3.89 to 1.49)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6434476" y="2967674"/>
              <a:ext cx="111383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-2.54 (-5.11 to 0.03)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6434476" y="3163091"/>
              <a:ext cx="1071493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0.14 (-1.83 to 2.11)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6434476" y="355392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-1.02 (-2.64 to 0.61)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6434476" y="3749341"/>
              <a:ext cx="108091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1.41 (-4.13 to 6.96)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6434476" y="414017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-1.64 (-3.60 to 0.32)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6434476" y="4335590"/>
              <a:ext cx="108091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0.55 (-2.04 to 3.15)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6434476" y="472642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-0.66 (-2.26 to 0.94)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6434476" y="4921840"/>
              <a:ext cx="119393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-2.40 (-10.00 to 5.19)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6434476" y="531267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-0.55 (-2.14 to 1.04)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434476" y="5508090"/>
              <a:ext cx="119393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-6.85 (-16.15 to 2.45)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6434476" y="5898924"/>
              <a:ext cx="1123248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-1.46 (-3.26 to 0.34)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6434476" y="6094340"/>
              <a:ext cx="1080912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1.19 (-1.97 to 4.35)</a:t>
              </a:r>
            </a:p>
          </p:txBody>
        </p:sp>
        <p:sp>
          <p:nvSpPr>
            <p:cNvPr id="296" name="pl296"/>
            <p:cNvSpPr/>
            <p:nvPr/>
          </p:nvSpPr>
          <p:spPr>
            <a:xfrm>
              <a:off x="5845604" y="197383"/>
              <a:ext cx="0" cy="6018832"/>
            </a:xfrm>
            <a:custGeom>
              <a:avLst/>
              <a:gdLst/>
              <a:ahLst/>
              <a:cxnLst/>
              <a:rect l="0" t="0" r="0" b="0"/>
              <a:pathLst>
                <a:path h="6018832">
                  <a:moveTo>
                    <a:pt x="0" y="6018832"/>
                  </a:moveTo>
                  <a:lnTo>
                    <a:pt x="0" y="0"/>
                  </a:lnTo>
                </a:path>
              </a:pathLst>
            </a:custGeom>
            <a:ln w="8572" cap="rnd">
              <a:solidFill>
                <a:srgbClr val="22222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5944714" y="197383"/>
              <a:ext cx="0" cy="6018832"/>
            </a:xfrm>
            <a:custGeom>
              <a:avLst/>
              <a:gdLst/>
              <a:ahLst/>
              <a:cxnLst/>
              <a:rect l="0" t="0" r="0" b="0"/>
              <a:pathLst>
                <a:path h="6018832">
                  <a:moveTo>
                    <a:pt x="0" y="6018832"/>
                  </a:moveTo>
                  <a:lnTo>
                    <a:pt x="0" y="0"/>
                  </a:lnTo>
                </a:path>
              </a:pathLst>
            </a:custGeom>
            <a:ln w="8572" cap="rnd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5729269" y="275549"/>
              <a:ext cx="155279" cy="0"/>
            </a:xfrm>
            <a:custGeom>
              <a:avLst/>
              <a:gdLst/>
              <a:ahLst/>
              <a:cxnLst/>
              <a:rect l="0" t="0" r="0" b="0"/>
              <a:pathLst>
                <a:path w="155279">
                  <a:moveTo>
                    <a:pt x="0" y="0"/>
                  </a:moveTo>
                  <a:lnTo>
                    <a:pt x="15527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5729269" y="275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5884549" y="275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g301"/>
            <p:cNvSpPr/>
            <p:nvPr/>
          </p:nvSpPr>
          <p:spPr>
            <a:xfrm>
              <a:off x="5786907" y="255547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5569316" y="666383"/>
              <a:ext cx="264329" cy="0"/>
            </a:xfrm>
            <a:custGeom>
              <a:avLst/>
              <a:gdLst/>
              <a:ahLst/>
              <a:cxnLst/>
              <a:rect l="0" t="0" r="0" b="0"/>
              <a:pathLst>
                <a:path w="264329">
                  <a:moveTo>
                    <a:pt x="0" y="0"/>
                  </a:moveTo>
                  <a:lnTo>
                    <a:pt x="26432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5569316" y="66638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5833646" y="66638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g305"/>
            <p:cNvSpPr/>
            <p:nvPr/>
          </p:nvSpPr>
          <p:spPr>
            <a:xfrm>
              <a:off x="5681478" y="646380"/>
              <a:ext cx="40004" cy="40005"/>
            </a:xfrm>
            <a:custGeom>
              <a:avLst/>
              <a:gdLst/>
              <a:ahLst/>
              <a:cxnLst/>
              <a:rect l="0" t="0" r="0" b="0"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5763299" y="861799"/>
              <a:ext cx="192049" cy="0"/>
            </a:xfrm>
            <a:custGeom>
              <a:avLst/>
              <a:gdLst/>
              <a:ahLst/>
              <a:cxnLst/>
              <a:rect l="0" t="0" r="0" b="0"/>
              <a:pathLst>
                <a:path w="192049">
                  <a:moveTo>
                    <a:pt x="0" y="0"/>
                  </a:moveTo>
                  <a:lnTo>
                    <a:pt x="19204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5763299" y="8617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5955349" y="8617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g309"/>
            <p:cNvSpPr/>
            <p:nvPr/>
          </p:nvSpPr>
          <p:spPr>
            <a:xfrm>
              <a:off x="5839321" y="841797"/>
              <a:ext cx="40004" cy="40005"/>
            </a:xfrm>
            <a:custGeom>
              <a:avLst/>
              <a:gdLst/>
              <a:ahLst/>
              <a:cxnLst/>
              <a:rect l="0" t="0" r="0" b="0"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5685319" y="1252633"/>
              <a:ext cx="289204" cy="0"/>
            </a:xfrm>
            <a:custGeom>
              <a:avLst/>
              <a:gdLst/>
              <a:ahLst/>
              <a:cxnLst/>
              <a:rect l="0" t="0" r="0" b="0"/>
              <a:pathLst>
                <a:path w="289204">
                  <a:moveTo>
                    <a:pt x="0" y="0"/>
                  </a:moveTo>
                  <a:lnTo>
                    <a:pt x="289204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5685319" y="125263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5974524" y="125263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g313"/>
            <p:cNvSpPr/>
            <p:nvPr/>
          </p:nvSpPr>
          <p:spPr>
            <a:xfrm>
              <a:off x="5809919" y="1232630"/>
              <a:ext cx="40004" cy="40005"/>
            </a:xfrm>
            <a:custGeom>
              <a:avLst/>
              <a:gdLst/>
              <a:ahLst/>
              <a:cxnLst/>
              <a:rect l="0" t="0" r="0" b="0"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5707023" y="1448049"/>
              <a:ext cx="183259" cy="0"/>
            </a:xfrm>
            <a:custGeom>
              <a:avLst/>
              <a:gdLst/>
              <a:ahLst/>
              <a:cxnLst/>
              <a:rect l="0" t="0" r="0" b="0"/>
              <a:pathLst>
                <a:path w="183259">
                  <a:moveTo>
                    <a:pt x="0" y="0"/>
                  </a:moveTo>
                  <a:lnTo>
                    <a:pt x="18325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5707023" y="1448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5890283" y="1448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g317"/>
            <p:cNvSpPr/>
            <p:nvPr/>
          </p:nvSpPr>
          <p:spPr>
            <a:xfrm>
              <a:off x="5778650" y="1428047"/>
              <a:ext cx="40004" cy="40005"/>
            </a:xfrm>
            <a:custGeom>
              <a:avLst/>
              <a:gdLst/>
              <a:ahLst/>
              <a:cxnLst/>
              <a:rect l="0" t="0" r="0" b="0"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5735725" y="1838882"/>
              <a:ext cx="211268" cy="0"/>
            </a:xfrm>
            <a:custGeom>
              <a:avLst/>
              <a:gdLst/>
              <a:ahLst/>
              <a:cxnLst/>
              <a:rect l="0" t="0" r="0" b="0"/>
              <a:pathLst>
                <a:path w="211268">
                  <a:moveTo>
                    <a:pt x="0" y="0"/>
                  </a:moveTo>
                  <a:lnTo>
                    <a:pt x="211268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5735725" y="18388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5946993" y="18388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g321"/>
            <p:cNvSpPr/>
            <p:nvPr/>
          </p:nvSpPr>
          <p:spPr>
            <a:xfrm>
              <a:off x="5821357" y="181888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5653720" y="2034299"/>
              <a:ext cx="228760" cy="0"/>
            </a:xfrm>
            <a:custGeom>
              <a:avLst/>
              <a:gdLst/>
              <a:ahLst/>
              <a:cxnLst/>
              <a:rect l="0" t="0" r="0" b="0"/>
              <a:pathLst>
                <a:path w="228760">
                  <a:moveTo>
                    <a:pt x="0" y="0"/>
                  </a:moveTo>
                  <a:lnTo>
                    <a:pt x="22876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5653720" y="20342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5882480" y="20342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g325"/>
            <p:cNvSpPr/>
            <p:nvPr/>
          </p:nvSpPr>
          <p:spPr>
            <a:xfrm>
              <a:off x="5748097" y="2014297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5724046" y="2425132"/>
              <a:ext cx="190222" cy="0"/>
            </a:xfrm>
            <a:custGeom>
              <a:avLst/>
              <a:gdLst/>
              <a:ahLst/>
              <a:cxnLst/>
              <a:rect l="0" t="0" r="0" b="0"/>
              <a:pathLst>
                <a:path w="190222">
                  <a:moveTo>
                    <a:pt x="0" y="0"/>
                  </a:moveTo>
                  <a:lnTo>
                    <a:pt x="190222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5724046" y="24251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328"/>
            <p:cNvSpPr/>
            <p:nvPr/>
          </p:nvSpPr>
          <p:spPr>
            <a:xfrm>
              <a:off x="5914269" y="24251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g329"/>
            <p:cNvSpPr/>
            <p:nvPr/>
          </p:nvSpPr>
          <p:spPr>
            <a:xfrm>
              <a:off x="5799155" y="240513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0" name="pl330"/>
            <p:cNvSpPr/>
            <p:nvPr/>
          </p:nvSpPr>
          <p:spPr>
            <a:xfrm>
              <a:off x="5652591" y="2620549"/>
              <a:ext cx="266669" cy="0"/>
            </a:xfrm>
            <a:custGeom>
              <a:avLst/>
              <a:gdLst/>
              <a:ahLst/>
              <a:cxnLst/>
              <a:rect l="0" t="0" r="0" b="0"/>
              <a:pathLst>
                <a:path w="266669">
                  <a:moveTo>
                    <a:pt x="0" y="0"/>
                  </a:moveTo>
                  <a:lnTo>
                    <a:pt x="26666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l331"/>
            <p:cNvSpPr/>
            <p:nvPr/>
          </p:nvSpPr>
          <p:spPr>
            <a:xfrm>
              <a:off x="5652591" y="2620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l332"/>
            <p:cNvSpPr/>
            <p:nvPr/>
          </p:nvSpPr>
          <p:spPr>
            <a:xfrm>
              <a:off x="5919261" y="2620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g333"/>
            <p:cNvSpPr/>
            <p:nvPr/>
          </p:nvSpPr>
          <p:spPr>
            <a:xfrm>
              <a:off x="5765924" y="2600547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4" name="pl334"/>
            <p:cNvSpPr/>
            <p:nvPr/>
          </p:nvSpPr>
          <p:spPr>
            <a:xfrm>
              <a:off x="5592294" y="3011382"/>
              <a:ext cx="254705" cy="0"/>
            </a:xfrm>
            <a:custGeom>
              <a:avLst/>
              <a:gdLst/>
              <a:ahLst/>
              <a:cxnLst/>
              <a:rect l="0" t="0" r="0" b="0"/>
              <a:pathLst>
                <a:path w="254705">
                  <a:moveTo>
                    <a:pt x="0" y="0"/>
                  </a:moveTo>
                  <a:lnTo>
                    <a:pt x="25470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l335"/>
            <p:cNvSpPr/>
            <p:nvPr/>
          </p:nvSpPr>
          <p:spPr>
            <a:xfrm>
              <a:off x="5592294" y="30113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l336"/>
            <p:cNvSpPr/>
            <p:nvPr/>
          </p:nvSpPr>
          <p:spPr>
            <a:xfrm>
              <a:off x="5846999" y="30113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g337"/>
            <p:cNvSpPr/>
            <p:nvPr/>
          </p:nvSpPr>
          <p:spPr>
            <a:xfrm>
              <a:off x="5699644" y="299138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8" name="pl338"/>
            <p:cNvSpPr/>
            <p:nvPr/>
          </p:nvSpPr>
          <p:spPr>
            <a:xfrm>
              <a:off x="5755119" y="3206799"/>
              <a:ext cx="195216" cy="0"/>
            </a:xfrm>
            <a:custGeom>
              <a:avLst/>
              <a:gdLst/>
              <a:ahLst/>
              <a:cxnLst/>
              <a:rect l="0" t="0" r="0" b="0"/>
              <a:pathLst>
                <a:path w="195216">
                  <a:moveTo>
                    <a:pt x="0" y="0"/>
                  </a:moveTo>
                  <a:lnTo>
                    <a:pt x="195216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l339"/>
            <p:cNvSpPr/>
            <p:nvPr/>
          </p:nvSpPr>
          <p:spPr>
            <a:xfrm>
              <a:off x="5755119" y="32067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l340"/>
            <p:cNvSpPr/>
            <p:nvPr/>
          </p:nvSpPr>
          <p:spPr>
            <a:xfrm>
              <a:off x="5950336" y="32067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g341"/>
            <p:cNvSpPr/>
            <p:nvPr/>
          </p:nvSpPr>
          <p:spPr>
            <a:xfrm>
              <a:off x="5832725" y="318679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5714554" y="3597632"/>
              <a:ext cx="161040" cy="0"/>
            </a:xfrm>
            <a:custGeom>
              <a:avLst/>
              <a:gdLst/>
              <a:ahLst/>
              <a:cxnLst/>
              <a:rect l="0" t="0" r="0" b="0"/>
              <a:pathLst>
                <a:path w="161040">
                  <a:moveTo>
                    <a:pt x="0" y="0"/>
                  </a:moveTo>
                  <a:lnTo>
                    <a:pt x="16104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5714554" y="3597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5875595" y="3597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g345"/>
            <p:cNvSpPr/>
            <p:nvPr/>
          </p:nvSpPr>
          <p:spPr>
            <a:xfrm>
              <a:off x="5775072" y="357763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5640695" y="3793049"/>
              <a:ext cx="549681" cy="0"/>
            </a:xfrm>
            <a:custGeom>
              <a:avLst/>
              <a:gdLst/>
              <a:ahLst/>
              <a:cxnLst/>
              <a:rect l="0" t="0" r="0" b="0"/>
              <a:pathLst>
                <a:path w="549681">
                  <a:moveTo>
                    <a:pt x="0" y="0"/>
                  </a:moveTo>
                  <a:lnTo>
                    <a:pt x="549681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l347"/>
            <p:cNvSpPr/>
            <p:nvPr/>
          </p:nvSpPr>
          <p:spPr>
            <a:xfrm>
              <a:off x="5640695" y="3793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l348"/>
            <p:cNvSpPr/>
            <p:nvPr/>
          </p:nvSpPr>
          <p:spPr>
            <a:xfrm>
              <a:off x="6190376" y="3793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g349"/>
            <p:cNvSpPr/>
            <p:nvPr/>
          </p:nvSpPr>
          <p:spPr>
            <a:xfrm>
              <a:off x="5895533" y="377304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0" name="pl350"/>
            <p:cNvSpPr/>
            <p:nvPr/>
          </p:nvSpPr>
          <p:spPr>
            <a:xfrm>
              <a:off x="5667272" y="4183882"/>
              <a:ext cx="193989" cy="0"/>
            </a:xfrm>
            <a:custGeom>
              <a:avLst/>
              <a:gdLst/>
              <a:ahLst/>
              <a:cxnLst/>
              <a:rect l="0" t="0" r="0" b="0"/>
              <a:pathLst>
                <a:path w="193989">
                  <a:moveTo>
                    <a:pt x="0" y="0"/>
                  </a:moveTo>
                  <a:lnTo>
                    <a:pt x="19398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l351"/>
            <p:cNvSpPr/>
            <p:nvPr/>
          </p:nvSpPr>
          <p:spPr>
            <a:xfrm>
              <a:off x="5667272" y="41838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l352"/>
            <p:cNvSpPr/>
            <p:nvPr/>
          </p:nvSpPr>
          <p:spPr>
            <a:xfrm>
              <a:off x="5861261" y="41838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g353"/>
            <p:cNvSpPr/>
            <p:nvPr/>
          </p:nvSpPr>
          <p:spPr>
            <a:xfrm>
              <a:off x="5744264" y="416388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4" name="pl354"/>
            <p:cNvSpPr/>
            <p:nvPr/>
          </p:nvSpPr>
          <p:spPr>
            <a:xfrm>
              <a:off x="5744272" y="4379299"/>
              <a:ext cx="257290" cy="0"/>
            </a:xfrm>
            <a:custGeom>
              <a:avLst/>
              <a:gdLst/>
              <a:ahLst/>
              <a:cxnLst/>
              <a:rect l="0" t="0" r="0" b="0"/>
              <a:pathLst>
                <a:path w="257290">
                  <a:moveTo>
                    <a:pt x="0" y="0"/>
                  </a:moveTo>
                  <a:lnTo>
                    <a:pt x="25729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5744272" y="43792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6001562" y="43792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g357"/>
            <p:cNvSpPr/>
            <p:nvPr/>
          </p:nvSpPr>
          <p:spPr>
            <a:xfrm>
              <a:off x="5852914" y="435929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5733834" y="4770132"/>
              <a:ext cx="158197" cy="0"/>
            </a:xfrm>
            <a:custGeom>
              <a:avLst/>
              <a:gdLst/>
              <a:ahLst/>
              <a:cxnLst/>
              <a:rect l="0" t="0" r="0" b="0"/>
              <a:pathLst>
                <a:path w="158197">
                  <a:moveTo>
                    <a:pt x="0" y="0"/>
                  </a:moveTo>
                  <a:lnTo>
                    <a:pt x="158197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5733834" y="47701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5892032" y="47701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g361"/>
            <p:cNvSpPr/>
            <p:nvPr/>
          </p:nvSpPr>
          <p:spPr>
            <a:xfrm>
              <a:off x="5792931" y="4750130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5350270" y="4965549"/>
              <a:ext cx="752355" cy="0"/>
            </a:xfrm>
            <a:custGeom>
              <a:avLst/>
              <a:gdLst/>
              <a:ahLst/>
              <a:cxnLst/>
              <a:rect l="0" t="0" r="0" b="0"/>
              <a:pathLst>
                <a:path w="752355">
                  <a:moveTo>
                    <a:pt x="0" y="0"/>
                  </a:moveTo>
                  <a:lnTo>
                    <a:pt x="75235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l363"/>
            <p:cNvSpPr/>
            <p:nvPr/>
          </p:nvSpPr>
          <p:spPr>
            <a:xfrm>
              <a:off x="5350270" y="4965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l364"/>
            <p:cNvSpPr/>
            <p:nvPr/>
          </p:nvSpPr>
          <p:spPr>
            <a:xfrm>
              <a:off x="6102625" y="49655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g365"/>
            <p:cNvSpPr/>
            <p:nvPr/>
          </p:nvSpPr>
          <p:spPr>
            <a:xfrm>
              <a:off x="5706445" y="494554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5739699" y="5356382"/>
              <a:ext cx="157268" cy="0"/>
            </a:xfrm>
            <a:custGeom>
              <a:avLst/>
              <a:gdLst/>
              <a:ahLst/>
              <a:cxnLst/>
              <a:rect l="0" t="0" r="0" b="0"/>
              <a:pathLst>
                <a:path w="157268">
                  <a:moveTo>
                    <a:pt x="0" y="0"/>
                  </a:moveTo>
                  <a:lnTo>
                    <a:pt x="157268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5739699" y="53563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5896968" y="53563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g369"/>
            <p:cNvSpPr/>
            <p:nvPr/>
          </p:nvSpPr>
          <p:spPr>
            <a:xfrm>
              <a:off x="5798331" y="5336379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5350053" y="5551799"/>
              <a:ext cx="616726" cy="0"/>
            </a:xfrm>
            <a:custGeom>
              <a:avLst/>
              <a:gdLst/>
              <a:ahLst/>
              <a:cxnLst/>
              <a:rect l="0" t="0" r="0" b="0"/>
              <a:pathLst>
                <a:path w="616726">
                  <a:moveTo>
                    <a:pt x="0" y="0"/>
                  </a:moveTo>
                  <a:lnTo>
                    <a:pt x="616726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5350053" y="5528939"/>
              <a:ext cx="39594" cy="45720"/>
            </a:xfrm>
            <a:custGeom>
              <a:avLst/>
              <a:gdLst/>
              <a:ahLst/>
              <a:cxnLst/>
              <a:rect l="0" t="0" r="0" b="0"/>
              <a:pathLst>
                <a:path w="39594" h="45720">
                  <a:moveTo>
                    <a:pt x="39594" y="0"/>
                  </a:moveTo>
                  <a:lnTo>
                    <a:pt x="0" y="22860"/>
                  </a:lnTo>
                  <a:lnTo>
                    <a:pt x="39594" y="4572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5966780" y="55517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g373"/>
            <p:cNvSpPr/>
            <p:nvPr/>
          </p:nvSpPr>
          <p:spPr>
            <a:xfrm>
              <a:off x="5486094" y="553179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5684039" y="5942632"/>
              <a:ext cx="178645" cy="0"/>
            </a:xfrm>
            <a:custGeom>
              <a:avLst/>
              <a:gdLst/>
              <a:ahLst/>
              <a:cxnLst/>
              <a:rect l="0" t="0" r="0" b="0"/>
              <a:pathLst>
                <a:path w="178645">
                  <a:moveTo>
                    <a:pt x="0" y="0"/>
                  </a:moveTo>
                  <a:lnTo>
                    <a:pt x="17864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5684039" y="5942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5862685" y="5942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g377"/>
            <p:cNvSpPr/>
            <p:nvPr/>
          </p:nvSpPr>
          <p:spPr>
            <a:xfrm>
              <a:off x="5753359" y="5922629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5747940" y="6138049"/>
              <a:ext cx="313037" cy="0"/>
            </a:xfrm>
            <a:custGeom>
              <a:avLst/>
              <a:gdLst/>
              <a:ahLst/>
              <a:cxnLst/>
              <a:rect l="0" t="0" r="0" b="0"/>
              <a:pathLst>
                <a:path w="313037">
                  <a:moveTo>
                    <a:pt x="0" y="0"/>
                  </a:moveTo>
                  <a:lnTo>
                    <a:pt x="313037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l379"/>
            <p:cNvSpPr/>
            <p:nvPr/>
          </p:nvSpPr>
          <p:spPr>
            <a:xfrm>
              <a:off x="5747940" y="6138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l380"/>
            <p:cNvSpPr/>
            <p:nvPr/>
          </p:nvSpPr>
          <p:spPr>
            <a:xfrm>
              <a:off x="6060977" y="61380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g381"/>
            <p:cNvSpPr/>
            <p:nvPr/>
          </p:nvSpPr>
          <p:spPr>
            <a:xfrm>
              <a:off x="5884456" y="6118046"/>
              <a:ext cx="40004" cy="40004"/>
            </a:xfrm>
            <a:custGeom>
              <a:avLst/>
              <a:gdLst/>
              <a:ahLst/>
              <a:cxnLst/>
              <a:rect l="0" t="0" r="0" b="0"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2" name="tx382"/>
            <p:cNvSpPr/>
            <p:nvPr/>
          </p:nvSpPr>
          <p:spPr>
            <a:xfrm>
              <a:off x="814492" y="6274916"/>
              <a:ext cx="4407316" cy="418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480" b="0" i="0" dirty="0">
                  <a:solidFill>
                    <a:srgbClr val="333333">
                      <a:alpha val="100000"/>
                    </a:srgbClr>
                  </a:solidFill>
                  <a:latin typeface="Liberation Sans"/>
                  <a:cs typeface="Liberation Sans"/>
                </a:rPr>
                <a:t>The vertical dashed line indicates the prespecified absolute-difference 2.0%p non-inferiority margin. Synthetic example data; not original RACING patient-level data.</a:t>
              </a:r>
            </a:p>
          </p:txBody>
        </p:sp>
        <p:sp>
          <p:nvSpPr>
            <p:cNvPr id="383" name="pl383"/>
            <p:cNvSpPr/>
            <p:nvPr/>
          </p:nvSpPr>
          <p:spPr>
            <a:xfrm>
              <a:off x="5350053" y="6238726"/>
              <a:ext cx="991100" cy="0"/>
            </a:xfrm>
            <a:custGeom>
              <a:avLst/>
              <a:gdLst/>
              <a:ahLst/>
              <a:cxnLst/>
              <a:rect l="0" t="0" r="0" b="0"/>
              <a:pathLst>
                <a:path w="991100">
                  <a:moveTo>
                    <a:pt x="0" y="0"/>
                  </a:moveTo>
                  <a:lnTo>
                    <a:pt x="991100" y="0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l384"/>
            <p:cNvSpPr/>
            <p:nvPr/>
          </p:nvSpPr>
          <p:spPr>
            <a:xfrm>
              <a:off x="5350053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l385"/>
            <p:cNvSpPr/>
            <p:nvPr/>
          </p:nvSpPr>
          <p:spPr>
            <a:xfrm>
              <a:off x="5597829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l386"/>
            <p:cNvSpPr/>
            <p:nvPr/>
          </p:nvSpPr>
          <p:spPr>
            <a:xfrm>
              <a:off x="5845604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l387"/>
            <p:cNvSpPr/>
            <p:nvPr/>
          </p:nvSpPr>
          <p:spPr>
            <a:xfrm>
              <a:off x="5944714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l388"/>
            <p:cNvSpPr/>
            <p:nvPr/>
          </p:nvSpPr>
          <p:spPr>
            <a:xfrm>
              <a:off x="6093379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l389"/>
            <p:cNvSpPr/>
            <p:nvPr/>
          </p:nvSpPr>
          <p:spPr>
            <a:xfrm>
              <a:off x="6341154" y="6238726"/>
              <a:ext cx="0" cy="68579"/>
            </a:xfrm>
            <a:custGeom>
              <a:avLst/>
              <a:gdLst/>
              <a:ahLst/>
              <a:cxnLst/>
              <a:rect l="0" t="0" r="0" b="0"/>
              <a:pathLst>
                <a:path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tx390"/>
            <p:cNvSpPr/>
            <p:nvPr/>
          </p:nvSpPr>
          <p:spPr>
            <a:xfrm>
              <a:off x="5267483" y="6336567"/>
              <a:ext cx="165140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-10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5547034" y="6336567"/>
              <a:ext cx="101589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-5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5813828" y="6336567"/>
              <a:ext cx="63550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5912938" y="6336567"/>
              <a:ext cx="63550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6061603" y="6336567"/>
              <a:ext cx="63550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6277603" y="6336567"/>
              <a:ext cx="127101" cy="786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4220549" y="6427962"/>
              <a:ext cx="1638787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 dirty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Favours</a:t>
              </a:r>
              <a:r>
                <a:rPr sz="1000" b="0" i="0" dirty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 </a:t>
              </a:r>
              <a:r>
                <a:rPr sz="800" b="0" i="0" dirty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combination therapy</a:t>
              </a:r>
            </a:p>
          </p:txBody>
        </p:sp>
        <p:sp>
          <p:nvSpPr>
            <p:cNvPr id="397" name="pl397"/>
            <p:cNvSpPr/>
            <p:nvPr/>
          </p:nvSpPr>
          <p:spPr>
            <a:xfrm>
              <a:off x="4161096" y="6537463"/>
              <a:ext cx="1638787" cy="0"/>
            </a:xfrm>
            <a:custGeom>
              <a:avLst/>
              <a:gdLst/>
              <a:ahLst/>
              <a:cxnLst/>
              <a:rect l="0" t="0" r="0" b="0"/>
              <a:pathLst>
                <a:path w="1638787">
                  <a:moveTo>
                    <a:pt x="0" y="0"/>
                  </a:moveTo>
                  <a:lnTo>
                    <a:pt x="1638787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4161096" y="6514603"/>
              <a:ext cx="39594" cy="45719"/>
            </a:xfrm>
            <a:custGeom>
              <a:avLst/>
              <a:gdLst/>
              <a:ahLst/>
              <a:cxnLst/>
              <a:rect l="0" t="0" r="0" b="0"/>
              <a:pathLst>
                <a:path w="39594" h="45719">
                  <a:moveTo>
                    <a:pt x="39594" y="0"/>
                  </a:moveTo>
                  <a:lnTo>
                    <a:pt x="0" y="22859"/>
                  </a:lnTo>
                  <a:lnTo>
                    <a:pt x="39594" y="45719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tx399"/>
            <p:cNvSpPr/>
            <p:nvPr/>
          </p:nvSpPr>
          <p:spPr>
            <a:xfrm>
              <a:off x="5849532" y="6427962"/>
              <a:ext cx="1236085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 dirty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Favours monotherapy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5891324" y="6537463"/>
              <a:ext cx="1236085" cy="0"/>
            </a:xfrm>
            <a:custGeom>
              <a:avLst/>
              <a:gdLst/>
              <a:ahLst/>
              <a:cxnLst/>
              <a:rect l="0" t="0" r="0" b="0"/>
              <a:pathLst>
                <a:path w="1236085">
                  <a:moveTo>
                    <a:pt x="1236085" y="0"/>
                  </a:moveTo>
                  <a:lnTo>
                    <a:pt x="0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7087815" y="6514603"/>
              <a:ext cx="39594" cy="45719"/>
            </a:xfrm>
            <a:custGeom>
              <a:avLst/>
              <a:gdLst/>
              <a:ahLst/>
              <a:cxnLst/>
              <a:rect l="0" t="0" r="0" b="0"/>
              <a:pathLst>
                <a:path w="39594" h="45719">
                  <a:moveTo>
                    <a:pt x="0" y="45719"/>
                  </a:moveTo>
                  <a:lnTo>
                    <a:pt x="39594" y="22859"/>
                  </a:lnTo>
                  <a:lnTo>
                    <a:pt x="0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tx402"/>
            <p:cNvSpPr/>
            <p:nvPr/>
          </p:nvSpPr>
          <p:spPr>
            <a:xfrm>
              <a:off x="1053895" y="6657532"/>
              <a:ext cx="6925665" cy="1136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00" b="1" i="0" dirty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Figure 3: Subgroup analysis for the primary endpoint of the intention-to-treat population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687</Words>
  <Application>Microsoft Office PowerPoint</Application>
  <PresentationFormat>화면 슬라이드 쇼(4:3)</PresentationFormat>
  <Paragraphs>192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Liberation Sans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이채언</dc:creator>
  <cp:keywords/>
  <dc:description/>
  <cp:lastModifiedBy>채언 이</cp:lastModifiedBy>
  <cp:revision>4</cp:revision>
  <dcterms:created xsi:type="dcterms:W3CDTF">2017-02-13T16:18:36Z</dcterms:created>
  <dcterms:modified xsi:type="dcterms:W3CDTF">2026-07-13T07:39:16Z</dcterms:modified>
  <cp:category/>
</cp:coreProperties>
</file>