
<file path=[Content_Types].xml><?xml version="1.0" encoding="utf-8"?>
<Types xmlns="http://schemas.openxmlformats.org/package/2006/content-types">
  <Default Extension="xml" ContentType="application/xml"/>
  <Default Extension="jpeg" ContentType="image/jpeg"/>
  <Default Extension="bin" ContentType="application/vnd.openxmlformats-officedocument.presentationml.printerSettings"/>
  <Default Extension="rels" ContentType="application/vnd.openxmlformats-package.relationships+xml"/>
  <Default Extension="gif" ContentType="image/gif"/>
  <Default Extension="png" ContentType="image/png"/>
  <Default Extension="svg" ContentType="image/svg+xml"/>
  <Default Extension="bmp" ContentType="image/bmp"/>
  <Default Extension="emf" ContentType="image/x-emf"/>
  <Default Extension="wmf" ContentType="image/x-wmf"/>
  <Default Extension="tiff" ContentType="image/tiff"/>
  <Default Extension="pdf" ContentType="application/pdf"/>
  <Default Extension="jpg" ContentType="application/octet-stream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tags/tag1.xml" ContentType="application/vnd.openxmlformats-officedocument.presentationml.tags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</Types>
</file>

<file path=_rels/.rels><?xml version="1.0" encoding="UTF-8" standalone="yes"?>

<Relationships  xmlns="http://schemas.openxmlformats.org/package/2006/relationships">
<Relationship Id="rId3" Type="http://schemas.openxmlformats.org/package/2006/relationships/metadata/core-properties" Target="docProps/core.xml"/>
<Relationship Id="rId4" Type="http://schemas.openxmlformats.org/officeDocument/2006/relationships/extended-properties" Target="docProps/app.xml"/>
<Relationship Id="rId1" Type="http://schemas.openxmlformats.org/officeDocument/2006/relationships/officeDocument" Target="ppt/presentation.xml"/>
<Relationship Id="rId2" Type="http://schemas.openxmlformats.org/package/2006/relationships/metadata/thumbnail" Target="docProps/thumbnail.jpeg"/>
</Relationships>
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sldIdLst>
    <p:sldId id="256" r:id="rId8"/>
    <p:sldId id="257" r:id="rId9"/>
    <p:sldId id="258" r:id="rId10"/>
  </p:sldIdLst>
  <p:sldSz cx="9144000" cy="6858000" type="screen4x3"/>
  <p:notesSz cx="6858000" cy="9144000"/>
  <p:custDataLst>
    <p:tags r:id="rId3"/>
  </p:custDataLst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620"/>
    <p:restoredTop sz="94660"/>
  </p:normalViewPr>
  <p:slideViewPr>
    <p:cSldViewPr>
      <p:cViewPr varScale="1">
        <p:scale>
          <a:sx n="92" d="100"/>
          <a:sy n="92" d="100"/>
        </p:scale>
        <p:origin x="-1376" y="-104"/>
      </p:cViewPr>
      <p:guideLst>
        <p:guide orient="horz" pos="2160"/>
        <p:guide pos="2880"/>
      </p:guideLst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

<Relationships  xmlns="http://schemas.openxmlformats.org/package/2006/relationships">
<Relationship Id="rId3" Type="http://schemas.openxmlformats.org/officeDocument/2006/relationships/tags" Target="tags/tag1.xml"/>
<Relationship Id="rId4" Type="http://schemas.openxmlformats.org/officeDocument/2006/relationships/presProps" Target="presProps.xml"/>
<Relationship Id="rId5" Type="http://schemas.openxmlformats.org/officeDocument/2006/relationships/viewProps" Target="viewProps.xml"/>
<Relationship Id="rId6" Type="http://schemas.openxmlformats.org/officeDocument/2006/relationships/theme" Target="theme/theme1.xml"/>
<Relationship Id="rId7" Type="http://schemas.openxmlformats.org/officeDocument/2006/relationships/tableStyles" Target="tableStyles.xml"/>
<Relationship Id="rId1" Type="http://schemas.openxmlformats.org/officeDocument/2006/relationships/slideMaster" Target="slideMasters/slideMaster1.xml"/>
<Relationship Id="rId2" Type="http://schemas.openxmlformats.org/officeDocument/2006/relationships/printerSettings" Target="printerSettings/printerSettings1.bin"/>
<Relationship Id="rId8" Type="http://schemas.openxmlformats.org/officeDocument/2006/relationships/slide" Target="slides/slide1.xml"/>
<Relationship Id="rId9" Type="http://schemas.openxmlformats.org/officeDocument/2006/relationships/slide" Target="slides/slide2.xml"/>
<Relationship Id="rId10" Type="http://schemas.openxmlformats.org/officeDocument/2006/relationships/slide" Target="slides/slide3.xml"/>
</Relationships>
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GB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GB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6744CE3-0875-4B69-89C0-6F72D8139561}" type="datetimeFigureOut">
              <a:rPr lang="en-GB" smtClean="0"/>
              <a:t>26/05/17</a:t>
            </a:fld>
            <a:endParaRPr lang="en-GB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DADB20D-508E-4C6D-A9E4-257D5607B0F6}" type="slidenum">
              <a:rPr lang="en-GB" smtClean="0"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4214881138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GB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GB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6744CE3-0875-4B69-89C0-6F72D8139561}" type="datetimeFigureOut">
              <a:rPr lang="en-GB" smtClean="0"/>
              <a:t>26/05/17</a:t>
            </a:fld>
            <a:endParaRPr lang="en-GB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DADB20D-508E-4C6D-A9E4-257D5607B0F6}" type="slidenum">
              <a:rPr lang="en-GB" smtClean="0"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271576982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GB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6744CE3-0875-4B69-89C0-6F72D8139561}" type="datetimeFigureOut">
              <a:rPr lang="en-GB" smtClean="0"/>
              <a:t>26/05/17</a:t>
            </a:fld>
            <a:endParaRPr lang="en-GB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DADB20D-508E-4C6D-A9E4-257D5607B0F6}" type="slidenum">
              <a:rPr lang="en-GB" smtClean="0"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143154558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GB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GB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GB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6744CE3-0875-4B69-89C0-6F72D8139561}" type="datetimeFigureOut">
              <a:rPr lang="en-GB" smtClean="0"/>
              <a:t>26/05/17</a:t>
            </a:fld>
            <a:endParaRPr lang="en-GB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DADB20D-508E-4C6D-A9E4-257D5607B0F6}" type="slidenum">
              <a:rPr lang="en-GB" smtClean="0"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468392282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GB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GB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GB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6744CE3-0875-4B69-89C0-6F72D8139561}" type="datetimeFigureOut">
              <a:rPr lang="en-GB" smtClean="0"/>
              <a:t>26/05/17</a:t>
            </a:fld>
            <a:endParaRPr lang="en-GB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DADB20D-508E-4C6D-A9E4-257D5607B0F6}" type="slidenum">
              <a:rPr lang="en-GB" smtClean="0"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2120349123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GB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6744CE3-0875-4B69-89C0-6F72D8139561}" type="datetimeFigureOut">
              <a:rPr lang="en-GB" smtClean="0"/>
              <a:t>26/05/17</a:t>
            </a:fld>
            <a:endParaRPr lang="en-GB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DADB20D-508E-4C6D-A9E4-257D5607B0F6}" type="slidenum">
              <a:rPr lang="en-GB" smtClean="0"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1385807973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6744CE3-0875-4B69-89C0-6F72D8139561}" type="datetimeFigureOut">
              <a:rPr lang="en-GB" smtClean="0"/>
              <a:t>26/05/17</a:t>
            </a:fld>
            <a:endParaRPr lang="en-GB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DADB20D-508E-4C6D-A9E4-257D5607B0F6}" type="slidenum">
              <a:rPr lang="en-GB" smtClean="0"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2755996059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theme" Target="../theme/theme1.xml"/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GB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GB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E6744CE3-0875-4B69-89C0-6F72D8139561}" type="datetimeFigureOut">
              <a:rPr lang="en-GB" smtClean="0"/>
              <a:t>26/05/17</a:t>
            </a:fld>
            <a:endParaRPr lang="en-GB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GB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8DADB20D-508E-4C6D-A9E4-257D5607B0F6}" type="slidenum">
              <a:rPr lang="en-GB" smtClean="0"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307823620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</p:sldLayoutIdLst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anose="020B0604020202020204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anose="020B0604020202020204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anose="020B0604020202020204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anose="020B0604020202020204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

<Relationships  xmlns="http://schemas.openxmlformats.org/package/2006/relationships">
<Relationship Id="rId1" Type="http://schemas.openxmlformats.org/officeDocument/2006/relationships/slideLayout" Target="../slideLayouts/slideLayout7.xml"/>
</Relationships>

</file>

<file path=ppt/slides/_rels/slide2.xml.rels><?xml version="1.0" encoding="UTF-8" standalone="yes"?>

<Relationships  xmlns="http://schemas.openxmlformats.org/package/2006/relationships">
<Relationship Id="rId1" Type="http://schemas.openxmlformats.org/officeDocument/2006/relationships/slideLayout" Target="../slideLayouts/slideLayout7.xml"/>
</Relationships>

</file>

<file path=ppt/slides/_rels/slide3.xml.rels><?xml version="1.0" encoding="UTF-8" standalone="yes"?>

<Relationships  xmlns="http://schemas.openxmlformats.org/package/2006/relationships">
<Relationship Id="rId1" Type="http://schemas.openxmlformats.org/officeDocument/2006/relationships/slideLayout" Target="../slideLayouts/slideLayout7.xml"/>
</Relationships>
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 xmlns:pic="http://schemas.openxmlformats.org/drawingml/2006/picture">
        <p:nvGrpSpPr>
          <p:cNvPr id="2" name=""/>
          <p:cNvGrpSpPr/>
          <p:nvPr/>
        </p:nvGrpSpPr>
        <p:grpSpPr>
          <a:xfrm rot="0">
            <a:off x="0" y="0"/>
            <a:ext cx="9144000" cy="6858000"/>
            <a:chOff x="0" y="0"/>
            <a:chExt cx="9144000" cy="6858000"/>
          </a:xfrm>
        </p:grpSpPr>
        <p:sp>
          <p:nvSpPr>
            <p:cNvPr id="3" name="rc3"/>
            <p:cNvSpPr/>
            <p:nvPr/>
          </p:nvSpPr>
          <p:spPr>
            <a:xfrm>
              <a:off x="0" y="0"/>
              <a:ext cx="9144000" cy="6858000"/>
            </a:xfrm>
            <a:prstGeom prst="rect">
              <a:avLst/>
            </a:prstGeom>
            <a:solidFill>
              <a:srgbClr val="FFFFFF">
                <a:alpha val="100000"/>
              </a:srgbClr>
            </a:solidFill>
            <a:ln w="9525" cap="rnd">
              <a:solidFill>
                <a:srgbClr val="FFFFFF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4" name="rc4"/>
            <p:cNvSpPr/>
            <p:nvPr/>
          </p:nvSpPr>
          <p:spPr>
            <a:xfrm>
              <a:off x="0" y="0"/>
              <a:ext cx="9144000" cy="6858000"/>
            </a:xfrm>
            <a:prstGeom prst="rect">
              <a:avLst/>
            </a:prstGeom>
            <a:noFill/>
          </p:spPr>
          <p:txBody>
            <a:bodyPr/>
            <a:lstStyle/>
            <a:p/>
          </p:txBody>
        </p:sp>
        <p:sp>
          <p:nvSpPr>
            <p:cNvPr id="5" name="rc5"/>
            <p:cNvSpPr/>
            <p:nvPr/>
          </p:nvSpPr>
          <p:spPr>
            <a:xfrm>
              <a:off x="2848133" y="367442"/>
              <a:ext cx="3447732" cy="488074"/>
            </a:xfrm>
            <a:prstGeom prst="rect">
              <a:avLst/>
            </a:prstGeom>
            <a:solidFill>
              <a:srgbClr val="FFFFFF">
                <a:alpha val="100000"/>
              </a:srgbClr>
            </a:solidFill>
            <a:ln w="17615" cap="flat">
              <a:solidFill>
                <a:srgbClr val="000000">
                  <a:alpha val="100000"/>
                </a:srgbClr>
              </a:solidFill>
              <a:prstDash val="solid"/>
              <a:miter/>
            </a:ln>
          </p:spPr>
          <p:txBody>
            <a:bodyPr/>
            <a:lstStyle/>
            <a:p/>
          </p:txBody>
        </p:sp>
        <p:sp>
          <p:nvSpPr>
            <p:cNvPr id="6" name="rc6"/>
            <p:cNvSpPr/>
            <p:nvPr/>
          </p:nvSpPr>
          <p:spPr>
            <a:xfrm>
              <a:off x="417040" y="1343591"/>
              <a:ext cx="3005715" cy="1020519"/>
            </a:xfrm>
            <a:prstGeom prst="rect">
              <a:avLst/>
            </a:prstGeom>
            <a:solidFill>
              <a:srgbClr val="FFFFFF">
                <a:alpha val="100000"/>
              </a:srgbClr>
            </a:solidFill>
            <a:ln w="17615" cap="flat">
              <a:solidFill>
                <a:srgbClr val="000000">
                  <a:alpha val="100000"/>
                </a:srgbClr>
              </a:solidFill>
              <a:prstDash val="solid"/>
              <a:miter/>
            </a:ln>
          </p:spPr>
          <p:txBody>
            <a:bodyPr/>
            <a:lstStyle/>
            <a:p/>
          </p:txBody>
        </p:sp>
        <p:sp>
          <p:nvSpPr>
            <p:cNvPr id="7" name="rc7"/>
            <p:cNvSpPr/>
            <p:nvPr/>
          </p:nvSpPr>
          <p:spPr>
            <a:xfrm>
              <a:off x="5942252" y="1343591"/>
              <a:ext cx="2784706" cy="1020519"/>
            </a:xfrm>
            <a:prstGeom prst="rect">
              <a:avLst/>
            </a:prstGeom>
            <a:solidFill>
              <a:srgbClr val="FFFFFF">
                <a:alpha val="100000"/>
              </a:srgbClr>
            </a:solidFill>
            <a:ln w="17615" cap="flat">
              <a:solidFill>
                <a:srgbClr val="000000">
                  <a:alpha val="100000"/>
                </a:srgbClr>
              </a:solidFill>
              <a:prstDash val="solid"/>
              <a:miter/>
            </a:ln>
          </p:spPr>
          <p:txBody>
            <a:bodyPr/>
            <a:lstStyle/>
            <a:p/>
          </p:txBody>
        </p:sp>
        <p:sp>
          <p:nvSpPr>
            <p:cNvPr id="8" name="rc8"/>
            <p:cNvSpPr/>
            <p:nvPr/>
          </p:nvSpPr>
          <p:spPr>
            <a:xfrm>
              <a:off x="2052503" y="3074036"/>
              <a:ext cx="2386891" cy="754296"/>
            </a:xfrm>
            <a:prstGeom prst="rect">
              <a:avLst/>
            </a:prstGeom>
            <a:solidFill>
              <a:srgbClr val="FFFFFF">
                <a:alpha val="100000"/>
              </a:srgbClr>
            </a:solidFill>
            <a:ln w="17615" cap="flat">
              <a:solidFill>
                <a:srgbClr val="000000">
                  <a:alpha val="100000"/>
                </a:srgbClr>
              </a:solidFill>
              <a:prstDash val="solid"/>
              <a:miter/>
            </a:ln>
          </p:spPr>
          <p:txBody>
            <a:bodyPr/>
            <a:lstStyle/>
            <a:p/>
          </p:txBody>
        </p:sp>
        <p:sp>
          <p:nvSpPr>
            <p:cNvPr id="9" name="rc9"/>
            <p:cNvSpPr/>
            <p:nvPr/>
          </p:nvSpPr>
          <p:spPr>
            <a:xfrm>
              <a:off x="4704605" y="3074036"/>
              <a:ext cx="2386891" cy="754296"/>
            </a:xfrm>
            <a:prstGeom prst="rect">
              <a:avLst/>
            </a:prstGeom>
            <a:solidFill>
              <a:srgbClr val="FFFFFF">
                <a:alpha val="100000"/>
              </a:srgbClr>
            </a:solidFill>
            <a:ln w="17615" cap="flat">
              <a:solidFill>
                <a:srgbClr val="000000">
                  <a:alpha val="100000"/>
                </a:srgbClr>
              </a:solidFill>
              <a:prstDash val="solid"/>
              <a:miter/>
            </a:ln>
          </p:spPr>
          <p:txBody>
            <a:bodyPr/>
            <a:lstStyle/>
            <a:p/>
          </p:txBody>
        </p:sp>
        <p:sp>
          <p:nvSpPr>
            <p:cNvPr id="10" name="rc10"/>
            <p:cNvSpPr/>
            <p:nvPr/>
          </p:nvSpPr>
          <p:spPr>
            <a:xfrm>
              <a:off x="417040" y="4582630"/>
              <a:ext cx="3005715" cy="887407"/>
            </a:xfrm>
            <a:prstGeom prst="rect">
              <a:avLst/>
            </a:prstGeom>
            <a:solidFill>
              <a:srgbClr val="FFFFFF">
                <a:alpha val="100000"/>
              </a:srgbClr>
            </a:solidFill>
            <a:ln w="17615" cap="flat">
              <a:solidFill>
                <a:srgbClr val="000000">
                  <a:alpha val="100000"/>
                </a:srgbClr>
              </a:solidFill>
              <a:prstDash val="solid"/>
              <a:miter/>
            </a:ln>
          </p:spPr>
          <p:txBody>
            <a:bodyPr/>
            <a:lstStyle/>
            <a:p/>
          </p:txBody>
        </p:sp>
        <p:sp>
          <p:nvSpPr>
            <p:cNvPr id="11" name="rc11"/>
            <p:cNvSpPr/>
            <p:nvPr/>
          </p:nvSpPr>
          <p:spPr>
            <a:xfrm>
              <a:off x="5942252" y="4582630"/>
              <a:ext cx="2784706" cy="887407"/>
            </a:xfrm>
            <a:prstGeom prst="rect">
              <a:avLst/>
            </a:prstGeom>
            <a:solidFill>
              <a:srgbClr val="FFFFFF">
                <a:alpha val="100000"/>
              </a:srgbClr>
            </a:solidFill>
            <a:ln w="17615" cap="flat">
              <a:solidFill>
                <a:srgbClr val="000000">
                  <a:alpha val="100000"/>
                </a:srgbClr>
              </a:solidFill>
              <a:prstDash val="solid"/>
              <a:miter/>
            </a:ln>
          </p:spPr>
          <p:txBody>
            <a:bodyPr/>
            <a:lstStyle/>
            <a:p/>
          </p:txBody>
        </p:sp>
        <p:sp>
          <p:nvSpPr>
            <p:cNvPr id="12" name="tx12"/>
            <p:cNvSpPr/>
            <p:nvPr/>
          </p:nvSpPr>
          <p:spPr>
            <a:xfrm>
              <a:off x="3179963" y="563656"/>
              <a:ext cx="2784073" cy="95646"/>
            </a:xfrm>
            <a:prstGeom prst="rect">
              <a:avLst/>
            </a:prstGeom>
            <a:noFill/>
          </p:spPr>
          <p:txBody>
            <a:bodyPr lIns="0" rIns="0" tIns="0" bIns="0" anchorCtr="1" anchor="ctr" wrap="none"/>
            <a:lstStyle/>
            <a:p>
              <a:pPr algn="l" marL="0" marR="0" indent="0">
                <a:spcBef>
                  <a:spcPts val="0"/>
                </a:spcBef>
                <a:spcAft>
                  <a:spcPts val="0"/>
                </a:spcAft>
              </a:pPr>
              <a:r>
                <a:rPr sz="1095" i="0" b="0">
                  <a:solidFill>
                    <a:srgbClr val="111111">
                      <a:alpha val="100000"/>
                    </a:srgbClr>
                  </a:solidFill>
                  <a:latin typeface="Liberation Sans"/>
                  <a:cs typeface="Liberation Sans"/>
                </a:rPr>
                <a:t>3780 patients underwent random assignment</a:t>
              </a:r>
            </a:p>
          </p:txBody>
        </p:sp>
        <p:sp>
          <p:nvSpPr>
            <p:cNvPr id="13" name="tx13"/>
            <p:cNvSpPr/>
            <p:nvPr/>
          </p:nvSpPr>
          <p:spPr>
            <a:xfrm>
              <a:off x="715130" y="1731224"/>
              <a:ext cx="2409535" cy="88239"/>
            </a:xfrm>
            <a:prstGeom prst="rect">
              <a:avLst/>
            </a:prstGeom>
            <a:noFill/>
          </p:spPr>
          <p:txBody>
            <a:bodyPr lIns="0" rIns="0" tIns="0" bIns="0" anchorCtr="1" anchor="ctr" wrap="none"/>
            <a:lstStyle/>
            <a:p>
              <a:pPr algn="l" marL="0" marR="0" indent="0">
                <a:spcBef>
                  <a:spcPts val="0"/>
                </a:spcBef>
                <a:spcAft>
                  <a:spcPts val="0"/>
                </a:spcAft>
              </a:pPr>
              <a:r>
                <a:rPr sz="1010" i="0" b="0">
                  <a:solidFill>
                    <a:srgbClr val="111111">
                      <a:alpha val="100000"/>
                    </a:srgbClr>
                  </a:solidFill>
                  <a:latin typeface="Liberation Sans"/>
                  <a:cs typeface="Liberation Sans"/>
                </a:rPr>
                <a:t>1894 assigned to moderate-intensity statin</a:t>
              </a:r>
            </a:p>
          </p:txBody>
        </p:sp>
        <p:sp>
          <p:nvSpPr>
            <p:cNvPr id="14" name="tx14"/>
            <p:cNvSpPr/>
            <p:nvPr/>
          </p:nvSpPr>
          <p:spPr>
            <a:xfrm>
              <a:off x="918493" y="1888238"/>
              <a:ext cx="2002810" cy="88239"/>
            </a:xfrm>
            <a:prstGeom prst="rect">
              <a:avLst/>
            </a:prstGeom>
            <a:noFill/>
          </p:spPr>
          <p:txBody>
            <a:bodyPr lIns="0" rIns="0" tIns="0" bIns="0" anchorCtr="1" anchor="ctr" wrap="none"/>
            <a:lstStyle/>
            <a:p>
              <a:pPr algn="l" marL="0" marR="0" indent="0">
                <a:spcBef>
                  <a:spcPts val="0"/>
                </a:spcBef>
                <a:spcAft>
                  <a:spcPts val="0"/>
                </a:spcAft>
              </a:pPr>
              <a:r>
                <a:rPr sz="1010" i="0" b="0">
                  <a:solidFill>
                    <a:srgbClr val="111111">
                      <a:alpha val="100000"/>
                    </a:srgbClr>
                  </a:solidFill>
                  <a:latin typeface="Liberation Sans"/>
                  <a:cs typeface="Liberation Sans"/>
                </a:rPr>
                <a:t>with ezetimibe combination therapy</a:t>
              </a:r>
            </a:p>
          </p:txBody>
        </p:sp>
        <p:sp>
          <p:nvSpPr>
            <p:cNvPr id="15" name="tx15"/>
            <p:cNvSpPr/>
            <p:nvPr/>
          </p:nvSpPr>
          <p:spPr>
            <a:xfrm>
              <a:off x="6279525" y="1731224"/>
              <a:ext cx="2110160" cy="88239"/>
            </a:xfrm>
            <a:prstGeom prst="rect">
              <a:avLst/>
            </a:prstGeom>
            <a:noFill/>
          </p:spPr>
          <p:txBody>
            <a:bodyPr lIns="0" rIns="0" tIns="0" bIns="0" anchorCtr="1" anchor="ctr" wrap="none"/>
            <a:lstStyle/>
            <a:p>
              <a:pPr algn="l" marL="0" marR="0" indent="0">
                <a:spcBef>
                  <a:spcPts val="0"/>
                </a:spcBef>
                <a:spcAft>
                  <a:spcPts val="0"/>
                </a:spcAft>
              </a:pPr>
              <a:r>
                <a:rPr sz="1010" i="0" b="0">
                  <a:solidFill>
                    <a:srgbClr val="111111">
                      <a:alpha val="100000"/>
                    </a:srgbClr>
                  </a:solidFill>
                  <a:latin typeface="Liberation Sans"/>
                  <a:cs typeface="Liberation Sans"/>
                </a:rPr>
                <a:t>1886 assigned to high-intensity statin</a:t>
              </a:r>
            </a:p>
          </p:txBody>
        </p:sp>
        <p:sp>
          <p:nvSpPr>
            <p:cNvPr id="16" name="tx16"/>
            <p:cNvSpPr/>
            <p:nvPr/>
          </p:nvSpPr>
          <p:spPr>
            <a:xfrm>
              <a:off x="6960341" y="1888238"/>
              <a:ext cx="748527" cy="88239"/>
            </a:xfrm>
            <a:prstGeom prst="rect">
              <a:avLst/>
            </a:prstGeom>
            <a:noFill/>
          </p:spPr>
          <p:txBody>
            <a:bodyPr lIns="0" rIns="0" tIns="0" bIns="0" anchorCtr="1" anchor="ctr" wrap="none"/>
            <a:lstStyle/>
            <a:p>
              <a:pPr algn="l" marL="0" marR="0" indent="0">
                <a:spcBef>
                  <a:spcPts val="0"/>
                </a:spcBef>
                <a:spcAft>
                  <a:spcPts val="0"/>
                </a:spcAft>
              </a:pPr>
              <a:r>
                <a:rPr sz="1010" i="0" b="0">
                  <a:solidFill>
                    <a:srgbClr val="111111">
                      <a:alpha val="100000"/>
                    </a:srgbClr>
                  </a:solidFill>
                  <a:latin typeface="Liberation Sans"/>
                  <a:cs typeface="Liberation Sans"/>
                </a:rPr>
                <a:t>monotherapy</a:t>
              </a:r>
            </a:p>
          </p:txBody>
        </p:sp>
        <p:sp>
          <p:nvSpPr>
            <p:cNvPr id="17" name="tx17"/>
            <p:cNvSpPr/>
            <p:nvPr/>
          </p:nvSpPr>
          <p:spPr>
            <a:xfrm>
              <a:off x="2452067" y="3284041"/>
              <a:ext cx="1587764" cy="73334"/>
            </a:xfrm>
            <a:prstGeom prst="rect">
              <a:avLst/>
            </a:prstGeom>
            <a:noFill/>
          </p:spPr>
          <p:txBody>
            <a:bodyPr lIns="0" rIns="0" tIns="0" bIns="0" anchorCtr="1" anchor="ctr" wrap="none"/>
            <a:lstStyle/>
            <a:p>
              <a:pPr algn="l" marL="0" marR="0" indent="0">
                <a:spcBef>
                  <a:spcPts val="0"/>
                </a:spcBef>
                <a:spcAft>
                  <a:spcPts val="0"/>
                </a:spcAft>
              </a:pPr>
              <a:r>
                <a:rPr sz="839" i="0" b="0">
                  <a:solidFill>
                    <a:srgbClr val="111111">
                      <a:alpha val="100000"/>
                    </a:srgbClr>
                  </a:solidFill>
                  <a:latin typeface="Liberation Sans"/>
                  <a:cs typeface="Liberation Sans"/>
                </a:rPr>
                <a:t>88 discontinued allocated therapy</a:t>
              </a:r>
            </a:p>
          </p:txBody>
        </p:sp>
        <p:sp>
          <p:nvSpPr>
            <p:cNvPr id="18" name="tx18"/>
            <p:cNvSpPr/>
            <p:nvPr/>
          </p:nvSpPr>
          <p:spPr>
            <a:xfrm>
              <a:off x="2333698" y="3414517"/>
              <a:ext cx="1824502" cy="73334"/>
            </a:xfrm>
            <a:prstGeom prst="rect">
              <a:avLst/>
            </a:prstGeom>
            <a:noFill/>
          </p:spPr>
          <p:txBody>
            <a:bodyPr lIns="0" rIns="0" tIns="0" bIns="0" anchorCtr="1" anchor="ctr" wrap="none"/>
            <a:lstStyle/>
            <a:p>
              <a:pPr algn="l" marL="0" marR="0" indent="0">
                <a:spcBef>
                  <a:spcPts val="0"/>
                </a:spcBef>
                <a:spcAft>
                  <a:spcPts val="0"/>
                </a:spcAft>
              </a:pPr>
              <a:r>
                <a:rPr sz="839" i="0" b="0">
                  <a:solidFill>
                    <a:srgbClr val="111111">
                      <a:alpha val="100000"/>
                    </a:srgbClr>
                  </a:solidFill>
                  <a:latin typeface="Liberation Sans"/>
                  <a:cs typeface="Liberation Sans"/>
                </a:rPr>
                <a:t>owing to adverse events or intolerance</a:t>
              </a:r>
            </a:p>
          </p:txBody>
        </p:sp>
        <p:sp>
          <p:nvSpPr>
            <p:cNvPr id="19" name="tx19"/>
            <p:cNvSpPr/>
            <p:nvPr/>
          </p:nvSpPr>
          <p:spPr>
            <a:xfrm>
              <a:off x="2881652" y="3544994"/>
              <a:ext cx="728593" cy="73334"/>
            </a:xfrm>
            <a:prstGeom prst="rect">
              <a:avLst/>
            </a:prstGeom>
            <a:noFill/>
          </p:spPr>
          <p:txBody>
            <a:bodyPr lIns="0" rIns="0" tIns="0" bIns="0" anchorCtr="1" anchor="ctr" wrap="none"/>
            <a:lstStyle/>
            <a:p>
              <a:pPr algn="l" marL="0" marR="0" indent="0">
                <a:spcBef>
                  <a:spcPts val="0"/>
                </a:spcBef>
                <a:spcAft>
                  <a:spcPts val="0"/>
                </a:spcAft>
              </a:pPr>
              <a:r>
                <a:rPr sz="839" i="0" b="0">
                  <a:solidFill>
                    <a:srgbClr val="111111">
                      <a:alpha val="100000"/>
                    </a:srgbClr>
                  </a:solidFill>
                  <a:latin typeface="Liberation Sans"/>
                  <a:cs typeface="Liberation Sans"/>
                </a:rPr>
                <a:t>4.8% (88/1846)</a:t>
              </a:r>
            </a:p>
          </p:txBody>
        </p:sp>
        <p:sp>
          <p:nvSpPr>
            <p:cNvPr id="20" name="tx20"/>
            <p:cNvSpPr/>
            <p:nvPr/>
          </p:nvSpPr>
          <p:spPr>
            <a:xfrm>
              <a:off x="5074542" y="3284041"/>
              <a:ext cx="1647017" cy="73334"/>
            </a:xfrm>
            <a:prstGeom prst="rect">
              <a:avLst/>
            </a:prstGeom>
            <a:noFill/>
          </p:spPr>
          <p:txBody>
            <a:bodyPr lIns="0" rIns="0" tIns="0" bIns="0" anchorCtr="1" anchor="ctr" wrap="none"/>
            <a:lstStyle/>
            <a:p>
              <a:pPr algn="l" marL="0" marR="0" indent="0">
                <a:spcBef>
                  <a:spcPts val="0"/>
                </a:spcBef>
                <a:spcAft>
                  <a:spcPts val="0"/>
                </a:spcAft>
              </a:pPr>
              <a:r>
                <a:rPr sz="839" i="0" b="0">
                  <a:solidFill>
                    <a:srgbClr val="111111">
                      <a:alpha val="100000"/>
                    </a:srgbClr>
                  </a:solidFill>
                  <a:latin typeface="Liberation Sans"/>
                  <a:cs typeface="Liberation Sans"/>
                </a:rPr>
                <a:t>150 discontinued allocated therapy</a:t>
              </a:r>
            </a:p>
          </p:txBody>
        </p:sp>
        <p:sp>
          <p:nvSpPr>
            <p:cNvPr id="21" name="tx21"/>
            <p:cNvSpPr/>
            <p:nvPr/>
          </p:nvSpPr>
          <p:spPr>
            <a:xfrm>
              <a:off x="4985799" y="3414517"/>
              <a:ext cx="1824502" cy="73334"/>
            </a:xfrm>
            <a:prstGeom prst="rect">
              <a:avLst/>
            </a:prstGeom>
            <a:noFill/>
          </p:spPr>
          <p:txBody>
            <a:bodyPr lIns="0" rIns="0" tIns="0" bIns="0" anchorCtr="1" anchor="ctr" wrap="none"/>
            <a:lstStyle/>
            <a:p>
              <a:pPr algn="l" marL="0" marR="0" indent="0">
                <a:spcBef>
                  <a:spcPts val="0"/>
                </a:spcBef>
                <a:spcAft>
                  <a:spcPts val="0"/>
                </a:spcAft>
              </a:pPr>
              <a:r>
                <a:rPr sz="839" i="0" b="0">
                  <a:solidFill>
                    <a:srgbClr val="111111">
                      <a:alpha val="100000"/>
                    </a:srgbClr>
                  </a:solidFill>
                  <a:latin typeface="Liberation Sans"/>
                  <a:cs typeface="Liberation Sans"/>
                </a:rPr>
                <a:t>owing to adverse events or intolerance</a:t>
              </a:r>
            </a:p>
          </p:txBody>
        </p:sp>
        <p:sp>
          <p:nvSpPr>
            <p:cNvPr id="22" name="tx22"/>
            <p:cNvSpPr/>
            <p:nvPr/>
          </p:nvSpPr>
          <p:spPr>
            <a:xfrm>
              <a:off x="5504127" y="3544994"/>
              <a:ext cx="787847" cy="73334"/>
            </a:xfrm>
            <a:prstGeom prst="rect">
              <a:avLst/>
            </a:prstGeom>
            <a:noFill/>
          </p:spPr>
          <p:txBody>
            <a:bodyPr lIns="0" rIns="0" tIns="0" bIns="0" anchorCtr="1" anchor="ctr" wrap="none"/>
            <a:lstStyle/>
            <a:p>
              <a:pPr algn="l" marL="0" marR="0" indent="0">
                <a:spcBef>
                  <a:spcPts val="0"/>
                </a:spcBef>
                <a:spcAft>
                  <a:spcPts val="0"/>
                </a:spcAft>
              </a:pPr>
              <a:r>
                <a:rPr sz="839" i="0" b="0">
                  <a:solidFill>
                    <a:srgbClr val="111111">
                      <a:alpha val="100000"/>
                    </a:srgbClr>
                  </a:solidFill>
                  <a:latin typeface="Liberation Sans"/>
                  <a:cs typeface="Liberation Sans"/>
                </a:rPr>
                <a:t>8.2% (150/1832)</a:t>
              </a:r>
            </a:p>
          </p:txBody>
        </p:sp>
        <p:sp>
          <p:nvSpPr>
            <p:cNvPr id="23" name="tx23"/>
            <p:cNvSpPr/>
            <p:nvPr/>
          </p:nvSpPr>
          <p:spPr>
            <a:xfrm>
              <a:off x="752209" y="4907153"/>
              <a:ext cx="2335377" cy="85770"/>
            </a:xfrm>
            <a:prstGeom prst="rect">
              <a:avLst/>
            </a:prstGeom>
            <a:noFill/>
          </p:spPr>
          <p:txBody>
            <a:bodyPr lIns="0" rIns="0" tIns="0" bIns="0" anchorCtr="1" anchor="ctr" wrap="none"/>
            <a:lstStyle/>
            <a:p>
              <a:pPr algn="l" marL="0" marR="0" indent="0">
                <a:spcBef>
                  <a:spcPts val="0"/>
                </a:spcBef>
                <a:spcAft>
                  <a:spcPts val="0"/>
                </a:spcAft>
              </a:pPr>
              <a:r>
                <a:rPr sz="981" i="0" b="0">
                  <a:solidFill>
                    <a:srgbClr val="111111">
                      <a:alpha val="100000"/>
                    </a:srgbClr>
                  </a:solidFill>
                  <a:latin typeface="Liberation Sans"/>
                  <a:cs typeface="Liberation Sans"/>
                </a:rPr>
                <a:t>1894 included in intention-to-treat analysis</a:t>
              </a:r>
            </a:p>
          </p:txBody>
        </p:sp>
        <p:sp>
          <p:nvSpPr>
            <p:cNvPr id="24" name="tx24"/>
            <p:cNvSpPr/>
            <p:nvPr/>
          </p:nvSpPr>
          <p:spPr>
            <a:xfrm>
              <a:off x="1133422" y="5059744"/>
              <a:ext cx="1572950" cy="85770"/>
            </a:xfrm>
            <a:prstGeom prst="rect">
              <a:avLst/>
            </a:prstGeom>
            <a:noFill/>
          </p:spPr>
          <p:txBody>
            <a:bodyPr lIns="0" rIns="0" tIns="0" bIns="0" anchorCtr="1" anchor="ctr" wrap="none"/>
            <a:lstStyle/>
            <a:p>
              <a:pPr algn="l" marL="0" marR="0" indent="0">
                <a:spcBef>
                  <a:spcPts val="0"/>
                </a:spcBef>
                <a:spcAft>
                  <a:spcPts val="0"/>
                </a:spcAft>
              </a:pPr>
              <a:r>
                <a:rPr sz="981" i="0" b="0">
                  <a:solidFill>
                    <a:srgbClr val="111111">
                      <a:alpha val="100000"/>
                    </a:srgbClr>
                  </a:solidFill>
                  <a:latin typeface="Liberation Sans"/>
                  <a:cs typeface="Liberation Sans"/>
                </a:rPr>
                <a:t>172 primary endpoint events</a:t>
              </a:r>
            </a:p>
          </p:txBody>
        </p:sp>
        <p:sp>
          <p:nvSpPr>
            <p:cNvPr id="25" name="tx25"/>
            <p:cNvSpPr/>
            <p:nvPr/>
          </p:nvSpPr>
          <p:spPr>
            <a:xfrm>
              <a:off x="6166917" y="4907153"/>
              <a:ext cx="2335377" cy="85770"/>
            </a:xfrm>
            <a:prstGeom prst="rect">
              <a:avLst/>
            </a:prstGeom>
            <a:noFill/>
          </p:spPr>
          <p:txBody>
            <a:bodyPr lIns="0" rIns="0" tIns="0" bIns="0" anchorCtr="1" anchor="ctr" wrap="none"/>
            <a:lstStyle/>
            <a:p>
              <a:pPr algn="l" marL="0" marR="0" indent="0">
                <a:spcBef>
                  <a:spcPts val="0"/>
                </a:spcBef>
                <a:spcAft>
                  <a:spcPts val="0"/>
                </a:spcAft>
              </a:pPr>
              <a:r>
                <a:rPr sz="981" i="0" b="0">
                  <a:solidFill>
                    <a:srgbClr val="111111">
                      <a:alpha val="100000"/>
                    </a:srgbClr>
                  </a:solidFill>
                  <a:latin typeface="Liberation Sans"/>
                  <a:cs typeface="Liberation Sans"/>
                </a:rPr>
                <a:t>1886 included in intention-to-treat analysis</a:t>
              </a:r>
            </a:p>
          </p:txBody>
        </p:sp>
        <p:sp>
          <p:nvSpPr>
            <p:cNvPr id="26" name="tx26"/>
            <p:cNvSpPr/>
            <p:nvPr/>
          </p:nvSpPr>
          <p:spPr>
            <a:xfrm>
              <a:off x="6548130" y="5059744"/>
              <a:ext cx="1572950" cy="85770"/>
            </a:xfrm>
            <a:prstGeom prst="rect">
              <a:avLst/>
            </a:prstGeom>
            <a:noFill/>
          </p:spPr>
          <p:txBody>
            <a:bodyPr lIns="0" rIns="0" tIns="0" bIns="0" anchorCtr="1" anchor="ctr" wrap="none"/>
            <a:lstStyle/>
            <a:p>
              <a:pPr algn="l" marL="0" marR="0" indent="0">
                <a:spcBef>
                  <a:spcPts val="0"/>
                </a:spcBef>
                <a:spcAft>
                  <a:spcPts val="0"/>
                </a:spcAft>
              </a:pPr>
              <a:r>
                <a:rPr sz="981" i="0" b="0">
                  <a:solidFill>
                    <a:srgbClr val="111111">
                      <a:alpha val="100000"/>
                    </a:srgbClr>
                  </a:solidFill>
                  <a:latin typeface="Liberation Sans"/>
                  <a:cs typeface="Liberation Sans"/>
                </a:rPr>
                <a:t>186 primary endpoint events</a:t>
              </a:r>
            </a:p>
          </p:txBody>
        </p:sp>
        <p:sp>
          <p:nvSpPr>
            <p:cNvPr id="27" name="pl27"/>
            <p:cNvSpPr/>
            <p:nvPr/>
          </p:nvSpPr>
          <p:spPr>
            <a:xfrm>
              <a:off x="4571999" y="855517"/>
              <a:ext cx="0" cy="239600"/>
            </a:xfrm>
            <a:custGeom>
              <a:avLst/>
              <a:pathLst>
                <a:path w="0" h="239600">
                  <a:moveTo>
                    <a:pt x="0" y="0"/>
                  </a:moveTo>
                  <a:lnTo>
                    <a:pt x="0" y="239600"/>
                  </a:lnTo>
                </a:path>
              </a:pathLst>
            </a:custGeom>
            <a:ln w="14905" cap="flat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8" name="pl28"/>
            <p:cNvSpPr/>
            <p:nvPr/>
          </p:nvSpPr>
          <p:spPr>
            <a:xfrm>
              <a:off x="1919898" y="1095117"/>
              <a:ext cx="5410287" cy="0"/>
            </a:xfrm>
            <a:custGeom>
              <a:avLst/>
              <a:pathLst>
                <a:path w="5410287" h="0">
                  <a:moveTo>
                    <a:pt x="0" y="0"/>
                  </a:moveTo>
                  <a:lnTo>
                    <a:pt x="5410287" y="0"/>
                  </a:lnTo>
                </a:path>
              </a:pathLst>
            </a:custGeom>
            <a:ln w="14905" cap="flat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9" name="pl29"/>
            <p:cNvSpPr/>
            <p:nvPr/>
          </p:nvSpPr>
          <p:spPr>
            <a:xfrm>
              <a:off x="1919898" y="1095117"/>
              <a:ext cx="0" cy="248474"/>
            </a:xfrm>
            <a:custGeom>
              <a:avLst/>
              <a:pathLst>
                <a:path w="0" h="248474">
                  <a:moveTo>
                    <a:pt x="0" y="0"/>
                  </a:moveTo>
                  <a:lnTo>
                    <a:pt x="0" y="248474"/>
                  </a:lnTo>
                </a:path>
              </a:pathLst>
            </a:custGeom>
            <a:ln w="14905" cap="flat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30" name="pg30"/>
            <p:cNvSpPr/>
            <p:nvPr/>
          </p:nvSpPr>
          <p:spPr>
            <a:xfrm>
              <a:off x="1869606" y="1256483"/>
              <a:ext cx="100584" cy="87108"/>
            </a:xfrm>
            <a:custGeom>
              <a:avLst/>
              <a:pathLst>
                <a:path w="100584" h="87108">
                  <a:moveTo>
                    <a:pt x="0" y="0"/>
                  </a:moveTo>
                  <a:lnTo>
                    <a:pt x="50292" y="87108"/>
                  </a:lnTo>
                  <a:lnTo>
                    <a:pt x="100584" y="0"/>
                  </a:lnTo>
                  <a:close/>
                </a:path>
              </a:pathLst>
            </a:custGeom>
            <a:solidFill>
              <a:srgbClr val="000000">
                <a:alpha val="100000"/>
              </a:srgbClr>
            </a:solidFill>
            <a:ln w="14905" cap="flat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31" name="pl31"/>
            <p:cNvSpPr/>
            <p:nvPr/>
          </p:nvSpPr>
          <p:spPr>
            <a:xfrm>
              <a:off x="7330185" y="1095117"/>
              <a:ext cx="0" cy="248474"/>
            </a:xfrm>
            <a:custGeom>
              <a:avLst/>
              <a:pathLst>
                <a:path w="0" h="248474">
                  <a:moveTo>
                    <a:pt x="0" y="0"/>
                  </a:moveTo>
                  <a:lnTo>
                    <a:pt x="0" y="248474"/>
                  </a:lnTo>
                </a:path>
              </a:pathLst>
            </a:custGeom>
            <a:ln w="14905" cap="flat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32" name="pg32"/>
            <p:cNvSpPr/>
            <p:nvPr/>
          </p:nvSpPr>
          <p:spPr>
            <a:xfrm>
              <a:off x="7279893" y="1256483"/>
              <a:ext cx="100583" cy="87108"/>
            </a:xfrm>
            <a:custGeom>
              <a:avLst/>
              <a:pathLst>
                <a:path w="100583" h="87108">
                  <a:moveTo>
                    <a:pt x="0" y="0"/>
                  </a:moveTo>
                  <a:lnTo>
                    <a:pt x="50291" y="87108"/>
                  </a:lnTo>
                  <a:lnTo>
                    <a:pt x="100583" y="0"/>
                  </a:lnTo>
                  <a:close/>
                </a:path>
              </a:pathLst>
            </a:custGeom>
            <a:solidFill>
              <a:srgbClr val="000000">
                <a:alpha val="100000"/>
              </a:srgbClr>
            </a:solidFill>
            <a:ln w="14905" cap="flat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33" name="pl33"/>
            <p:cNvSpPr/>
            <p:nvPr/>
          </p:nvSpPr>
          <p:spPr>
            <a:xfrm>
              <a:off x="1919898" y="2364110"/>
              <a:ext cx="0" cy="2218519"/>
            </a:xfrm>
            <a:custGeom>
              <a:avLst/>
              <a:pathLst>
                <a:path w="0" h="2218519">
                  <a:moveTo>
                    <a:pt x="0" y="0"/>
                  </a:moveTo>
                  <a:lnTo>
                    <a:pt x="0" y="2218519"/>
                  </a:lnTo>
                </a:path>
              </a:pathLst>
            </a:custGeom>
            <a:ln w="14905" cap="flat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34" name="pg34"/>
            <p:cNvSpPr/>
            <p:nvPr/>
          </p:nvSpPr>
          <p:spPr>
            <a:xfrm>
              <a:off x="1869606" y="4495521"/>
              <a:ext cx="100584" cy="87108"/>
            </a:xfrm>
            <a:custGeom>
              <a:avLst/>
              <a:pathLst>
                <a:path w="100584" h="87108">
                  <a:moveTo>
                    <a:pt x="0" y="0"/>
                  </a:moveTo>
                  <a:lnTo>
                    <a:pt x="50292" y="87108"/>
                  </a:lnTo>
                  <a:lnTo>
                    <a:pt x="100584" y="0"/>
                  </a:lnTo>
                  <a:close/>
                </a:path>
              </a:pathLst>
            </a:custGeom>
            <a:solidFill>
              <a:srgbClr val="000000">
                <a:alpha val="100000"/>
              </a:srgbClr>
            </a:solidFill>
            <a:ln w="14905" cap="flat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35" name="pl35"/>
            <p:cNvSpPr/>
            <p:nvPr/>
          </p:nvSpPr>
          <p:spPr>
            <a:xfrm>
              <a:off x="7330185" y="2364110"/>
              <a:ext cx="0" cy="2218519"/>
            </a:xfrm>
            <a:custGeom>
              <a:avLst/>
              <a:pathLst>
                <a:path w="0" h="2218519">
                  <a:moveTo>
                    <a:pt x="0" y="0"/>
                  </a:moveTo>
                  <a:lnTo>
                    <a:pt x="0" y="2218519"/>
                  </a:lnTo>
                </a:path>
              </a:pathLst>
            </a:custGeom>
            <a:ln w="14905" cap="flat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36" name="pg36"/>
            <p:cNvSpPr/>
            <p:nvPr/>
          </p:nvSpPr>
          <p:spPr>
            <a:xfrm>
              <a:off x="7279893" y="4495521"/>
              <a:ext cx="100583" cy="87108"/>
            </a:xfrm>
            <a:custGeom>
              <a:avLst/>
              <a:pathLst>
                <a:path w="100583" h="87108">
                  <a:moveTo>
                    <a:pt x="0" y="0"/>
                  </a:moveTo>
                  <a:lnTo>
                    <a:pt x="50291" y="87108"/>
                  </a:lnTo>
                  <a:lnTo>
                    <a:pt x="100583" y="0"/>
                  </a:lnTo>
                  <a:close/>
                </a:path>
              </a:pathLst>
            </a:custGeom>
            <a:solidFill>
              <a:srgbClr val="000000">
                <a:alpha val="100000"/>
              </a:srgbClr>
            </a:solidFill>
            <a:ln w="14905" cap="flat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37" name="pl37"/>
            <p:cNvSpPr/>
            <p:nvPr/>
          </p:nvSpPr>
          <p:spPr>
            <a:xfrm>
              <a:off x="1919898" y="3455622"/>
              <a:ext cx="132605" cy="0"/>
            </a:xfrm>
            <a:custGeom>
              <a:avLst/>
              <a:pathLst>
                <a:path w="132605" h="0">
                  <a:moveTo>
                    <a:pt x="0" y="0"/>
                  </a:moveTo>
                  <a:lnTo>
                    <a:pt x="132605" y="0"/>
                  </a:lnTo>
                </a:path>
              </a:pathLst>
            </a:custGeom>
            <a:ln w="14905" cap="flat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38" name="pg38"/>
            <p:cNvSpPr/>
            <p:nvPr/>
          </p:nvSpPr>
          <p:spPr>
            <a:xfrm>
              <a:off x="1973314" y="3409902"/>
              <a:ext cx="79189" cy="91439"/>
            </a:xfrm>
            <a:custGeom>
              <a:avLst/>
              <a:pathLst>
                <a:path w="79189" h="91439">
                  <a:moveTo>
                    <a:pt x="0" y="91439"/>
                  </a:moveTo>
                  <a:lnTo>
                    <a:pt x="79189" y="45720"/>
                  </a:lnTo>
                  <a:lnTo>
                    <a:pt x="0" y="0"/>
                  </a:lnTo>
                  <a:close/>
                </a:path>
              </a:pathLst>
            </a:custGeom>
            <a:solidFill>
              <a:srgbClr val="000000">
                <a:alpha val="100000"/>
              </a:srgbClr>
            </a:solidFill>
            <a:ln w="14905" cap="flat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39" name="pl39"/>
            <p:cNvSpPr/>
            <p:nvPr/>
          </p:nvSpPr>
          <p:spPr>
            <a:xfrm>
              <a:off x="7091496" y="3455622"/>
              <a:ext cx="238689" cy="0"/>
            </a:xfrm>
            <a:custGeom>
              <a:avLst/>
              <a:pathLst>
                <a:path w="238689" h="0">
                  <a:moveTo>
                    <a:pt x="238689" y="0"/>
                  </a:moveTo>
                  <a:lnTo>
                    <a:pt x="0" y="0"/>
                  </a:lnTo>
                </a:path>
              </a:pathLst>
            </a:custGeom>
            <a:ln w="14905" cap="flat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40" name="pg40"/>
            <p:cNvSpPr/>
            <p:nvPr/>
          </p:nvSpPr>
          <p:spPr>
            <a:xfrm>
              <a:off x="7091496" y="3409902"/>
              <a:ext cx="79189" cy="91439"/>
            </a:xfrm>
            <a:custGeom>
              <a:avLst/>
              <a:pathLst>
                <a:path w="79189" h="91439">
                  <a:moveTo>
                    <a:pt x="79189" y="0"/>
                  </a:moveTo>
                  <a:lnTo>
                    <a:pt x="0" y="45720"/>
                  </a:lnTo>
                  <a:lnTo>
                    <a:pt x="79189" y="91439"/>
                  </a:lnTo>
                  <a:close/>
                </a:path>
              </a:pathLst>
            </a:custGeom>
            <a:solidFill>
              <a:srgbClr val="000000">
                <a:alpha val="100000"/>
              </a:srgbClr>
            </a:solidFill>
            <a:ln w="14905" cap="flat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41" name="tx41"/>
            <p:cNvSpPr/>
            <p:nvPr/>
          </p:nvSpPr>
          <p:spPr>
            <a:xfrm>
              <a:off x="310956" y="5895055"/>
              <a:ext cx="1302837" cy="90617"/>
            </a:xfrm>
            <a:prstGeom prst="rect">
              <a:avLst/>
            </a:prstGeom>
            <a:noFill/>
          </p:spPr>
          <p:txBody>
            <a:bodyPr lIns="0" rIns="0" tIns="0" bIns="0" anchorCtr="1" anchor="ctr" wrap="none"/>
            <a:lstStyle/>
            <a:p>
              <a:pPr algn="l" marL="0" marR="0" indent="0">
                <a:spcBef>
                  <a:spcPts val="0"/>
                </a:spcBef>
                <a:spcAft>
                  <a:spcPts val="0"/>
                </a:spcAft>
              </a:pPr>
              <a:r>
                <a:rPr sz="1038" i="0" b="1">
                  <a:solidFill>
                    <a:srgbClr val="000000">
                      <a:alpha val="100000"/>
                    </a:srgbClr>
                  </a:solidFill>
                  <a:latin typeface="Liberation Sans"/>
                  <a:cs typeface="Liberation Sans"/>
                </a:rPr>
                <a:t>Figure 1: Trial profile</a:t>
              </a:r>
            </a:p>
          </p:txBody>
        </p:sp>
        <p:sp>
          <p:nvSpPr>
            <p:cNvPr id="42" name="tx42"/>
            <p:cNvSpPr/>
            <p:nvPr/>
          </p:nvSpPr>
          <p:spPr>
            <a:xfrm>
              <a:off x="310956" y="6290822"/>
              <a:ext cx="4332061" cy="65836"/>
            </a:xfrm>
            <a:prstGeom prst="rect">
              <a:avLst/>
            </a:prstGeom>
            <a:noFill/>
          </p:spPr>
          <p:txBody>
            <a:bodyPr lIns="0" rIns="0" tIns="0" bIns="0" anchorCtr="1" anchor="ctr" wrap="none"/>
            <a:lstStyle/>
            <a:p>
              <a:pPr algn="l" marL="0" marR="0" indent="0">
                <a:spcBef>
                  <a:spcPts val="0"/>
                </a:spcBef>
                <a:spcAft>
                  <a:spcPts val="0"/>
                </a:spcAft>
              </a:pPr>
              <a:r>
                <a:rPr sz="753" i="0" b="0">
                  <a:solidFill>
                    <a:srgbClr val="000000">
                      <a:alpha val="100000"/>
                    </a:srgbClr>
                  </a:solidFill>
                  <a:latin typeface="Liberation Sans"/>
                  <a:cs typeface="Liberation Sans"/>
                </a:rPr>
                <a:t>*Discontinuation and safety-population values are summary numbers from published RACING Table 4;</a:t>
              </a:r>
            </a:p>
          </p:txBody>
        </p:sp>
        <p:sp>
          <p:nvSpPr>
            <p:cNvPr id="43" name="tx43"/>
            <p:cNvSpPr/>
            <p:nvPr/>
          </p:nvSpPr>
          <p:spPr>
            <a:xfrm>
              <a:off x="310956" y="6411477"/>
              <a:ext cx="5201290" cy="65836"/>
            </a:xfrm>
            <a:prstGeom prst="rect">
              <a:avLst/>
            </a:prstGeom>
            <a:noFill/>
          </p:spPr>
          <p:txBody>
            <a:bodyPr lIns="0" rIns="0" tIns="0" bIns="0" anchorCtr="1" anchor="ctr" wrap="none"/>
            <a:lstStyle/>
            <a:p>
              <a:pPr algn="l" marL="0" marR="0" indent="0">
                <a:spcBef>
                  <a:spcPts val="0"/>
                </a:spcBef>
                <a:spcAft>
                  <a:spcPts val="0"/>
                </a:spcAft>
              </a:pPr>
              <a:r>
                <a:rPr sz="753" i="0" b="0">
                  <a:solidFill>
                    <a:srgbClr val="000000">
                      <a:alpha val="100000"/>
                    </a:srgbClr>
                  </a:solidFill>
                  <a:latin typeface="Liberation Sans"/>
                  <a:cs typeface="Liberation Sans"/>
                </a:rPr>
                <a:t>they were not derived from the synthetic patient-level data. Synthetic example data; not original RACING patient-level data.</a:t>
              </a:r>
            </a:p>
          </p:txBody>
        </p:sp>
      </p:grp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 xmlns:pic="http://schemas.openxmlformats.org/drawingml/2006/picture">
        <p:nvGrpSpPr>
          <p:cNvPr id="2" name=""/>
          <p:cNvGrpSpPr/>
          <p:nvPr/>
        </p:nvGrpSpPr>
        <p:grpSpPr>
          <a:xfrm rot="0">
            <a:off x="0" y="0"/>
            <a:ext cx="9144000" cy="6858000"/>
            <a:chOff x="0" y="0"/>
            <a:chExt cx="9144000" cy="6858000"/>
          </a:xfrm>
        </p:grpSpPr>
        <p:sp>
          <p:nvSpPr>
            <p:cNvPr id="3" name="rc3"/>
            <p:cNvSpPr/>
            <p:nvPr/>
          </p:nvSpPr>
          <p:spPr>
            <a:xfrm>
              <a:off x="0" y="0"/>
              <a:ext cx="9144000" cy="6858000"/>
            </a:xfrm>
            <a:prstGeom prst="rect">
              <a:avLst/>
            </a:prstGeom>
            <a:solidFill>
              <a:srgbClr val="FFFFFF">
                <a:alpha val="100000"/>
              </a:srgbClr>
            </a:solidFill>
            <a:ln w="9525" cap="rnd">
              <a:solidFill>
                <a:srgbClr val="FFFFFF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4" name="rc4"/>
            <p:cNvSpPr/>
            <p:nvPr/>
          </p:nvSpPr>
          <p:spPr>
            <a:xfrm>
              <a:off x="0" y="0"/>
              <a:ext cx="9144000" cy="6858000"/>
            </a:xfrm>
            <a:prstGeom prst="rect">
              <a:avLst/>
            </a:prstGeom>
            <a:solidFill>
              <a:srgbClr val="FFFFFF">
                <a:alpha val="100000"/>
              </a:srgbClr>
            </a:solidFill>
            <a:ln w="13550" cap="rnd">
              <a:solidFill>
                <a:srgbClr val="FFFFFF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5" name="rc5"/>
            <p:cNvSpPr/>
            <p:nvPr/>
          </p:nvSpPr>
          <p:spPr>
            <a:xfrm>
              <a:off x="69589" y="69589"/>
              <a:ext cx="9004821" cy="4946394"/>
            </a:xfrm>
            <a:prstGeom prst="rect">
              <a:avLst/>
            </a:prstGeom>
            <a:solidFill>
              <a:srgbClr val="FFFFFF">
                <a:alpha val="100000"/>
              </a:srgbClr>
            </a:solidFill>
            <a:ln w="16014" cap="rnd">
              <a:solidFill>
                <a:srgbClr val="FFFFFF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6" name="rc6"/>
            <p:cNvSpPr/>
            <p:nvPr/>
          </p:nvSpPr>
          <p:spPr>
            <a:xfrm>
              <a:off x="69589" y="5015983"/>
              <a:ext cx="9004821" cy="1241720"/>
            </a:xfrm>
            <a:prstGeom prst="rect">
              <a:avLst/>
            </a:prstGeom>
            <a:noFill/>
          </p:spPr>
          <p:txBody>
            <a:bodyPr/>
            <a:lstStyle/>
            <a:p/>
          </p:txBody>
        </p:sp>
        <p:sp>
          <p:nvSpPr>
            <p:cNvPr id="7" name="rc7"/>
            <p:cNvSpPr/>
            <p:nvPr/>
          </p:nvSpPr>
          <p:spPr>
            <a:xfrm>
              <a:off x="69589" y="6257703"/>
              <a:ext cx="9004821" cy="530706"/>
            </a:xfrm>
            <a:prstGeom prst="rect">
              <a:avLst/>
            </a:prstGeom>
            <a:noFill/>
          </p:spPr>
          <p:txBody>
            <a:bodyPr/>
            <a:lstStyle/>
            <a:p/>
          </p:txBody>
        </p:sp>
        <p:sp>
          <p:nvSpPr>
            <p:cNvPr id="8" name="rc8"/>
            <p:cNvSpPr/>
            <p:nvPr/>
          </p:nvSpPr>
          <p:spPr>
            <a:xfrm>
              <a:off x="1684337" y="196114"/>
              <a:ext cx="7137022" cy="4438640"/>
            </a:xfrm>
            <a:prstGeom prst="rect">
              <a:avLst/>
            </a:prstGeom>
            <a:solidFill>
              <a:srgbClr val="FFFFFF">
                <a:alpha val="100000"/>
              </a:srgbClr>
            </a:solidFill>
          </p:spPr>
          <p:txBody>
            <a:bodyPr/>
            <a:lstStyle/>
            <a:p/>
          </p:txBody>
        </p:sp>
        <p:sp>
          <p:nvSpPr>
            <p:cNvPr id="9" name="pl9"/>
            <p:cNvSpPr/>
            <p:nvPr/>
          </p:nvSpPr>
          <p:spPr>
            <a:xfrm>
              <a:off x="1854266" y="1654299"/>
              <a:ext cx="6797164" cy="2980455"/>
            </a:xfrm>
            <a:custGeom>
              <a:avLst/>
              <a:pathLst>
                <a:path w="6797164" h="2980455">
                  <a:moveTo>
                    <a:pt x="0" y="2980455"/>
                  </a:moveTo>
                  <a:lnTo>
                    <a:pt x="188810" y="2980455"/>
                  </a:lnTo>
                  <a:lnTo>
                    <a:pt x="188810" y="2839247"/>
                  </a:lnTo>
                  <a:lnTo>
                    <a:pt x="377620" y="2839247"/>
                  </a:lnTo>
                  <a:lnTo>
                    <a:pt x="377620" y="2792153"/>
                  </a:lnTo>
                  <a:lnTo>
                    <a:pt x="566430" y="2792153"/>
                  </a:lnTo>
                  <a:lnTo>
                    <a:pt x="566430" y="2666500"/>
                  </a:lnTo>
                  <a:lnTo>
                    <a:pt x="755240" y="2666500"/>
                  </a:lnTo>
                  <a:lnTo>
                    <a:pt x="755240" y="2619305"/>
                  </a:lnTo>
                  <a:lnTo>
                    <a:pt x="944050" y="2619305"/>
                  </a:lnTo>
                  <a:lnTo>
                    <a:pt x="944050" y="2587807"/>
                  </a:lnTo>
                  <a:lnTo>
                    <a:pt x="1132860" y="2587807"/>
                  </a:lnTo>
                  <a:lnTo>
                    <a:pt x="1132860" y="2492956"/>
                  </a:lnTo>
                  <a:lnTo>
                    <a:pt x="1321670" y="2492956"/>
                  </a:lnTo>
                  <a:lnTo>
                    <a:pt x="1321670" y="2429550"/>
                  </a:lnTo>
                  <a:lnTo>
                    <a:pt x="1510480" y="2429550"/>
                  </a:lnTo>
                  <a:lnTo>
                    <a:pt x="1510480" y="2302668"/>
                  </a:lnTo>
                  <a:lnTo>
                    <a:pt x="1699291" y="2302668"/>
                  </a:lnTo>
                  <a:lnTo>
                    <a:pt x="1699291" y="2223237"/>
                  </a:lnTo>
                  <a:lnTo>
                    <a:pt x="1888101" y="2223237"/>
                  </a:lnTo>
                  <a:lnTo>
                    <a:pt x="1888101" y="2111787"/>
                  </a:lnTo>
                  <a:lnTo>
                    <a:pt x="2076911" y="2111787"/>
                  </a:lnTo>
                  <a:lnTo>
                    <a:pt x="2076911" y="2047995"/>
                  </a:lnTo>
                  <a:lnTo>
                    <a:pt x="2265721" y="2047995"/>
                  </a:lnTo>
                  <a:lnTo>
                    <a:pt x="2265721" y="1951987"/>
                  </a:lnTo>
                  <a:lnTo>
                    <a:pt x="2454531" y="1951987"/>
                  </a:lnTo>
                  <a:lnTo>
                    <a:pt x="2454531" y="1823832"/>
                  </a:lnTo>
                  <a:lnTo>
                    <a:pt x="2643341" y="1823832"/>
                  </a:lnTo>
                  <a:lnTo>
                    <a:pt x="2643341" y="1791721"/>
                  </a:lnTo>
                  <a:lnTo>
                    <a:pt x="2832151" y="1791721"/>
                  </a:lnTo>
                  <a:lnTo>
                    <a:pt x="2832151" y="1695333"/>
                  </a:lnTo>
                  <a:lnTo>
                    <a:pt x="3020961" y="1695333"/>
                  </a:lnTo>
                  <a:lnTo>
                    <a:pt x="3020961" y="1598891"/>
                  </a:lnTo>
                  <a:lnTo>
                    <a:pt x="3209772" y="1598891"/>
                  </a:lnTo>
                  <a:lnTo>
                    <a:pt x="3209772" y="1454228"/>
                  </a:lnTo>
                  <a:lnTo>
                    <a:pt x="3398582" y="1454228"/>
                  </a:lnTo>
                  <a:lnTo>
                    <a:pt x="3398582" y="1341712"/>
                  </a:lnTo>
                  <a:lnTo>
                    <a:pt x="3587392" y="1341712"/>
                  </a:lnTo>
                  <a:lnTo>
                    <a:pt x="3587392" y="1325610"/>
                  </a:lnTo>
                  <a:lnTo>
                    <a:pt x="3776202" y="1325610"/>
                  </a:lnTo>
                  <a:lnTo>
                    <a:pt x="3776202" y="1277306"/>
                  </a:lnTo>
                  <a:lnTo>
                    <a:pt x="3965012" y="1277306"/>
                  </a:lnTo>
                  <a:lnTo>
                    <a:pt x="3965012" y="1148419"/>
                  </a:lnTo>
                  <a:lnTo>
                    <a:pt x="4153822" y="1148419"/>
                  </a:lnTo>
                  <a:lnTo>
                    <a:pt x="4153822" y="1067772"/>
                  </a:lnTo>
                  <a:lnTo>
                    <a:pt x="4342632" y="1067772"/>
                  </a:lnTo>
                  <a:lnTo>
                    <a:pt x="4342632" y="1003216"/>
                  </a:lnTo>
                  <a:lnTo>
                    <a:pt x="4531442" y="1003216"/>
                  </a:lnTo>
                  <a:lnTo>
                    <a:pt x="4531442" y="987077"/>
                  </a:lnTo>
                  <a:lnTo>
                    <a:pt x="4720252" y="987077"/>
                  </a:lnTo>
                  <a:lnTo>
                    <a:pt x="4720252" y="890244"/>
                  </a:lnTo>
                  <a:lnTo>
                    <a:pt x="4909063" y="890244"/>
                  </a:lnTo>
                  <a:lnTo>
                    <a:pt x="4909063" y="825650"/>
                  </a:lnTo>
                  <a:lnTo>
                    <a:pt x="5097873" y="825650"/>
                  </a:lnTo>
                  <a:lnTo>
                    <a:pt x="5097873" y="777205"/>
                  </a:lnTo>
                  <a:lnTo>
                    <a:pt x="5286683" y="777205"/>
                  </a:lnTo>
                  <a:lnTo>
                    <a:pt x="5286683" y="615626"/>
                  </a:lnTo>
                  <a:lnTo>
                    <a:pt x="5475493" y="615626"/>
                  </a:lnTo>
                  <a:lnTo>
                    <a:pt x="5475493" y="470031"/>
                  </a:lnTo>
                  <a:lnTo>
                    <a:pt x="5664303" y="470031"/>
                  </a:lnTo>
                  <a:lnTo>
                    <a:pt x="5664303" y="421500"/>
                  </a:lnTo>
                  <a:lnTo>
                    <a:pt x="5853113" y="421500"/>
                  </a:lnTo>
                  <a:lnTo>
                    <a:pt x="5853113" y="324321"/>
                  </a:lnTo>
                  <a:lnTo>
                    <a:pt x="6041923" y="324321"/>
                  </a:lnTo>
                  <a:lnTo>
                    <a:pt x="6041923" y="227083"/>
                  </a:lnTo>
                  <a:lnTo>
                    <a:pt x="6230733" y="227083"/>
                  </a:lnTo>
                  <a:lnTo>
                    <a:pt x="6230733" y="113571"/>
                  </a:lnTo>
                  <a:lnTo>
                    <a:pt x="6419544" y="113571"/>
                  </a:lnTo>
                  <a:lnTo>
                    <a:pt x="6419544" y="81139"/>
                  </a:lnTo>
                  <a:lnTo>
                    <a:pt x="6608354" y="81139"/>
                  </a:lnTo>
                  <a:lnTo>
                    <a:pt x="6608354" y="16235"/>
                  </a:lnTo>
                  <a:lnTo>
                    <a:pt x="6797164" y="16235"/>
                  </a:lnTo>
                  <a:lnTo>
                    <a:pt x="6797164" y="0"/>
                  </a:lnTo>
                </a:path>
              </a:pathLst>
            </a:custGeom>
            <a:ln w="24391" cap="flat">
              <a:solidFill>
                <a:srgbClr val="0099B5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0" name="pl10"/>
            <p:cNvSpPr/>
            <p:nvPr/>
          </p:nvSpPr>
          <p:spPr>
            <a:xfrm>
              <a:off x="1854266" y="1881203"/>
              <a:ext cx="6797164" cy="2753550"/>
            </a:xfrm>
            <a:custGeom>
              <a:avLst/>
              <a:pathLst>
                <a:path w="6797164" h="2753550">
                  <a:moveTo>
                    <a:pt x="0" y="2753550"/>
                  </a:moveTo>
                  <a:lnTo>
                    <a:pt x="188810" y="2753550"/>
                  </a:lnTo>
                  <a:lnTo>
                    <a:pt x="188810" y="2706680"/>
                  </a:lnTo>
                  <a:lnTo>
                    <a:pt x="377620" y="2706680"/>
                  </a:lnTo>
                  <a:lnTo>
                    <a:pt x="377620" y="2675416"/>
                  </a:lnTo>
                  <a:lnTo>
                    <a:pt x="566430" y="2675416"/>
                  </a:lnTo>
                  <a:lnTo>
                    <a:pt x="566430" y="2628321"/>
                  </a:lnTo>
                  <a:lnTo>
                    <a:pt x="755240" y="2628321"/>
                  </a:lnTo>
                  <a:lnTo>
                    <a:pt x="755240" y="2549620"/>
                  </a:lnTo>
                  <a:lnTo>
                    <a:pt x="944050" y="2549620"/>
                  </a:lnTo>
                  <a:lnTo>
                    <a:pt x="944050" y="2486592"/>
                  </a:lnTo>
                  <a:lnTo>
                    <a:pt x="1132860" y="2486592"/>
                  </a:lnTo>
                  <a:lnTo>
                    <a:pt x="1132860" y="2360399"/>
                  </a:lnTo>
                  <a:lnTo>
                    <a:pt x="1321670" y="2360399"/>
                  </a:lnTo>
                  <a:lnTo>
                    <a:pt x="1321670" y="2313026"/>
                  </a:lnTo>
                  <a:lnTo>
                    <a:pt x="1510480" y="2313026"/>
                  </a:lnTo>
                  <a:lnTo>
                    <a:pt x="1510480" y="2233597"/>
                  </a:lnTo>
                  <a:lnTo>
                    <a:pt x="1699291" y="2233597"/>
                  </a:lnTo>
                  <a:lnTo>
                    <a:pt x="1699291" y="2090469"/>
                  </a:lnTo>
                  <a:lnTo>
                    <a:pt x="1888101" y="2090469"/>
                  </a:lnTo>
                  <a:lnTo>
                    <a:pt x="1888101" y="1994945"/>
                  </a:lnTo>
                  <a:lnTo>
                    <a:pt x="2076911" y="1994945"/>
                  </a:lnTo>
                  <a:lnTo>
                    <a:pt x="2076911" y="1851421"/>
                  </a:lnTo>
                  <a:lnTo>
                    <a:pt x="2265721" y="1851421"/>
                  </a:lnTo>
                  <a:lnTo>
                    <a:pt x="2265721" y="1835447"/>
                  </a:lnTo>
                  <a:lnTo>
                    <a:pt x="2454531" y="1835447"/>
                  </a:lnTo>
                  <a:lnTo>
                    <a:pt x="2454531" y="1739551"/>
                  </a:lnTo>
                  <a:lnTo>
                    <a:pt x="2643341" y="1739551"/>
                  </a:lnTo>
                  <a:lnTo>
                    <a:pt x="2643341" y="1627610"/>
                  </a:lnTo>
                  <a:lnTo>
                    <a:pt x="2832151" y="1627610"/>
                  </a:lnTo>
                  <a:lnTo>
                    <a:pt x="2832151" y="1547608"/>
                  </a:lnTo>
                  <a:lnTo>
                    <a:pt x="3020961" y="1547608"/>
                  </a:lnTo>
                  <a:lnTo>
                    <a:pt x="3020961" y="1419459"/>
                  </a:lnTo>
                  <a:lnTo>
                    <a:pt x="3209772" y="1419459"/>
                  </a:lnTo>
                  <a:lnTo>
                    <a:pt x="3209772" y="1355348"/>
                  </a:lnTo>
                  <a:lnTo>
                    <a:pt x="3398582" y="1355348"/>
                  </a:lnTo>
                  <a:lnTo>
                    <a:pt x="3398582" y="1307237"/>
                  </a:lnTo>
                  <a:lnTo>
                    <a:pt x="3587392" y="1307237"/>
                  </a:lnTo>
                  <a:lnTo>
                    <a:pt x="3587392" y="1210907"/>
                  </a:lnTo>
                  <a:lnTo>
                    <a:pt x="3776202" y="1210907"/>
                  </a:lnTo>
                  <a:lnTo>
                    <a:pt x="3776202" y="1114521"/>
                  </a:lnTo>
                  <a:lnTo>
                    <a:pt x="3965012" y="1114521"/>
                  </a:lnTo>
                  <a:lnTo>
                    <a:pt x="3965012" y="1082374"/>
                  </a:lnTo>
                  <a:lnTo>
                    <a:pt x="4342632" y="1082374"/>
                  </a:lnTo>
                  <a:lnTo>
                    <a:pt x="4342632" y="937461"/>
                  </a:lnTo>
                  <a:lnTo>
                    <a:pt x="4531442" y="937461"/>
                  </a:lnTo>
                  <a:lnTo>
                    <a:pt x="4531442" y="921360"/>
                  </a:lnTo>
                  <a:lnTo>
                    <a:pt x="4720252" y="921360"/>
                  </a:lnTo>
                  <a:lnTo>
                    <a:pt x="4720252" y="776364"/>
                  </a:lnTo>
                  <a:lnTo>
                    <a:pt x="4909063" y="776364"/>
                  </a:lnTo>
                  <a:lnTo>
                    <a:pt x="4909063" y="695763"/>
                  </a:lnTo>
                  <a:lnTo>
                    <a:pt x="5097873" y="695763"/>
                  </a:lnTo>
                  <a:lnTo>
                    <a:pt x="5097873" y="647375"/>
                  </a:lnTo>
                  <a:lnTo>
                    <a:pt x="5286683" y="647375"/>
                  </a:lnTo>
                  <a:lnTo>
                    <a:pt x="5286683" y="582856"/>
                  </a:lnTo>
                  <a:lnTo>
                    <a:pt x="5475493" y="582856"/>
                  </a:lnTo>
                  <a:lnTo>
                    <a:pt x="5475493" y="518262"/>
                  </a:lnTo>
                  <a:lnTo>
                    <a:pt x="5664303" y="518262"/>
                  </a:lnTo>
                  <a:lnTo>
                    <a:pt x="5664303" y="437472"/>
                  </a:lnTo>
                  <a:lnTo>
                    <a:pt x="5853113" y="437472"/>
                  </a:lnTo>
                  <a:lnTo>
                    <a:pt x="5853113" y="324231"/>
                  </a:lnTo>
                  <a:lnTo>
                    <a:pt x="6041923" y="324231"/>
                  </a:lnTo>
                  <a:lnTo>
                    <a:pt x="6041923" y="308034"/>
                  </a:lnTo>
                  <a:lnTo>
                    <a:pt x="6230733" y="308034"/>
                  </a:lnTo>
                  <a:lnTo>
                    <a:pt x="6230733" y="194591"/>
                  </a:lnTo>
                  <a:lnTo>
                    <a:pt x="6419544" y="194591"/>
                  </a:lnTo>
                  <a:lnTo>
                    <a:pt x="6419544" y="113511"/>
                  </a:lnTo>
                  <a:lnTo>
                    <a:pt x="6608354" y="113511"/>
                  </a:lnTo>
                  <a:lnTo>
                    <a:pt x="6608354" y="16215"/>
                  </a:lnTo>
                  <a:lnTo>
                    <a:pt x="6797164" y="16215"/>
                  </a:lnTo>
                  <a:lnTo>
                    <a:pt x="6797164" y="0"/>
                  </a:lnTo>
                </a:path>
              </a:pathLst>
            </a:custGeom>
            <a:ln w="24391" cap="flat">
              <a:solidFill>
                <a:srgbClr val="A50034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1" name="tx11"/>
            <p:cNvSpPr/>
            <p:nvPr/>
          </p:nvSpPr>
          <p:spPr>
            <a:xfrm>
              <a:off x="3388309" y="1386767"/>
              <a:ext cx="3351458" cy="104333"/>
            </a:xfrm>
            <a:prstGeom prst="rect">
              <a:avLst/>
            </a:prstGeom>
            <a:noFill/>
          </p:spPr>
          <p:txBody>
            <a:bodyPr lIns="0" rIns="0" tIns="0" bIns="0" anchorCtr="1" anchor="ctr" wrap="none"/>
            <a:lstStyle/>
            <a:p>
              <a:pPr algn="l" marL="0" marR="0" indent="0">
                <a:spcBef>
                  <a:spcPts val="0"/>
                </a:spcBef>
                <a:spcAft>
                  <a:spcPts val="0"/>
                </a:spcAft>
              </a:pPr>
              <a:r>
                <a:rPr sz="1195" i="0" b="0">
                  <a:solidFill>
                    <a:srgbClr val="000000">
                      <a:alpha val="100000"/>
                    </a:srgbClr>
                  </a:solidFill>
                  <a:latin typeface="Liberation Sans"/>
                  <a:cs typeface="Liberation Sans"/>
                </a:rPr>
                <a:t>Absolute difference -0.78% (90% CI -2.35 to 0.79)</a:t>
              </a:r>
            </a:p>
          </p:txBody>
        </p:sp>
        <p:sp>
          <p:nvSpPr>
            <p:cNvPr id="12" name="tx12"/>
            <p:cNvSpPr/>
            <p:nvPr/>
          </p:nvSpPr>
          <p:spPr>
            <a:xfrm>
              <a:off x="4510872" y="1808492"/>
              <a:ext cx="1106332" cy="89428"/>
            </a:xfrm>
            <a:prstGeom prst="rect">
              <a:avLst/>
            </a:prstGeom>
            <a:noFill/>
          </p:spPr>
          <p:txBody>
            <a:bodyPr lIns="0" rIns="0" tIns="0" bIns="0" anchorCtr="1" anchor="ctr" wrap="none"/>
            <a:lstStyle/>
            <a:p>
              <a:pPr algn="l" marL="0" marR="0" indent="0">
                <a:spcBef>
                  <a:spcPts val="0"/>
                </a:spcBef>
                <a:spcAft>
                  <a:spcPts val="0"/>
                </a:spcAft>
              </a:pPr>
              <a:r>
                <a:rPr sz="1024" i="0" b="0">
                  <a:solidFill>
                    <a:srgbClr val="000000">
                      <a:alpha val="100000"/>
                    </a:srgbClr>
                  </a:solidFill>
                  <a:latin typeface="Liberation Sans"/>
                  <a:cs typeface="Liberation Sans"/>
                </a:rPr>
                <a:t>Log-rank P = 0.421</a:t>
              </a:r>
            </a:p>
          </p:txBody>
        </p:sp>
        <p:sp>
          <p:nvSpPr>
            <p:cNvPr id="13" name="pl13"/>
            <p:cNvSpPr/>
            <p:nvPr/>
          </p:nvSpPr>
          <p:spPr>
            <a:xfrm>
              <a:off x="1684337" y="196114"/>
              <a:ext cx="0" cy="4438640"/>
            </a:xfrm>
            <a:custGeom>
              <a:avLst/>
              <a:pathLst>
                <a:path w="0" h="4438640">
                  <a:moveTo>
                    <a:pt x="0" y="4438640"/>
                  </a:moveTo>
                  <a:lnTo>
                    <a:pt x="0" y="0"/>
                  </a:lnTo>
                </a:path>
              </a:pathLst>
            </a:custGeom>
            <a:ln w="17615" cap="sq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4" name="tx14"/>
            <p:cNvSpPr/>
            <p:nvPr/>
          </p:nvSpPr>
          <p:spPr>
            <a:xfrm>
              <a:off x="1419576" y="4589354"/>
              <a:ext cx="190743" cy="90799"/>
            </a:xfrm>
            <a:prstGeom prst="rect">
              <a:avLst/>
            </a:prstGeom>
            <a:noFill/>
          </p:spPr>
          <p:txBody>
            <a:bodyPr lIns="0" rIns="0" tIns="0" bIns="0" anchorCtr="1" anchor="ctr" wrap="none"/>
            <a:lstStyle/>
            <a:p>
              <a:pPr algn="l" marL="0" marR="0" indent="0">
                <a:spcBef>
                  <a:spcPts val="0"/>
                </a:spcBef>
                <a:spcAft>
                  <a:spcPts val="0"/>
                </a:spcAft>
              </a:pPr>
              <a:r>
                <a:rPr sz="1040" i="0" b="0">
                  <a:solidFill>
                    <a:srgbClr val="000000">
                      <a:alpha val="100000"/>
                    </a:srgbClr>
                  </a:solidFill>
                  <a:latin typeface="Liberation Sans"/>
                  <a:cs typeface="Liberation Sans"/>
                </a:rPr>
                <a:t>0%</a:t>
              </a:r>
            </a:p>
          </p:txBody>
        </p:sp>
        <p:sp>
          <p:nvSpPr>
            <p:cNvPr id="15" name="tx15"/>
            <p:cNvSpPr/>
            <p:nvPr/>
          </p:nvSpPr>
          <p:spPr>
            <a:xfrm>
              <a:off x="1419576" y="3109808"/>
              <a:ext cx="190743" cy="90799"/>
            </a:xfrm>
            <a:prstGeom prst="rect">
              <a:avLst/>
            </a:prstGeom>
            <a:noFill/>
          </p:spPr>
          <p:txBody>
            <a:bodyPr lIns="0" rIns="0" tIns="0" bIns="0" anchorCtr="1" anchor="ctr" wrap="none"/>
            <a:lstStyle/>
            <a:p>
              <a:pPr algn="l" marL="0" marR="0" indent="0">
                <a:spcBef>
                  <a:spcPts val="0"/>
                </a:spcBef>
                <a:spcAft>
                  <a:spcPts val="0"/>
                </a:spcAft>
              </a:pPr>
              <a:r>
                <a:rPr sz="1040" i="0" b="0">
                  <a:solidFill>
                    <a:srgbClr val="000000">
                      <a:alpha val="100000"/>
                    </a:srgbClr>
                  </a:solidFill>
                  <a:latin typeface="Liberation Sans"/>
                  <a:cs typeface="Liberation Sans"/>
                </a:rPr>
                <a:t>5%</a:t>
              </a:r>
            </a:p>
          </p:txBody>
        </p:sp>
        <p:sp>
          <p:nvSpPr>
            <p:cNvPr id="16" name="tx16"/>
            <p:cNvSpPr/>
            <p:nvPr/>
          </p:nvSpPr>
          <p:spPr>
            <a:xfrm>
              <a:off x="1346149" y="1630261"/>
              <a:ext cx="264170" cy="90799"/>
            </a:xfrm>
            <a:prstGeom prst="rect">
              <a:avLst/>
            </a:prstGeom>
            <a:noFill/>
          </p:spPr>
          <p:txBody>
            <a:bodyPr lIns="0" rIns="0" tIns="0" bIns="0" anchorCtr="1" anchor="ctr" wrap="none"/>
            <a:lstStyle/>
            <a:p>
              <a:pPr algn="l" marL="0" marR="0" indent="0">
                <a:spcBef>
                  <a:spcPts val="0"/>
                </a:spcBef>
                <a:spcAft>
                  <a:spcPts val="0"/>
                </a:spcAft>
              </a:pPr>
              <a:r>
                <a:rPr sz="1040" i="0" b="0">
                  <a:solidFill>
                    <a:srgbClr val="000000">
                      <a:alpha val="100000"/>
                    </a:srgbClr>
                  </a:solidFill>
                  <a:latin typeface="Liberation Sans"/>
                  <a:cs typeface="Liberation Sans"/>
                </a:rPr>
                <a:t>10%</a:t>
              </a:r>
            </a:p>
          </p:txBody>
        </p:sp>
        <p:sp>
          <p:nvSpPr>
            <p:cNvPr id="17" name="tx17"/>
            <p:cNvSpPr/>
            <p:nvPr/>
          </p:nvSpPr>
          <p:spPr>
            <a:xfrm>
              <a:off x="1346149" y="150714"/>
              <a:ext cx="264170" cy="90799"/>
            </a:xfrm>
            <a:prstGeom prst="rect">
              <a:avLst/>
            </a:prstGeom>
            <a:noFill/>
          </p:spPr>
          <p:txBody>
            <a:bodyPr lIns="0" rIns="0" tIns="0" bIns="0" anchorCtr="1" anchor="ctr" wrap="none"/>
            <a:lstStyle/>
            <a:p>
              <a:pPr algn="l" marL="0" marR="0" indent="0">
                <a:spcBef>
                  <a:spcPts val="0"/>
                </a:spcBef>
                <a:spcAft>
                  <a:spcPts val="0"/>
                </a:spcAft>
              </a:pPr>
              <a:r>
                <a:rPr sz="1040" i="0" b="0">
                  <a:solidFill>
                    <a:srgbClr val="000000">
                      <a:alpha val="100000"/>
                    </a:srgbClr>
                  </a:solidFill>
                  <a:latin typeface="Liberation Sans"/>
                  <a:cs typeface="Liberation Sans"/>
                </a:rPr>
                <a:t>15%</a:t>
              </a:r>
            </a:p>
          </p:txBody>
        </p:sp>
        <p:sp>
          <p:nvSpPr>
            <p:cNvPr id="18" name="pl18"/>
            <p:cNvSpPr/>
            <p:nvPr/>
          </p:nvSpPr>
          <p:spPr>
            <a:xfrm>
              <a:off x="1643216" y="4634754"/>
              <a:ext cx="41120" cy="0"/>
            </a:xfrm>
            <a:custGeom>
              <a:avLst/>
              <a:pathLst>
                <a:path w="41120" h="0">
                  <a:moveTo>
                    <a:pt x="0" y="0"/>
                  </a:moveTo>
                  <a:lnTo>
                    <a:pt x="41120" y="0"/>
                  </a:lnTo>
                </a:path>
              </a:pathLst>
            </a:custGeom>
            <a:ln w="14905" cap="flat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9" name="pl19"/>
            <p:cNvSpPr/>
            <p:nvPr/>
          </p:nvSpPr>
          <p:spPr>
            <a:xfrm>
              <a:off x="1643216" y="3155207"/>
              <a:ext cx="41120" cy="0"/>
            </a:xfrm>
            <a:custGeom>
              <a:avLst/>
              <a:pathLst>
                <a:path w="41120" h="0">
                  <a:moveTo>
                    <a:pt x="0" y="0"/>
                  </a:moveTo>
                  <a:lnTo>
                    <a:pt x="41120" y="0"/>
                  </a:lnTo>
                </a:path>
              </a:pathLst>
            </a:custGeom>
            <a:ln w="14905" cap="flat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0" name="pl20"/>
            <p:cNvSpPr/>
            <p:nvPr/>
          </p:nvSpPr>
          <p:spPr>
            <a:xfrm>
              <a:off x="1643216" y="1675661"/>
              <a:ext cx="41120" cy="0"/>
            </a:xfrm>
            <a:custGeom>
              <a:avLst/>
              <a:pathLst>
                <a:path w="41120" h="0">
                  <a:moveTo>
                    <a:pt x="0" y="0"/>
                  </a:moveTo>
                  <a:lnTo>
                    <a:pt x="41120" y="0"/>
                  </a:lnTo>
                </a:path>
              </a:pathLst>
            </a:custGeom>
            <a:ln w="14905" cap="flat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1" name="pl21"/>
            <p:cNvSpPr/>
            <p:nvPr/>
          </p:nvSpPr>
          <p:spPr>
            <a:xfrm>
              <a:off x="1643216" y="196114"/>
              <a:ext cx="41120" cy="0"/>
            </a:xfrm>
            <a:custGeom>
              <a:avLst/>
              <a:pathLst>
                <a:path w="41120" h="0">
                  <a:moveTo>
                    <a:pt x="0" y="0"/>
                  </a:moveTo>
                  <a:lnTo>
                    <a:pt x="41120" y="0"/>
                  </a:lnTo>
                </a:path>
              </a:pathLst>
            </a:custGeom>
            <a:ln w="14905" cap="flat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2" name="pl22"/>
            <p:cNvSpPr/>
            <p:nvPr/>
          </p:nvSpPr>
          <p:spPr>
            <a:xfrm>
              <a:off x="1684337" y="4634754"/>
              <a:ext cx="7137022" cy="0"/>
            </a:xfrm>
            <a:custGeom>
              <a:avLst/>
              <a:pathLst>
                <a:path w="7137022" h="0">
                  <a:moveTo>
                    <a:pt x="0" y="0"/>
                  </a:moveTo>
                  <a:lnTo>
                    <a:pt x="7137022" y="0"/>
                  </a:lnTo>
                </a:path>
              </a:pathLst>
            </a:custGeom>
            <a:ln w="17615" cap="sq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3" name="pl23"/>
            <p:cNvSpPr/>
            <p:nvPr/>
          </p:nvSpPr>
          <p:spPr>
            <a:xfrm>
              <a:off x="1854266" y="4634754"/>
              <a:ext cx="0" cy="41120"/>
            </a:xfrm>
            <a:custGeom>
              <a:avLst/>
              <a:pathLst>
                <a:path w="0" h="41120">
                  <a:moveTo>
                    <a:pt x="0" y="41120"/>
                  </a:moveTo>
                  <a:lnTo>
                    <a:pt x="0" y="0"/>
                  </a:lnTo>
                </a:path>
              </a:pathLst>
            </a:custGeom>
            <a:ln w="14905" cap="flat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4" name="pl24"/>
            <p:cNvSpPr/>
            <p:nvPr/>
          </p:nvSpPr>
          <p:spPr>
            <a:xfrm>
              <a:off x="4119987" y="4634754"/>
              <a:ext cx="0" cy="41120"/>
            </a:xfrm>
            <a:custGeom>
              <a:avLst/>
              <a:pathLst>
                <a:path w="0" h="41120">
                  <a:moveTo>
                    <a:pt x="0" y="41120"/>
                  </a:moveTo>
                  <a:lnTo>
                    <a:pt x="0" y="0"/>
                  </a:lnTo>
                </a:path>
              </a:pathLst>
            </a:custGeom>
            <a:ln w="14905" cap="flat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5" name="pl25"/>
            <p:cNvSpPr/>
            <p:nvPr/>
          </p:nvSpPr>
          <p:spPr>
            <a:xfrm>
              <a:off x="6385709" y="4634754"/>
              <a:ext cx="0" cy="41120"/>
            </a:xfrm>
            <a:custGeom>
              <a:avLst/>
              <a:pathLst>
                <a:path w="0" h="41120">
                  <a:moveTo>
                    <a:pt x="0" y="41120"/>
                  </a:moveTo>
                  <a:lnTo>
                    <a:pt x="0" y="0"/>
                  </a:lnTo>
                </a:path>
              </a:pathLst>
            </a:custGeom>
            <a:ln w="14905" cap="flat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6" name="pl26"/>
            <p:cNvSpPr/>
            <p:nvPr/>
          </p:nvSpPr>
          <p:spPr>
            <a:xfrm>
              <a:off x="8651430" y="4634754"/>
              <a:ext cx="0" cy="41120"/>
            </a:xfrm>
            <a:custGeom>
              <a:avLst/>
              <a:pathLst>
                <a:path w="0" h="41120">
                  <a:moveTo>
                    <a:pt x="0" y="41120"/>
                  </a:moveTo>
                  <a:lnTo>
                    <a:pt x="0" y="0"/>
                  </a:lnTo>
                </a:path>
              </a:pathLst>
            </a:custGeom>
            <a:ln w="14905" cap="flat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7" name="tx27"/>
            <p:cNvSpPr/>
            <p:nvPr/>
          </p:nvSpPr>
          <p:spPr>
            <a:xfrm>
              <a:off x="1817553" y="4708772"/>
              <a:ext cx="73426" cy="90799"/>
            </a:xfrm>
            <a:prstGeom prst="rect">
              <a:avLst/>
            </a:prstGeom>
            <a:noFill/>
          </p:spPr>
          <p:txBody>
            <a:bodyPr lIns="0" rIns="0" tIns="0" bIns="0" anchorCtr="1" anchor="ctr" wrap="none"/>
            <a:lstStyle/>
            <a:p>
              <a:pPr algn="l" marL="0" marR="0" indent="0">
                <a:spcBef>
                  <a:spcPts val="0"/>
                </a:spcBef>
                <a:spcAft>
                  <a:spcPts val="0"/>
                </a:spcAft>
              </a:pPr>
              <a:r>
                <a:rPr sz="1040" i="0" b="0">
                  <a:solidFill>
                    <a:srgbClr val="000000">
                      <a:alpha val="100000"/>
                    </a:srgbClr>
                  </a:solidFill>
                  <a:latin typeface="Liberation Sans"/>
                  <a:cs typeface="Liberation Sans"/>
                </a:rPr>
                <a:t>0</a:t>
              </a:r>
            </a:p>
          </p:txBody>
        </p:sp>
        <p:sp>
          <p:nvSpPr>
            <p:cNvPr id="28" name="tx28"/>
            <p:cNvSpPr/>
            <p:nvPr/>
          </p:nvSpPr>
          <p:spPr>
            <a:xfrm>
              <a:off x="4046561" y="4708772"/>
              <a:ext cx="146852" cy="90799"/>
            </a:xfrm>
            <a:prstGeom prst="rect">
              <a:avLst/>
            </a:prstGeom>
            <a:noFill/>
          </p:spPr>
          <p:txBody>
            <a:bodyPr lIns="0" rIns="0" tIns="0" bIns="0" anchorCtr="1" anchor="ctr" wrap="none"/>
            <a:lstStyle/>
            <a:p>
              <a:pPr algn="l" marL="0" marR="0" indent="0">
                <a:spcBef>
                  <a:spcPts val="0"/>
                </a:spcBef>
                <a:spcAft>
                  <a:spcPts val="0"/>
                </a:spcAft>
              </a:pPr>
              <a:r>
                <a:rPr sz="1040" i="0" b="0">
                  <a:solidFill>
                    <a:srgbClr val="000000">
                      <a:alpha val="100000"/>
                    </a:srgbClr>
                  </a:solidFill>
                  <a:latin typeface="Liberation Sans"/>
                  <a:cs typeface="Liberation Sans"/>
                </a:rPr>
                <a:t>12</a:t>
              </a:r>
            </a:p>
          </p:txBody>
        </p:sp>
        <p:sp>
          <p:nvSpPr>
            <p:cNvPr id="29" name="tx29"/>
            <p:cNvSpPr/>
            <p:nvPr/>
          </p:nvSpPr>
          <p:spPr>
            <a:xfrm>
              <a:off x="6312283" y="4708772"/>
              <a:ext cx="146852" cy="90799"/>
            </a:xfrm>
            <a:prstGeom prst="rect">
              <a:avLst/>
            </a:prstGeom>
            <a:noFill/>
          </p:spPr>
          <p:txBody>
            <a:bodyPr lIns="0" rIns="0" tIns="0" bIns="0" anchorCtr="1" anchor="ctr" wrap="none"/>
            <a:lstStyle/>
            <a:p>
              <a:pPr algn="l" marL="0" marR="0" indent="0">
                <a:spcBef>
                  <a:spcPts val="0"/>
                </a:spcBef>
                <a:spcAft>
                  <a:spcPts val="0"/>
                </a:spcAft>
              </a:pPr>
              <a:r>
                <a:rPr sz="1040" i="0" b="0">
                  <a:solidFill>
                    <a:srgbClr val="000000">
                      <a:alpha val="100000"/>
                    </a:srgbClr>
                  </a:solidFill>
                  <a:latin typeface="Liberation Sans"/>
                  <a:cs typeface="Liberation Sans"/>
                </a:rPr>
                <a:t>24</a:t>
              </a:r>
            </a:p>
          </p:txBody>
        </p:sp>
        <p:sp>
          <p:nvSpPr>
            <p:cNvPr id="30" name="tx30"/>
            <p:cNvSpPr/>
            <p:nvPr/>
          </p:nvSpPr>
          <p:spPr>
            <a:xfrm>
              <a:off x="8578004" y="4708772"/>
              <a:ext cx="146852" cy="90799"/>
            </a:xfrm>
            <a:prstGeom prst="rect">
              <a:avLst/>
            </a:prstGeom>
            <a:noFill/>
          </p:spPr>
          <p:txBody>
            <a:bodyPr lIns="0" rIns="0" tIns="0" bIns="0" anchorCtr="1" anchor="ctr" wrap="none"/>
            <a:lstStyle/>
            <a:p>
              <a:pPr algn="l" marL="0" marR="0" indent="0">
                <a:spcBef>
                  <a:spcPts val="0"/>
                </a:spcBef>
                <a:spcAft>
                  <a:spcPts val="0"/>
                </a:spcAft>
              </a:pPr>
              <a:r>
                <a:rPr sz="1040" i="0" b="0">
                  <a:solidFill>
                    <a:srgbClr val="000000">
                      <a:alpha val="100000"/>
                    </a:srgbClr>
                  </a:solidFill>
                  <a:latin typeface="Liberation Sans"/>
                  <a:cs typeface="Liberation Sans"/>
                </a:rPr>
                <a:t>36</a:t>
              </a:r>
            </a:p>
          </p:txBody>
        </p:sp>
        <p:sp>
          <p:nvSpPr>
            <p:cNvPr id="31" name="tx31"/>
            <p:cNvSpPr/>
            <p:nvPr/>
          </p:nvSpPr>
          <p:spPr>
            <a:xfrm>
              <a:off x="3966790" y="4868033"/>
              <a:ext cx="2572115" cy="113659"/>
            </a:xfrm>
            <a:prstGeom prst="rect">
              <a:avLst/>
            </a:prstGeom>
            <a:noFill/>
          </p:spPr>
          <p:txBody>
            <a:bodyPr lIns="0" rIns="0" tIns="0" bIns="0" anchorCtr="1" anchor="ctr" wrap="none"/>
            <a:lstStyle/>
            <a:p>
              <a:pPr algn="l" marL="0" marR="0" indent="0">
                <a:spcBef>
                  <a:spcPts val="0"/>
                </a:spcBef>
                <a:spcAft>
                  <a:spcPts val="0"/>
                </a:spcAft>
              </a:pPr>
              <a:r>
                <a:rPr sz="1300" i="0" b="0">
                  <a:solidFill>
                    <a:srgbClr val="000000">
                      <a:alpha val="100000"/>
                    </a:srgbClr>
                  </a:solidFill>
                  <a:latin typeface="Liberation Sans"/>
                  <a:cs typeface="Liberation Sans"/>
                </a:rPr>
                <a:t>Time since randomisation (months)</a:t>
              </a:r>
            </a:p>
          </p:txBody>
        </p:sp>
        <p:sp>
          <p:nvSpPr>
            <p:cNvPr id="32" name="tx32"/>
            <p:cNvSpPr/>
            <p:nvPr/>
          </p:nvSpPr>
          <p:spPr>
            <a:xfrm rot="-5400000">
              <a:off x="-556464" y="2358604"/>
              <a:ext cx="1871868" cy="113659"/>
            </a:xfrm>
            <a:prstGeom prst="rect">
              <a:avLst/>
            </a:prstGeom>
            <a:noFill/>
          </p:spPr>
          <p:txBody>
            <a:bodyPr lIns="0" rIns="0" tIns="0" bIns="0" anchorCtr="1" anchor="ctr" wrap="none"/>
            <a:lstStyle/>
            <a:p>
              <a:pPr algn="l" marL="0" marR="0" indent="0">
                <a:spcBef>
                  <a:spcPts val="0"/>
                </a:spcBef>
                <a:spcAft>
                  <a:spcPts val="0"/>
                </a:spcAft>
              </a:pPr>
              <a:r>
                <a:rPr sz="1300" i="0" b="0">
                  <a:solidFill>
                    <a:srgbClr val="000000">
                      <a:alpha val="100000"/>
                    </a:srgbClr>
                  </a:solidFill>
                  <a:latin typeface="Liberation Sans"/>
                  <a:cs typeface="Liberation Sans"/>
                </a:rPr>
                <a:t>Cumulative incidence (%)</a:t>
              </a:r>
            </a:p>
          </p:txBody>
        </p:sp>
        <p:sp>
          <p:nvSpPr>
            <p:cNvPr id="33" name="rc33"/>
            <p:cNvSpPr/>
            <p:nvPr/>
          </p:nvSpPr>
          <p:spPr>
            <a:xfrm>
              <a:off x="6109291" y="551205"/>
              <a:ext cx="2680675" cy="659905"/>
            </a:xfrm>
            <a:prstGeom prst="rect">
              <a:avLst/>
            </a:prstGeom>
            <a:solidFill>
              <a:srgbClr val="FFFFFF">
                <a:alpha val="100000"/>
              </a:srgbClr>
            </a:solidFill>
          </p:spPr>
          <p:txBody>
            <a:bodyPr/>
            <a:lstStyle/>
            <a:p/>
          </p:txBody>
        </p:sp>
        <p:sp>
          <p:nvSpPr>
            <p:cNvPr id="34" name="rc34"/>
            <p:cNvSpPr/>
            <p:nvPr/>
          </p:nvSpPr>
          <p:spPr>
            <a:xfrm>
              <a:off x="6191532" y="633447"/>
              <a:ext cx="360000" cy="219456"/>
            </a:xfrm>
            <a:prstGeom prst="rect">
              <a:avLst/>
            </a:prstGeom>
            <a:solidFill>
              <a:srgbClr val="FFFFFF">
                <a:alpha val="100000"/>
              </a:srgbClr>
            </a:solidFill>
          </p:spPr>
          <p:txBody>
            <a:bodyPr/>
            <a:lstStyle/>
            <a:p/>
          </p:txBody>
        </p:sp>
        <p:sp>
          <p:nvSpPr>
            <p:cNvPr id="35" name="pl35"/>
            <p:cNvSpPr/>
            <p:nvPr/>
          </p:nvSpPr>
          <p:spPr>
            <a:xfrm>
              <a:off x="6227532" y="743175"/>
              <a:ext cx="288000" cy="0"/>
            </a:xfrm>
            <a:custGeom>
              <a:avLst/>
              <a:pathLst>
                <a:path w="288000" h="0">
                  <a:moveTo>
                    <a:pt x="0" y="0"/>
                  </a:moveTo>
                  <a:lnTo>
                    <a:pt x="288000" y="0"/>
                  </a:lnTo>
                </a:path>
              </a:pathLst>
            </a:custGeom>
            <a:ln w="24391" cap="flat">
              <a:solidFill>
                <a:srgbClr val="0099B5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36" name="rc36"/>
            <p:cNvSpPr/>
            <p:nvPr/>
          </p:nvSpPr>
          <p:spPr>
            <a:xfrm>
              <a:off x="6191532" y="852903"/>
              <a:ext cx="360000" cy="275965"/>
            </a:xfrm>
            <a:prstGeom prst="rect">
              <a:avLst/>
            </a:prstGeom>
            <a:solidFill>
              <a:srgbClr val="FFFFFF">
                <a:alpha val="100000"/>
              </a:srgbClr>
            </a:solidFill>
          </p:spPr>
          <p:txBody>
            <a:bodyPr/>
            <a:lstStyle/>
            <a:p/>
          </p:txBody>
        </p:sp>
        <p:sp>
          <p:nvSpPr>
            <p:cNvPr id="37" name="pl37"/>
            <p:cNvSpPr/>
            <p:nvPr/>
          </p:nvSpPr>
          <p:spPr>
            <a:xfrm>
              <a:off x="6227532" y="990886"/>
              <a:ext cx="288000" cy="0"/>
            </a:xfrm>
            <a:custGeom>
              <a:avLst/>
              <a:pathLst>
                <a:path w="288000" h="0">
                  <a:moveTo>
                    <a:pt x="0" y="0"/>
                  </a:moveTo>
                  <a:lnTo>
                    <a:pt x="288000" y="0"/>
                  </a:lnTo>
                </a:path>
              </a:pathLst>
            </a:custGeom>
            <a:ln w="24391" cap="flat">
              <a:solidFill>
                <a:srgbClr val="A50034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38" name="tx38"/>
            <p:cNvSpPr/>
            <p:nvPr/>
          </p:nvSpPr>
          <p:spPr>
            <a:xfrm>
              <a:off x="6633774" y="695123"/>
              <a:ext cx="2073950" cy="96103"/>
            </a:xfrm>
            <a:prstGeom prst="rect">
              <a:avLst/>
            </a:prstGeom>
            <a:noFill/>
          </p:spPr>
          <p:txBody>
            <a:bodyPr lIns="0" rIns="0" tIns="0" bIns="0" anchorCtr="1" anchor="ctr" wrap="none"/>
            <a:lstStyle/>
            <a:p>
              <a:pPr algn="l" marL="0" marR="0" indent="0">
                <a:spcBef>
                  <a:spcPts val="0"/>
                </a:spcBef>
                <a:spcAft>
                  <a:spcPts val="0"/>
                </a:spcAft>
              </a:pPr>
              <a:r>
                <a:rPr sz="1100" i="0" b="0">
                  <a:solidFill>
                    <a:srgbClr val="000000">
                      <a:alpha val="100000"/>
                    </a:srgbClr>
                  </a:solidFill>
                  <a:latin typeface="Liberation Sans"/>
                  <a:cs typeface="Liberation Sans"/>
                </a:rPr>
                <a:t>High-intensity statin monotherapy</a:t>
              </a:r>
            </a:p>
          </p:txBody>
        </p:sp>
        <p:sp>
          <p:nvSpPr>
            <p:cNvPr id="39" name="tx39"/>
            <p:cNvSpPr/>
            <p:nvPr/>
          </p:nvSpPr>
          <p:spPr>
            <a:xfrm>
              <a:off x="6633774" y="867396"/>
              <a:ext cx="1809780" cy="96103"/>
            </a:xfrm>
            <a:prstGeom prst="rect">
              <a:avLst/>
            </a:prstGeom>
            <a:noFill/>
          </p:spPr>
          <p:txBody>
            <a:bodyPr lIns="0" rIns="0" tIns="0" bIns="0" anchorCtr="1" anchor="ctr" wrap="none"/>
            <a:lstStyle/>
            <a:p>
              <a:pPr algn="l" marL="0" marR="0" indent="0">
                <a:spcBef>
                  <a:spcPts val="0"/>
                </a:spcBef>
                <a:spcAft>
                  <a:spcPts val="0"/>
                </a:spcAft>
              </a:pPr>
              <a:r>
                <a:rPr sz="1100" i="0" b="0">
                  <a:solidFill>
                    <a:srgbClr val="000000">
                      <a:alpha val="100000"/>
                    </a:srgbClr>
                  </a:solidFill>
                  <a:latin typeface="Liberation Sans"/>
                  <a:cs typeface="Liberation Sans"/>
                </a:rPr>
                <a:t>Moderate-intensity statin with</a:t>
              </a:r>
            </a:p>
          </p:txBody>
        </p:sp>
        <p:sp>
          <p:nvSpPr>
            <p:cNvPr id="40" name="tx40"/>
            <p:cNvSpPr/>
            <p:nvPr/>
          </p:nvSpPr>
          <p:spPr>
            <a:xfrm>
              <a:off x="6633774" y="1018272"/>
              <a:ext cx="1895368" cy="96103"/>
            </a:xfrm>
            <a:prstGeom prst="rect">
              <a:avLst/>
            </a:prstGeom>
            <a:noFill/>
          </p:spPr>
          <p:txBody>
            <a:bodyPr lIns="0" rIns="0" tIns="0" bIns="0" anchorCtr="1" anchor="ctr" wrap="none"/>
            <a:lstStyle/>
            <a:p>
              <a:pPr algn="l" marL="0" marR="0" indent="0">
                <a:spcBef>
                  <a:spcPts val="0"/>
                </a:spcBef>
                <a:spcAft>
                  <a:spcPts val="0"/>
                </a:spcAft>
              </a:pPr>
              <a:r>
                <a:rPr sz="1100" i="0" b="0">
                  <a:solidFill>
                    <a:srgbClr val="000000">
                      <a:alpha val="100000"/>
                    </a:srgbClr>
                  </a:solidFill>
                  <a:latin typeface="Liberation Sans"/>
                  <a:cs typeface="Liberation Sans"/>
                </a:rPr>
                <a:t>ezetimibe combination therapy</a:t>
              </a:r>
            </a:p>
          </p:txBody>
        </p:sp>
        <p:sp>
          <p:nvSpPr>
            <p:cNvPr id="41" name="tx41"/>
            <p:cNvSpPr/>
            <p:nvPr/>
          </p:nvSpPr>
          <p:spPr>
            <a:xfrm>
              <a:off x="1693514" y="5831094"/>
              <a:ext cx="321503" cy="99395"/>
            </a:xfrm>
            <a:prstGeom prst="rect">
              <a:avLst/>
            </a:prstGeom>
            <a:noFill/>
          </p:spPr>
          <p:txBody>
            <a:bodyPr lIns="0" rIns="0" tIns="0" bIns="0" anchorCtr="1" anchor="ctr" wrap="none"/>
            <a:lstStyle/>
            <a:p>
              <a:pPr algn="l" marL="0" marR="0" indent="0">
                <a:spcBef>
                  <a:spcPts val="0"/>
                </a:spcBef>
                <a:spcAft>
                  <a:spcPts val="0"/>
                </a:spcAft>
              </a:pPr>
              <a:r>
                <a:rPr sz="1138" i="0" b="0">
                  <a:solidFill>
                    <a:srgbClr val="000000">
                      <a:alpha val="100000"/>
                    </a:srgbClr>
                  </a:solidFill>
                  <a:latin typeface="Liberation Sans"/>
                  <a:cs typeface="Liberation Sans"/>
                </a:rPr>
                <a:t>1894</a:t>
              </a:r>
            </a:p>
          </p:txBody>
        </p:sp>
        <p:sp>
          <p:nvSpPr>
            <p:cNvPr id="42" name="tx42"/>
            <p:cNvSpPr/>
            <p:nvPr/>
          </p:nvSpPr>
          <p:spPr>
            <a:xfrm>
              <a:off x="3959236" y="5831094"/>
              <a:ext cx="321503" cy="99395"/>
            </a:xfrm>
            <a:prstGeom prst="rect">
              <a:avLst/>
            </a:prstGeom>
            <a:noFill/>
          </p:spPr>
          <p:txBody>
            <a:bodyPr lIns="0" rIns="0" tIns="0" bIns="0" anchorCtr="1" anchor="ctr" wrap="none"/>
            <a:lstStyle/>
            <a:p>
              <a:pPr algn="l" marL="0" marR="0" indent="0">
                <a:spcBef>
                  <a:spcPts val="0"/>
                </a:spcBef>
                <a:spcAft>
                  <a:spcPts val="0"/>
                </a:spcAft>
              </a:pPr>
              <a:r>
                <a:rPr sz="1138" i="0" b="0">
                  <a:solidFill>
                    <a:srgbClr val="000000">
                      <a:alpha val="100000"/>
                    </a:srgbClr>
                  </a:solidFill>
                  <a:latin typeface="Liberation Sans"/>
                  <a:cs typeface="Liberation Sans"/>
                </a:rPr>
                <a:t>1796</a:t>
              </a:r>
            </a:p>
          </p:txBody>
        </p:sp>
        <p:sp>
          <p:nvSpPr>
            <p:cNvPr id="43" name="tx43"/>
            <p:cNvSpPr/>
            <p:nvPr/>
          </p:nvSpPr>
          <p:spPr>
            <a:xfrm>
              <a:off x="6224957" y="5831094"/>
              <a:ext cx="321503" cy="99395"/>
            </a:xfrm>
            <a:prstGeom prst="rect">
              <a:avLst/>
            </a:prstGeom>
            <a:noFill/>
          </p:spPr>
          <p:txBody>
            <a:bodyPr lIns="0" rIns="0" tIns="0" bIns="0" anchorCtr="1" anchor="ctr" wrap="none"/>
            <a:lstStyle/>
            <a:p>
              <a:pPr algn="l" marL="0" marR="0" indent="0">
                <a:spcBef>
                  <a:spcPts val="0"/>
                </a:spcBef>
                <a:spcAft>
                  <a:spcPts val="0"/>
                </a:spcAft>
              </a:pPr>
              <a:r>
                <a:rPr sz="1138" i="0" b="0">
                  <a:solidFill>
                    <a:srgbClr val="000000">
                      <a:alpha val="100000"/>
                    </a:srgbClr>
                  </a:solidFill>
                  <a:latin typeface="Liberation Sans"/>
                  <a:cs typeface="Liberation Sans"/>
                </a:rPr>
                <a:t>1725</a:t>
              </a:r>
            </a:p>
          </p:txBody>
        </p:sp>
        <p:sp>
          <p:nvSpPr>
            <p:cNvPr id="44" name="tx44"/>
            <p:cNvSpPr/>
            <p:nvPr/>
          </p:nvSpPr>
          <p:spPr>
            <a:xfrm>
              <a:off x="8490679" y="5831094"/>
              <a:ext cx="321503" cy="99395"/>
            </a:xfrm>
            <a:prstGeom prst="rect">
              <a:avLst/>
            </a:prstGeom>
            <a:noFill/>
          </p:spPr>
          <p:txBody>
            <a:bodyPr lIns="0" rIns="0" tIns="0" bIns="0" anchorCtr="1" anchor="ctr" wrap="none"/>
            <a:lstStyle/>
            <a:p>
              <a:pPr algn="l" marL="0" marR="0" indent="0">
                <a:spcBef>
                  <a:spcPts val="0"/>
                </a:spcBef>
                <a:spcAft>
                  <a:spcPts val="0"/>
                </a:spcAft>
              </a:pPr>
              <a:r>
                <a:rPr sz="1138" i="0" b="0">
                  <a:solidFill>
                    <a:srgbClr val="000000">
                      <a:alpha val="100000"/>
                    </a:srgbClr>
                  </a:solidFill>
                  <a:latin typeface="Liberation Sans"/>
                  <a:cs typeface="Liberation Sans"/>
                </a:rPr>
                <a:t>1656</a:t>
              </a:r>
            </a:p>
          </p:txBody>
        </p:sp>
        <p:sp>
          <p:nvSpPr>
            <p:cNvPr id="45" name="tx45"/>
            <p:cNvSpPr/>
            <p:nvPr/>
          </p:nvSpPr>
          <p:spPr>
            <a:xfrm>
              <a:off x="1693514" y="5392493"/>
              <a:ext cx="321503" cy="99395"/>
            </a:xfrm>
            <a:prstGeom prst="rect">
              <a:avLst/>
            </a:prstGeom>
            <a:noFill/>
          </p:spPr>
          <p:txBody>
            <a:bodyPr lIns="0" rIns="0" tIns="0" bIns="0" anchorCtr="1" anchor="ctr" wrap="none"/>
            <a:lstStyle/>
            <a:p>
              <a:pPr algn="l" marL="0" marR="0" indent="0">
                <a:spcBef>
                  <a:spcPts val="0"/>
                </a:spcBef>
                <a:spcAft>
                  <a:spcPts val="0"/>
                </a:spcAft>
              </a:pPr>
              <a:r>
                <a:rPr sz="1138" i="0" b="0">
                  <a:solidFill>
                    <a:srgbClr val="000000">
                      <a:alpha val="100000"/>
                    </a:srgbClr>
                  </a:solidFill>
                  <a:latin typeface="Liberation Sans"/>
                  <a:cs typeface="Liberation Sans"/>
                </a:rPr>
                <a:t>1886</a:t>
              </a:r>
            </a:p>
          </p:txBody>
        </p:sp>
        <p:sp>
          <p:nvSpPr>
            <p:cNvPr id="46" name="tx46"/>
            <p:cNvSpPr/>
            <p:nvPr/>
          </p:nvSpPr>
          <p:spPr>
            <a:xfrm>
              <a:off x="3959236" y="5392493"/>
              <a:ext cx="321503" cy="99395"/>
            </a:xfrm>
            <a:prstGeom prst="rect">
              <a:avLst/>
            </a:prstGeom>
            <a:noFill/>
          </p:spPr>
          <p:txBody>
            <a:bodyPr lIns="0" rIns="0" tIns="0" bIns="0" anchorCtr="1" anchor="ctr" wrap="none"/>
            <a:lstStyle/>
            <a:p>
              <a:pPr algn="l" marL="0" marR="0" indent="0">
                <a:spcBef>
                  <a:spcPts val="0"/>
                </a:spcBef>
                <a:spcAft>
                  <a:spcPts val="0"/>
                </a:spcAft>
              </a:pPr>
              <a:r>
                <a:rPr sz="1138" i="0" b="0">
                  <a:solidFill>
                    <a:srgbClr val="000000">
                      <a:alpha val="100000"/>
                    </a:srgbClr>
                  </a:solidFill>
                  <a:latin typeface="Liberation Sans"/>
                  <a:cs typeface="Liberation Sans"/>
                </a:rPr>
                <a:t>1791</a:t>
              </a:r>
            </a:p>
          </p:txBody>
        </p:sp>
        <p:sp>
          <p:nvSpPr>
            <p:cNvPr id="47" name="tx47"/>
            <p:cNvSpPr/>
            <p:nvPr/>
          </p:nvSpPr>
          <p:spPr>
            <a:xfrm>
              <a:off x="6230307" y="5392493"/>
              <a:ext cx="310804" cy="99395"/>
            </a:xfrm>
            <a:prstGeom prst="rect">
              <a:avLst/>
            </a:prstGeom>
            <a:noFill/>
          </p:spPr>
          <p:txBody>
            <a:bodyPr lIns="0" rIns="0" tIns="0" bIns="0" anchorCtr="1" anchor="ctr" wrap="none"/>
            <a:lstStyle/>
            <a:p>
              <a:pPr algn="l" marL="0" marR="0" indent="0">
                <a:spcBef>
                  <a:spcPts val="0"/>
                </a:spcBef>
                <a:spcAft>
                  <a:spcPts val="0"/>
                </a:spcAft>
              </a:pPr>
              <a:r>
                <a:rPr sz="1138" i="0" b="0">
                  <a:solidFill>
                    <a:srgbClr val="000000">
                      <a:alpha val="100000"/>
                    </a:srgbClr>
                  </a:solidFill>
                  <a:latin typeface="Liberation Sans"/>
                  <a:cs typeface="Liberation Sans"/>
                </a:rPr>
                <a:t>1711</a:t>
              </a:r>
            </a:p>
          </p:txBody>
        </p:sp>
        <p:sp>
          <p:nvSpPr>
            <p:cNvPr id="48" name="tx48"/>
            <p:cNvSpPr/>
            <p:nvPr/>
          </p:nvSpPr>
          <p:spPr>
            <a:xfrm>
              <a:off x="8490679" y="5392493"/>
              <a:ext cx="321503" cy="99395"/>
            </a:xfrm>
            <a:prstGeom prst="rect">
              <a:avLst/>
            </a:prstGeom>
            <a:noFill/>
          </p:spPr>
          <p:txBody>
            <a:bodyPr lIns="0" rIns="0" tIns="0" bIns="0" anchorCtr="1" anchor="ctr" wrap="none"/>
            <a:lstStyle/>
            <a:p>
              <a:pPr algn="l" marL="0" marR="0" indent="0">
                <a:spcBef>
                  <a:spcPts val="0"/>
                </a:spcBef>
                <a:spcAft>
                  <a:spcPts val="0"/>
                </a:spcAft>
              </a:pPr>
              <a:r>
                <a:rPr sz="1138" i="0" b="0">
                  <a:solidFill>
                    <a:srgbClr val="000000">
                      <a:alpha val="100000"/>
                    </a:srgbClr>
                  </a:solidFill>
                  <a:latin typeface="Liberation Sans"/>
                  <a:cs typeface="Liberation Sans"/>
                </a:rPr>
                <a:t>1640</a:t>
              </a:r>
            </a:p>
          </p:txBody>
        </p:sp>
        <p:sp>
          <p:nvSpPr>
            <p:cNvPr id="49" name="tx49"/>
            <p:cNvSpPr/>
            <p:nvPr/>
          </p:nvSpPr>
          <p:spPr>
            <a:xfrm>
              <a:off x="511710" y="5837083"/>
              <a:ext cx="1172626" cy="87416"/>
            </a:xfrm>
            <a:prstGeom prst="rect">
              <a:avLst/>
            </a:prstGeom>
            <a:noFill/>
          </p:spPr>
          <p:txBody>
            <a:bodyPr lIns="0" rIns="0" tIns="0" bIns="0" anchorCtr="1" anchor="ctr" wrap="none"/>
            <a:lstStyle/>
            <a:p>
              <a:pPr algn="l" marL="0" marR="0" indent="0">
                <a:spcBef>
                  <a:spcPts val="0"/>
                </a:spcBef>
                <a:spcAft>
                  <a:spcPts val="0"/>
                </a:spcAft>
              </a:pPr>
              <a:r>
                <a:rPr sz="1000" i="0" b="0">
                  <a:solidFill>
                    <a:srgbClr val="000000">
                      <a:alpha val="100000"/>
                    </a:srgbClr>
                  </a:solidFill>
                  <a:latin typeface="Liberation Sans"/>
                  <a:cs typeface="Liberation Sans"/>
                </a:rPr>
                <a:t>Combination therapy</a:t>
              </a:r>
            </a:p>
          </p:txBody>
        </p:sp>
        <p:sp>
          <p:nvSpPr>
            <p:cNvPr id="50" name="tx50"/>
            <p:cNvSpPr/>
            <p:nvPr/>
          </p:nvSpPr>
          <p:spPr>
            <a:xfrm>
              <a:off x="942576" y="5398483"/>
              <a:ext cx="741761" cy="87416"/>
            </a:xfrm>
            <a:prstGeom prst="rect">
              <a:avLst/>
            </a:prstGeom>
            <a:noFill/>
          </p:spPr>
          <p:txBody>
            <a:bodyPr lIns="0" rIns="0" tIns="0" bIns="0" anchorCtr="1" anchor="ctr" wrap="none"/>
            <a:lstStyle/>
            <a:p>
              <a:pPr algn="l" marL="0" marR="0" indent="0">
                <a:spcBef>
                  <a:spcPts val="0"/>
                </a:spcBef>
                <a:spcAft>
                  <a:spcPts val="0"/>
                </a:spcAft>
              </a:pPr>
              <a:r>
                <a:rPr sz="1000" i="0" b="0">
                  <a:solidFill>
                    <a:srgbClr val="000000">
                      <a:alpha val="100000"/>
                    </a:srgbClr>
                  </a:solidFill>
                  <a:latin typeface="Liberation Sans"/>
                  <a:cs typeface="Liberation Sans"/>
                </a:rPr>
                <a:t>Monotherapy</a:t>
              </a:r>
            </a:p>
          </p:txBody>
        </p:sp>
        <p:sp>
          <p:nvSpPr>
            <p:cNvPr id="51" name="tx51"/>
            <p:cNvSpPr/>
            <p:nvPr/>
          </p:nvSpPr>
          <p:spPr>
            <a:xfrm>
              <a:off x="1818924" y="6157119"/>
              <a:ext cx="70683" cy="87416"/>
            </a:xfrm>
            <a:prstGeom prst="rect">
              <a:avLst/>
            </a:prstGeom>
            <a:noFill/>
          </p:spPr>
          <p:txBody>
            <a:bodyPr lIns="0" rIns="0" tIns="0" bIns="0" anchorCtr="1" anchor="ctr" wrap="none"/>
            <a:lstStyle/>
            <a:p>
              <a:pPr algn="l" marL="0" marR="0" indent="0">
                <a:spcBef>
                  <a:spcPts val="0"/>
                </a:spcBef>
                <a:spcAft>
                  <a:spcPts val="0"/>
                </a:spcAft>
              </a:pPr>
              <a:r>
                <a:rPr sz="1000" i="0" b="0">
                  <a:solidFill>
                    <a:srgbClr val="000000">
                      <a:alpha val="100000"/>
                    </a:srgbClr>
                  </a:solidFill>
                  <a:latin typeface="Liberation Sans"/>
                  <a:cs typeface="Liberation Sans"/>
                </a:rPr>
                <a:t>0</a:t>
              </a:r>
            </a:p>
          </p:txBody>
        </p:sp>
        <p:sp>
          <p:nvSpPr>
            <p:cNvPr id="52" name="tx52"/>
            <p:cNvSpPr/>
            <p:nvPr/>
          </p:nvSpPr>
          <p:spPr>
            <a:xfrm>
              <a:off x="4049304" y="6157119"/>
              <a:ext cx="141366" cy="87416"/>
            </a:xfrm>
            <a:prstGeom prst="rect">
              <a:avLst/>
            </a:prstGeom>
            <a:noFill/>
          </p:spPr>
          <p:txBody>
            <a:bodyPr lIns="0" rIns="0" tIns="0" bIns="0" anchorCtr="1" anchor="ctr" wrap="none"/>
            <a:lstStyle/>
            <a:p>
              <a:pPr algn="l" marL="0" marR="0" indent="0">
                <a:spcBef>
                  <a:spcPts val="0"/>
                </a:spcBef>
                <a:spcAft>
                  <a:spcPts val="0"/>
                </a:spcAft>
              </a:pPr>
              <a:r>
                <a:rPr sz="1000" i="0" b="0">
                  <a:solidFill>
                    <a:srgbClr val="000000">
                      <a:alpha val="100000"/>
                    </a:srgbClr>
                  </a:solidFill>
                  <a:latin typeface="Liberation Sans"/>
                  <a:cs typeface="Liberation Sans"/>
                </a:rPr>
                <a:t>12</a:t>
              </a:r>
            </a:p>
          </p:txBody>
        </p:sp>
        <p:sp>
          <p:nvSpPr>
            <p:cNvPr id="53" name="tx53"/>
            <p:cNvSpPr/>
            <p:nvPr/>
          </p:nvSpPr>
          <p:spPr>
            <a:xfrm>
              <a:off x="6315026" y="6157119"/>
              <a:ext cx="141366" cy="87416"/>
            </a:xfrm>
            <a:prstGeom prst="rect">
              <a:avLst/>
            </a:prstGeom>
            <a:noFill/>
          </p:spPr>
          <p:txBody>
            <a:bodyPr lIns="0" rIns="0" tIns="0" bIns="0" anchorCtr="1" anchor="ctr" wrap="none"/>
            <a:lstStyle/>
            <a:p>
              <a:pPr algn="l" marL="0" marR="0" indent="0">
                <a:spcBef>
                  <a:spcPts val="0"/>
                </a:spcBef>
                <a:spcAft>
                  <a:spcPts val="0"/>
                </a:spcAft>
              </a:pPr>
              <a:r>
                <a:rPr sz="1000" i="0" b="0">
                  <a:solidFill>
                    <a:srgbClr val="000000">
                      <a:alpha val="100000"/>
                    </a:srgbClr>
                  </a:solidFill>
                  <a:latin typeface="Liberation Sans"/>
                  <a:cs typeface="Liberation Sans"/>
                </a:rPr>
                <a:t>24</a:t>
              </a:r>
            </a:p>
          </p:txBody>
        </p:sp>
        <p:sp>
          <p:nvSpPr>
            <p:cNvPr id="54" name="tx54"/>
            <p:cNvSpPr/>
            <p:nvPr/>
          </p:nvSpPr>
          <p:spPr>
            <a:xfrm>
              <a:off x="8580747" y="6157119"/>
              <a:ext cx="141366" cy="87416"/>
            </a:xfrm>
            <a:prstGeom prst="rect">
              <a:avLst/>
            </a:prstGeom>
            <a:noFill/>
          </p:spPr>
          <p:txBody>
            <a:bodyPr lIns="0" rIns="0" tIns="0" bIns="0" anchorCtr="1" anchor="ctr" wrap="none"/>
            <a:lstStyle/>
            <a:p>
              <a:pPr algn="l" marL="0" marR="0" indent="0">
                <a:spcBef>
                  <a:spcPts val="0"/>
                </a:spcBef>
                <a:spcAft>
                  <a:spcPts val="0"/>
                </a:spcAft>
              </a:pPr>
              <a:r>
                <a:rPr sz="1000" i="0" b="0">
                  <a:solidFill>
                    <a:srgbClr val="000000">
                      <a:alpha val="100000"/>
                    </a:srgbClr>
                  </a:solidFill>
                  <a:latin typeface="Liberation Sans"/>
                  <a:cs typeface="Liberation Sans"/>
                </a:rPr>
                <a:t>36</a:t>
              </a:r>
            </a:p>
          </p:txBody>
        </p:sp>
        <p:sp>
          <p:nvSpPr>
            <p:cNvPr id="55" name="tx55"/>
            <p:cNvSpPr/>
            <p:nvPr/>
          </p:nvSpPr>
          <p:spPr>
            <a:xfrm>
              <a:off x="1684337" y="5015983"/>
              <a:ext cx="978590" cy="96103"/>
            </a:xfrm>
            <a:prstGeom prst="rect">
              <a:avLst/>
            </a:prstGeom>
            <a:noFill/>
          </p:spPr>
          <p:txBody>
            <a:bodyPr lIns="0" rIns="0" tIns="0" bIns="0" anchorCtr="1" anchor="ctr" wrap="none"/>
            <a:lstStyle/>
            <a:p>
              <a:pPr algn="l" marL="0" marR="0" indent="0">
                <a:spcBef>
                  <a:spcPts val="0"/>
                </a:spcBef>
                <a:spcAft>
                  <a:spcPts val="0"/>
                </a:spcAft>
              </a:pPr>
              <a:r>
                <a:rPr sz="1100" i="0" b="1">
                  <a:solidFill>
                    <a:srgbClr val="000000">
                      <a:alpha val="100000"/>
                    </a:srgbClr>
                  </a:solidFill>
                  <a:latin typeface="Liberation Sans"/>
                  <a:cs typeface="Liberation Sans"/>
                </a:rPr>
                <a:t>Number at risk</a:t>
              </a:r>
            </a:p>
          </p:txBody>
        </p:sp>
        <p:sp>
          <p:nvSpPr>
            <p:cNvPr id="56" name="tx56"/>
            <p:cNvSpPr/>
            <p:nvPr/>
          </p:nvSpPr>
          <p:spPr>
            <a:xfrm>
              <a:off x="2008747" y="6281827"/>
              <a:ext cx="5837529" cy="94366"/>
            </a:xfrm>
            <a:prstGeom prst="rect">
              <a:avLst/>
            </a:prstGeom>
            <a:noFill/>
          </p:spPr>
          <p:txBody>
            <a:bodyPr lIns="0" rIns="0" tIns="0" bIns="0" anchorCtr="1" anchor="ctr" wrap="none"/>
            <a:lstStyle/>
            <a:p>
              <a:pPr algn="l" marL="0" marR="0" indent="0">
                <a:spcBef>
                  <a:spcPts val="0"/>
                </a:spcBef>
                <a:spcAft>
                  <a:spcPts val="0"/>
                </a:spcAft>
              </a:pPr>
              <a:r>
                <a:rPr sz="1081" i="0" b="1">
                  <a:solidFill>
                    <a:srgbClr val="000000">
                      <a:alpha val="100000"/>
                    </a:srgbClr>
                  </a:solidFill>
                  <a:latin typeface="Liberation Sans"/>
                  <a:cs typeface="Liberation Sans"/>
                </a:rPr>
                <a:t>Figure 2: Kaplan–Meier curves of the primary endpoint in the intention-to-treat population</a:t>
              </a:r>
            </a:p>
          </p:txBody>
        </p:sp>
        <p:sp>
          <p:nvSpPr>
            <p:cNvPr id="57" name="tx57"/>
            <p:cNvSpPr/>
            <p:nvPr/>
          </p:nvSpPr>
          <p:spPr>
            <a:xfrm>
              <a:off x="2008747" y="6479557"/>
              <a:ext cx="4130893" cy="94366"/>
            </a:xfrm>
            <a:prstGeom prst="rect">
              <a:avLst/>
            </a:prstGeom>
            <a:noFill/>
          </p:spPr>
          <p:txBody>
            <a:bodyPr lIns="0" rIns="0" tIns="0" bIns="0" anchorCtr="1" anchor="ctr" wrap="none"/>
            <a:lstStyle/>
            <a:p>
              <a:pPr algn="l" marL="0" marR="0" indent="0">
                <a:spcBef>
                  <a:spcPts val="0"/>
                </a:spcBef>
                <a:spcAft>
                  <a:spcPts val="0"/>
                </a:spcAft>
              </a:pPr>
              <a:r>
                <a:rPr sz="1081" i="0" b="1">
                  <a:solidFill>
                    <a:srgbClr val="000000">
                      <a:alpha val="100000"/>
                    </a:srgbClr>
                  </a:solidFill>
                  <a:latin typeface="Liberation Sans"/>
                  <a:cs typeface="Liberation Sans"/>
                </a:rPr>
                <a:t>Synthetic example data; not original RACING patient-level data.</a:t>
              </a:r>
            </a:p>
          </p:txBody>
        </p:sp>
      </p:grp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 xmlns:pic="http://schemas.openxmlformats.org/drawingml/2006/picture">
        <p:nvGrpSpPr>
          <p:cNvPr id="2" name=""/>
          <p:cNvGrpSpPr/>
          <p:nvPr/>
        </p:nvGrpSpPr>
        <p:grpSpPr>
          <a:xfrm rot="0">
            <a:off x="0" y="0"/>
            <a:ext cx="9144000" cy="6858000"/>
            <a:chOff x="0" y="0"/>
            <a:chExt cx="9144000" cy="6858000"/>
          </a:xfrm>
        </p:grpSpPr>
        <p:sp>
          <p:nvSpPr>
            <p:cNvPr id="3" name="rc3"/>
            <p:cNvSpPr/>
            <p:nvPr/>
          </p:nvSpPr>
          <p:spPr>
            <a:xfrm>
              <a:off x="0" y="0"/>
              <a:ext cx="9144000" cy="6858000"/>
            </a:xfrm>
            <a:prstGeom prst="rect">
              <a:avLst/>
            </a:prstGeom>
            <a:solidFill>
              <a:srgbClr val="FFFFFF">
                <a:alpha val="100000"/>
              </a:srgbClr>
            </a:solidFill>
            <a:ln w="9525" cap="rnd">
              <a:solidFill>
                <a:srgbClr val="FFFFFF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4" name="rc4"/>
            <p:cNvSpPr/>
            <p:nvPr/>
          </p:nvSpPr>
          <p:spPr>
            <a:xfrm>
              <a:off x="936390" y="0"/>
              <a:ext cx="1839205" cy="177841"/>
            </a:xfrm>
            <a:prstGeom prst="rect">
              <a:avLst/>
            </a:prstGeom>
            <a:solidFill>
              <a:srgbClr val="FFFFFF">
                <a:alpha val="100000"/>
              </a:srgbClr>
            </a:solidFill>
          </p:spPr>
          <p:txBody>
            <a:bodyPr/>
            <a:lstStyle/>
            <a:p/>
          </p:txBody>
        </p:sp>
        <p:sp>
          <p:nvSpPr>
            <p:cNvPr id="5" name="rc5"/>
            <p:cNvSpPr/>
            <p:nvPr/>
          </p:nvSpPr>
          <p:spPr>
            <a:xfrm>
              <a:off x="2775596" y="0"/>
              <a:ext cx="1414192" cy="177841"/>
            </a:xfrm>
            <a:prstGeom prst="rect">
              <a:avLst/>
            </a:prstGeom>
            <a:solidFill>
              <a:srgbClr val="FFFFFF">
                <a:alpha val="100000"/>
              </a:srgbClr>
            </a:solidFill>
          </p:spPr>
          <p:txBody>
            <a:bodyPr/>
            <a:lstStyle/>
            <a:p/>
          </p:txBody>
        </p:sp>
        <p:sp>
          <p:nvSpPr>
            <p:cNvPr id="6" name="rc6"/>
            <p:cNvSpPr/>
            <p:nvPr/>
          </p:nvSpPr>
          <p:spPr>
            <a:xfrm>
              <a:off x="4189789" y="0"/>
              <a:ext cx="1160263" cy="177841"/>
            </a:xfrm>
            <a:prstGeom prst="rect">
              <a:avLst/>
            </a:prstGeom>
            <a:solidFill>
              <a:srgbClr val="FFFFFF">
                <a:alpha val="100000"/>
              </a:srgbClr>
            </a:solidFill>
          </p:spPr>
          <p:txBody>
            <a:bodyPr/>
            <a:lstStyle/>
            <a:p/>
          </p:txBody>
        </p:sp>
        <p:sp>
          <p:nvSpPr>
            <p:cNvPr id="7" name="rc7"/>
            <p:cNvSpPr/>
            <p:nvPr/>
          </p:nvSpPr>
          <p:spPr>
            <a:xfrm>
              <a:off x="5350054" y="0"/>
              <a:ext cx="991099" cy="177841"/>
            </a:xfrm>
            <a:prstGeom prst="rect">
              <a:avLst/>
            </a:prstGeom>
            <a:solidFill>
              <a:srgbClr val="FFFFFF">
                <a:alpha val="100000"/>
              </a:srgbClr>
            </a:solidFill>
          </p:spPr>
          <p:txBody>
            <a:bodyPr/>
            <a:lstStyle/>
            <a:p/>
          </p:txBody>
        </p:sp>
        <p:sp>
          <p:nvSpPr>
            <p:cNvPr id="8" name="rc8"/>
            <p:cNvSpPr/>
            <p:nvPr/>
          </p:nvSpPr>
          <p:spPr>
            <a:xfrm>
              <a:off x="6341154" y="0"/>
              <a:ext cx="1866454" cy="177841"/>
            </a:xfrm>
            <a:prstGeom prst="rect">
              <a:avLst/>
            </a:prstGeom>
            <a:solidFill>
              <a:srgbClr val="FFFFFF">
                <a:alpha val="100000"/>
              </a:srgbClr>
            </a:solidFill>
          </p:spPr>
          <p:txBody>
            <a:bodyPr/>
            <a:lstStyle/>
            <a:p/>
          </p:txBody>
        </p:sp>
        <p:sp>
          <p:nvSpPr>
            <p:cNvPr id="9" name="rc9"/>
            <p:cNvSpPr/>
            <p:nvPr/>
          </p:nvSpPr>
          <p:spPr>
            <a:xfrm>
              <a:off x="936390" y="177841"/>
              <a:ext cx="1839205" cy="195416"/>
            </a:xfrm>
            <a:prstGeom prst="rect">
              <a:avLst/>
            </a:prstGeom>
            <a:solidFill>
              <a:srgbClr val="EFF3F2">
                <a:alpha val="100000"/>
              </a:srgbClr>
            </a:solidFill>
            <a:ln w="9525" cap="rnd">
              <a:solidFill>
                <a:srgbClr val="EFF3F2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0" name="rc10"/>
            <p:cNvSpPr/>
            <p:nvPr/>
          </p:nvSpPr>
          <p:spPr>
            <a:xfrm>
              <a:off x="936390" y="373258"/>
              <a:ext cx="1839205" cy="195416"/>
            </a:xfrm>
            <a:prstGeom prst="rect">
              <a:avLst/>
            </a:prstGeom>
            <a:solidFill>
              <a:srgbClr val="FFFFFF">
                <a:alpha val="100000"/>
              </a:srgbClr>
            </a:solidFill>
            <a:ln w="9525" cap="rnd">
              <a:solidFill>
                <a:srgbClr val="FFFFFF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1" name="rc11"/>
            <p:cNvSpPr/>
            <p:nvPr/>
          </p:nvSpPr>
          <p:spPr>
            <a:xfrm>
              <a:off x="936390" y="568674"/>
              <a:ext cx="1839205" cy="195416"/>
            </a:xfrm>
            <a:prstGeom prst="rect">
              <a:avLst/>
            </a:prstGeom>
            <a:solidFill>
              <a:srgbClr val="EFF3F2">
                <a:alpha val="100000"/>
              </a:srgbClr>
            </a:solidFill>
            <a:ln w="9525" cap="rnd">
              <a:solidFill>
                <a:srgbClr val="EFF3F2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2" name="rc12"/>
            <p:cNvSpPr/>
            <p:nvPr/>
          </p:nvSpPr>
          <p:spPr>
            <a:xfrm>
              <a:off x="936390" y="764091"/>
              <a:ext cx="1839205" cy="195416"/>
            </a:xfrm>
            <a:prstGeom prst="rect">
              <a:avLst/>
            </a:prstGeom>
            <a:solidFill>
              <a:srgbClr val="FFFFFF">
                <a:alpha val="100000"/>
              </a:srgbClr>
            </a:solidFill>
            <a:ln w="9525" cap="rnd">
              <a:solidFill>
                <a:srgbClr val="FFFFFF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3" name="rc13"/>
            <p:cNvSpPr/>
            <p:nvPr/>
          </p:nvSpPr>
          <p:spPr>
            <a:xfrm>
              <a:off x="936390" y="959508"/>
              <a:ext cx="1839205" cy="195416"/>
            </a:xfrm>
            <a:prstGeom prst="rect">
              <a:avLst/>
            </a:prstGeom>
            <a:solidFill>
              <a:srgbClr val="EFF3F2">
                <a:alpha val="100000"/>
              </a:srgbClr>
            </a:solidFill>
            <a:ln w="9525" cap="rnd">
              <a:solidFill>
                <a:srgbClr val="EFF3F2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4" name="rc14"/>
            <p:cNvSpPr/>
            <p:nvPr/>
          </p:nvSpPr>
          <p:spPr>
            <a:xfrm>
              <a:off x="936390" y="1154924"/>
              <a:ext cx="1839205" cy="195416"/>
            </a:xfrm>
            <a:prstGeom prst="rect">
              <a:avLst/>
            </a:prstGeom>
            <a:solidFill>
              <a:srgbClr val="FFFFFF">
                <a:alpha val="100000"/>
              </a:srgbClr>
            </a:solidFill>
            <a:ln w="9525" cap="rnd">
              <a:solidFill>
                <a:srgbClr val="FFFFFF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5" name="rc15"/>
            <p:cNvSpPr/>
            <p:nvPr/>
          </p:nvSpPr>
          <p:spPr>
            <a:xfrm>
              <a:off x="936390" y="1350341"/>
              <a:ext cx="1839205" cy="195416"/>
            </a:xfrm>
            <a:prstGeom prst="rect">
              <a:avLst/>
            </a:prstGeom>
            <a:solidFill>
              <a:srgbClr val="EFF3F2">
                <a:alpha val="100000"/>
              </a:srgbClr>
            </a:solidFill>
            <a:ln w="9525" cap="rnd">
              <a:solidFill>
                <a:srgbClr val="EFF3F2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6" name="rc16"/>
            <p:cNvSpPr/>
            <p:nvPr/>
          </p:nvSpPr>
          <p:spPr>
            <a:xfrm>
              <a:off x="936390" y="1545758"/>
              <a:ext cx="1839205" cy="195416"/>
            </a:xfrm>
            <a:prstGeom prst="rect">
              <a:avLst/>
            </a:prstGeom>
            <a:solidFill>
              <a:srgbClr val="FFFFFF">
                <a:alpha val="100000"/>
              </a:srgbClr>
            </a:solidFill>
            <a:ln w="9525" cap="rnd">
              <a:solidFill>
                <a:srgbClr val="FFFFFF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7" name="rc17"/>
            <p:cNvSpPr/>
            <p:nvPr/>
          </p:nvSpPr>
          <p:spPr>
            <a:xfrm>
              <a:off x="936390" y="1741174"/>
              <a:ext cx="1839205" cy="195416"/>
            </a:xfrm>
            <a:prstGeom prst="rect">
              <a:avLst/>
            </a:prstGeom>
            <a:solidFill>
              <a:srgbClr val="EFF3F2">
                <a:alpha val="100000"/>
              </a:srgbClr>
            </a:solidFill>
            <a:ln w="9525" cap="rnd">
              <a:solidFill>
                <a:srgbClr val="EFF3F2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8" name="rc18"/>
            <p:cNvSpPr/>
            <p:nvPr/>
          </p:nvSpPr>
          <p:spPr>
            <a:xfrm>
              <a:off x="936390" y="1936591"/>
              <a:ext cx="1839205" cy="195416"/>
            </a:xfrm>
            <a:prstGeom prst="rect">
              <a:avLst/>
            </a:prstGeom>
            <a:solidFill>
              <a:srgbClr val="FFFFFF">
                <a:alpha val="100000"/>
              </a:srgbClr>
            </a:solidFill>
            <a:ln w="9525" cap="rnd">
              <a:solidFill>
                <a:srgbClr val="FFFFFF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9" name="rc19"/>
            <p:cNvSpPr/>
            <p:nvPr/>
          </p:nvSpPr>
          <p:spPr>
            <a:xfrm>
              <a:off x="936390" y="2132008"/>
              <a:ext cx="1839205" cy="195416"/>
            </a:xfrm>
            <a:prstGeom prst="rect">
              <a:avLst/>
            </a:prstGeom>
            <a:solidFill>
              <a:srgbClr val="EFF3F2">
                <a:alpha val="100000"/>
              </a:srgbClr>
            </a:solidFill>
            <a:ln w="9525" cap="rnd">
              <a:solidFill>
                <a:srgbClr val="EFF3F2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0" name="rc20"/>
            <p:cNvSpPr/>
            <p:nvPr/>
          </p:nvSpPr>
          <p:spPr>
            <a:xfrm>
              <a:off x="936390" y="2327424"/>
              <a:ext cx="1839205" cy="195416"/>
            </a:xfrm>
            <a:prstGeom prst="rect">
              <a:avLst/>
            </a:prstGeom>
            <a:solidFill>
              <a:srgbClr val="FFFFFF">
                <a:alpha val="100000"/>
              </a:srgbClr>
            </a:solidFill>
            <a:ln w="9525" cap="rnd">
              <a:solidFill>
                <a:srgbClr val="FFFFFF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1" name="rc21"/>
            <p:cNvSpPr/>
            <p:nvPr/>
          </p:nvSpPr>
          <p:spPr>
            <a:xfrm>
              <a:off x="936390" y="2522841"/>
              <a:ext cx="1839205" cy="195416"/>
            </a:xfrm>
            <a:prstGeom prst="rect">
              <a:avLst/>
            </a:prstGeom>
            <a:solidFill>
              <a:srgbClr val="EFF3F2">
                <a:alpha val="100000"/>
              </a:srgbClr>
            </a:solidFill>
            <a:ln w="9525" cap="rnd">
              <a:solidFill>
                <a:srgbClr val="EFF3F2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2" name="rc22"/>
            <p:cNvSpPr/>
            <p:nvPr/>
          </p:nvSpPr>
          <p:spPr>
            <a:xfrm>
              <a:off x="936390" y="2718258"/>
              <a:ext cx="1839205" cy="195416"/>
            </a:xfrm>
            <a:prstGeom prst="rect">
              <a:avLst/>
            </a:prstGeom>
            <a:solidFill>
              <a:srgbClr val="FFFFFF">
                <a:alpha val="100000"/>
              </a:srgbClr>
            </a:solidFill>
            <a:ln w="9525" cap="rnd">
              <a:solidFill>
                <a:srgbClr val="FFFFFF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3" name="rc23"/>
            <p:cNvSpPr/>
            <p:nvPr/>
          </p:nvSpPr>
          <p:spPr>
            <a:xfrm>
              <a:off x="936390" y="2913674"/>
              <a:ext cx="1839205" cy="195416"/>
            </a:xfrm>
            <a:prstGeom prst="rect">
              <a:avLst/>
            </a:prstGeom>
            <a:solidFill>
              <a:srgbClr val="EFF3F2">
                <a:alpha val="100000"/>
              </a:srgbClr>
            </a:solidFill>
            <a:ln w="9525" cap="rnd">
              <a:solidFill>
                <a:srgbClr val="EFF3F2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4" name="rc24"/>
            <p:cNvSpPr/>
            <p:nvPr/>
          </p:nvSpPr>
          <p:spPr>
            <a:xfrm>
              <a:off x="936390" y="3109091"/>
              <a:ext cx="1839205" cy="195416"/>
            </a:xfrm>
            <a:prstGeom prst="rect">
              <a:avLst/>
            </a:prstGeom>
            <a:solidFill>
              <a:srgbClr val="FFFFFF">
                <a:alpha val="100000"/>
              </a:srgbClr>
            </a:solidFill>
            <a:ln w="9525" cap="rnd">
              <a:solidFill>
                <a:srgbClr val="FFFFFF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5" name="rc25"/>
            <p:cNvSpPr/>
            <p:nvPr/>
          </p:nvSpPr>
          <p:spPr>
            <a:xfrm>
              <a:off x="936390" y="3304507"/>
              <a:ext cx="1839205" cy="195416"/>
            </a:xfrm>
            <a:prstGeom prst="rect">
              <a:avLst/>
            </a:prstGeom>
            <a:solidFill>
              <a:srgbClr val="EFF3F2">
                <a:alpha val="100000"/>
              </a:srgbClr>
            </a:solidFill>
            <a:ln w="9525" cap="rnd">
              <a:solidFill>
                <a:srgbClr val="EFF3F2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6" name="rc26"/>
            <p:cNvSpPr/>
            <p:nvPr/>
          </p:nvSpPr>
          <p:spPr>
            <a:xfrm>
              <a:off x="936390" y="3499924"/>
              <a:ext cx="1839205" cy="195416"/>
            </a:xfrm>
            <a:prstGeom prst="rect">
              <a:avLst/>
            </a:prstGeom>
            <a:solidFill>
              <a:srgbClr val="FFFFFF">
                <a:alpha val="100000"/>
              </a:srgbClr>
            </a:solidFill>
            <a:ln w="9525" cap="rnd">
              <a:solidFill>
                <a:srgbClr val="FFFFFF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7" name="rc27"/>
            <p:cNvSpPr/>
            <p:nvPr/>
          </p:nvSpPr>
          <p:spPr>
            <a:xfrm>
              <a:off x="936390" y="3695341"/>
              <a:ext cx="1839205" cy="195416"/>
            </a:xfrm>
            <a:prstGeom prst="rect">
              <a:avLst/>
            </a:prstGeom>
            <a:solidFill>
              <a:srgbClr val="EFF3F2">
                <a:alpha val="100000"/>
              </a:srgbClr>
            </a:solidFill>
            <a:ln w="9525" cap="rnd">
              <a:solidFill>
                <a:srgbClr val="EFF3F2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8" name="rc28"/>
            <p:cNvSpPr/>
            <p:nvPr/>
          </p:nvSpPr>
          <p:spPr>
            <a:xfrm>
              <a:off x="936390" y="3890757"/>
              <a:ext cx="1839205" cy="195416"/>
            </a:xfrm>
            <a:prstGeom prst="rect">
              <a:avLst/>
            </a:prstGeom>
            <a:solidFill>
              <a:srgbClr val="FFFFFF">
                <a:alpha val="100000"/>
              </a:srgbClr>
            </a:solidFill>
            <a:ln w="9525" cap="rnd">
              <a:solidFill>
                <a:srgbClr val="FFFFFF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9" name="rc29"/>
            <p:cNvSpPr/>
            <p:nvPr/>
          </p:nvSpPr>
          <p:spPr>
            <a:xfrm>
              <a:off x="936390" y="4086174"/>
              <a:ext cx="1839205" cy="195416"/>
            </a:xfrm>
            <a:prstGeom prst="rect">
              <a:avLst/>
            </a:prstGeom>
            <a:solidFill>
              <a:srgbClr val="EFF3F2">
                <a:alpha val="100000"/>
              </a:srgbClr>
            </a:solidFill>
            <a:ln w="9525" cap="rnd">
              <a:solidFill>
                <a:srgbClr val="EFF3F2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30" name="rc30"/>
            <p:cNvSpPr/>
            <p:nvPr/>
          </p:nvSpPr>
          <p:spPr>
            <a:xfrm>
              <a:off x="936390" y="4281591"/>
              <a:ext cx="1839205" cy="195416"/>
            </a:xfrm>
            <a:prstGeom prst="rect">
              <a:avLst/>
            </a:prstGeom>
            <a:solidFill>
              <a:srgbClr val="FFFFFF">
                <a:alpha val="100000"/>
              </a:srgbClr>
            </a:solidFill>
            <a:ln w="9525" cap="rnd">
              <a:solidFill>
                <a:srgbClr val="FFFFFF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31" name="rc31"/>
            <p:cNvSpPr/>
            <p:nvPr/>
          </p:nvSpPr>
          <p:spPr>
            <a:xfrm>
              <a:off x="936390" y="4477007"/>
              <a:ext cx="1839205" cy="195416"/>
            </a:xfrm>
            <a:prstGeom prst="rect">
              <a:avLst/>
            </a:prstGeom>
            <a:solidFill>
              <a:srgbClr val="EFF3F2">
                <a:alpha val="100000"/>
              </a:srgbClr>
            </a:solidFill>
            <a:ln w="9525" cap="rnd">
              <a:solidFill>
                <a:srgbClr val="EFF3F2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32" name="rc32"/>
            <p:cNvSpPr/>
            <p:nvPr/>
          </p:nvSpPr>
          <p:spPr>
            <a:xfrm>
              <a:off x="936390" y="4672424"/>
              <a:ext cx="1839205" cy="195416"/>
            </a:xfrm>
            <a:prstGeom prst="rect">
              <a:avLst/>
            </a:prstGeom>
            <a:solidFill>
              <a:srgbClr val="FFFFFF">
                <a:alpha val="100000"/>
              </a:srgbClr>
            </a:solidFill>
            <a:ln w="9525" cap="rnd">
              <a:solidFill>
                <a:srgbClr val="FFFFFF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33" name="rc33"/>
            <p:cNvSpPr/>
            <p:nvPr/>
          </p:nvSpPr>
          <p:spPr>
            <a:xfrm>
              <a:off x="936390" y="4867841"/>
              <a:ext cx="1839205" cy="195416"/>
            </a:xfrm>
            <a:prstGeom prst="rect">
              <a:avLst/>
            </a:prstGeom>
            <a:solidFill>
              <a:srgbClr val="EFF3F2">
                <a:alpha val="100000"/>
              </a:srgbClr>
            </a:solidFill>
            <a:ln w="9525" cap="rnd">
              <a:solidFill>
                <a:srgbClr val="EFF3F2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34" name="rc34"/>
            <p:cNvSpPr/>
            <p:nvPr/>
          </p:nvSpPr>
          <p:spPr>
            <a:xfrm>
              <a:off x="936390" y="5063257"/>
              <a:ext cx="1839205" cy="195416"/>
            </a:xfrm>
            <a:prstGeom prst="rect">
              <a:avLst/>
            </a:prstGeom>
            <a:solidFill>
              <a:srgbClr val="FFFFFF">
                <a:alpha val="100000"/>
              </a:srgbClr>
            </a:solidFill>
            <a:ln w="9525" cap="rnd">
              <a:solidFill>
                <a:srgbClr val="FFFFFF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35" name="rc35"/>
            <p:cNvSpPr/>
            <p:nvPr/>
          </p:nvSpPr>
          <p:spPr>
            <a:xfrm>
              <a:off x="936390" y="5258674"/>
              <a:ext cx="1839205" cy="195416"/>
            </a:xfrm>
            <a:prstGeom prst="rect">
              <a:avLst/>
            </a:prstGeom>
            <a:solidFill>
              <a:srgbClr val="EFF3F2">
                <a:alpha val="100000"/>
              </a:srgbClr>
            </a:solidFill>
            <a:ln w="9525" cap="rnd">
              <a:solidFill>
                <a:srgbClr val="EFF3F2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36" name="rc36"/>
            <p:cNvSpPr/>
            <p:nvPr/>
          </p:nvSpPr>
          <p:spPr>
            <a:xfrm>
              <a:off x="936390" y="5454090"/>
              <a:ext cx="1839205" cy="195416"/>
            </a:xfrm>
            <a:prstGeom prst="rect">
              <a:avLst/>
            </a:prstGeom>
            <a:solidFill>
              <a:srgbClr val="FFFFFF">
                <a:alpha val="100000"/>
              </a:srgbClr>
            </a:solidFill>
            <a:ln w="9525" cap="rnd">
              <a:solidFill>
                <a:srgbClr val="FFFFFF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37" name="rc37"/>
            <p:cNvSpPr/>
            <p:nvPr/>
          </p:nvSpPr>
          <p:spPr>
            <a:xfrm>
              <a:off x="936390" y="5649507"/>
              <a:ext cx="1839205" cy="195416"/>
            </a:xfrm>
            <a:prstGeom prst="rect">
              <a:avLst/>
            </a:prstGeom>
            <a:solidFill>
              <a:srgbClr val="EFF3F2">
                <a:alpha val="100000"/>
              </a:srgbClr>
            </a:solidFill>
            <a:ln w="9525" cap="rnd">
              <a:solidFill>
                <a:srgbClr val="EFF3F2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38" name="rc38"/>
            <p:cNvSpPr/>
            <p:nvPr/>
          </p:nvSpPr>
          <p:spPr>
            <a:xfrm>
              <a:off x="936390" y="5844924"/>
              <a:ext cx="1839205" cy="195416"/>
            </a:xfrm>
            <a:prstGeom prst="rect">
              <a:avLst/>
            </a:prstGeom>
            <a:solidFill>
              <a:srgbClr val="FFFFFF">
                <a:alpha val="100000"/>
              </a:srgbClr>
            </a:solidFill>
            <a:ln w="9525" cap="rnd">
              <a:solidFill>
                <a:srgbClr val="FFFFFF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39" name="rc39"/>
            <p:cNvSpPr/>
            <p:nvPr/>
          </p:nvSpPr>
          <p:spPr>
            <a:xfrm>
              <a:off x="936390" y="6040340"/>
              <a:ext cx="1839205" cy="195416"/>
            </a:xfrm>
            <a:prstGeom prst="rect">
              <a:avLst/>
            </a:prstGeom>
            <a:solidFill>
              <a:srgbClr val="EFF3F2">
                <a:alpha val="100000"/>
              </a:srgbClr>
            </a:solidFill>
            <a:ln w="9525" cap="rnd">
              <a:solidFill>
                <a:srgbClr val="EFF3F2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40" name="rc40"/>
            <p:cNvSpPr/>
            <p:nvPr/>
          </p:nvSpPr>
          <p:spPr>
            <a:xfrm>
              <a:off x="2775596" y="177841"/>
              <a:ext cx="1414192" cy="195416"/>
            </a:xfrm>
            <a:prstGeom prst="rect">
              <a:avLst/>
            </a:prstGeom>
            <a:solidFill>
              <a:srgbClr val="EFF3F2">
                <a:alpha val="100000"/>
              </a:srgbClr>
            </a:solidFill>
            <a:ln w="9525" cap="rnd">
              <a:solidFill>
                <a:srgbClr val="EFF3F2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41" name="rc41"/>
            <p:cNvSpPr/>
            <p:nvPr/>
          </p:nvSpPr>
          <p:spPr>
            <a:xfrm>
              <a:off x="2775596" y="373258"/>
              <a:ext cx="1414192" cy="195416"/>
            </a:xfrm>
            <a:prstGeom prst="rect">
              <a:avLst/>
            </a:prstGeom>
            <a:solidFill>
              <a:srgbClr val="FFFFFF">
                <a:alpha val="100000"/>
              </a:srgbClr>
            </a:solidFill>
            <a:ln w="9525" cap="rnd">
              <a:solidFill>
                <a:srgbClr val="FFFFFF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42" name="rc42"/>
            <p:cNvSpPr/>
            <p:nvPr/>
          </p:nvSpPr>
          <p:spPr>
            <a:xfrm>
              <a:off x="2775596" y="568674"/>
              <a:ext cx="1414192" cy="195416"/>
            </a:xfrm>
            <a:prstGeom prst="rect">
              <a:avLst/>
            </a:prstGeom>
            <a:solidFill>
              <a:srgbClr val="EFF3F2">
                <a:alpha val="100000"/>
              </a:srgbClr>
            </a:solidFill>
            <a:ln w="9525" cap="rnd">
              <a:solidFill>
                <a:srgbClr val="EFF3F2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43" name="rc43"/>
            <p:cNvSpPr/>
            <p:nvPr/>
          </p:nvSpPr>
          <p:spPr>
            <a:xfrm>
              <a:off x="2775596" y="764091"/>
              <a:ext cx="1414192" cy="195416"/>
            </a:xfrm>
            <a:prstGeom prst="rect">
              <a:avLst/>
            </a:prstGeom>
            <a:solidFill>
              <a:srgbClr val="FFFFFF">
                <a:alpha val="100000"/>
              </a:srgbClr>
            </a:solidFill>
            <a:ln w="9525" cap="rnd">
              <a:solidFill>
                <a:srgbClr val="FFFFFF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44" name="rc44"/>
            <p:cNvSpPr/>
            <p:nvPr/>
          </p:nvSpPr>
          <p:spPr>
            <a:xfrm>
              <a:off x="2775596" y="959508"/>
              <a:ext cx="1414192" cy="195416"/>
            </a:xfrm>
            <a:prstGeom prst="rect">
              <a:avLst/>
            </a:prstGeom>
            <a:solidFill>
              <a:srgbClr val="EFF3F2">
                <a:alpha val="100000"/>
              </a:srgbClr>
            </a:solidFill>
            <a:ln w="9525" cap="rnd">
              <a:solidFill>
                <a:srgbClr val="EFF3F2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45" name="rc45"/>
            <p:cNvSpPr/>
            <p:nvPr/>
          </p:nvSpPr>
          <p:spPr>
            <a:xfrm>
              <a:off x="2775596" y="1154924"/>
              <a:ext cx="1414192" cy="195416"/>
            </a:xfrm>
            <a:prstGeom prst="rect">
              <a:avLst/>
            </a:prstGeom>
            <a:solidFill>
              <a:srgbClr val="FFFFFF">
                <a:alpha val="100000"/>
              </a:srgbClr>
            </a:solidFill>
            <a:ln w="9525" cap="rnd">
              <a:solidFill>
                <a:srgbClr val="FFFFFF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46" name="rc46"/>
            <p:cNvSpPr/>
            <p:nvPr/>
          </p:nvSpPr>
          <p:spPr>
            <a:xfrm>
              <a:off x="2775596" y="1350341"/>
              <a:ext cx="1414192" cy="195416"/>
            </a:xfrm>
            <a:prstGeom prst="rect">
              <a:avLst/>
            </a:prstGeom>
            <a:solidFill>
              <a:srgbClr val="EFF3F2">
                <a:alpha val="100000"/>
              </a:srgbClr>
            </a:solidFill>
            <a:ln w="9525" cap="rnd">
              <a:solidFill>
                <a:srgbClr val="EFF3F2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47" name="rc47"/>
            <p:cNvSpPr/>
            <p:nvPr/>
          </p:nvSpPr>
          <p:spPr>
            <a:xfrm>
              <a:off x="2775596" y="1545758"/>
              <a:ext cx="1414192" cy="195416"/>
            </a:xfrm>
            <a:prstGeom prst="rect">
              <a:avLst/>
            </a:prstGeom>
            <a:solidFill>
              <a:srgbClr val="FFFFFF">
                <a:alpha val="100000"/>
              </a:srgbClr>
            </a:solidFill>
            <a:ln w="9525" cap="rnd">
              <a:solidFill>
                <a:srgbClr val="FFFFFF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48" name="rc48"/>
            <p:cNvSpPr/>
            <p:nvPr/>
          </p:nvSpPr>
          <p:spPr>
            <a:xfrm>
              <a:off x="2775596" y="1741174"/>
              <a:ext cx="1414192" cy="195416"/>
            </a:xfrm>
            <a:prstGeom prst="rect">
              <a:avLst/>
            </a:prstGeom>
            <a:solidFill>
              <a:srgbClr val="EFF3F2">
                <a:alpha val="100000"/>
              </a:srgbClr>
            </a:solidFill>
            <a:ln w="9525" cap="rnd">
              <a:solidFill>
                <a:srgbClr val="EFF3F2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49" name="rc49"/>
            <p:cNvSpPr/>
            <p:nvPr/>
          </p:nvSpPr>
          <p:spPr>
            <a:xfrm>
              <a:off x="2775596" y="1936591"/>
              <a:ext cx="1414192" cy="195416"/>
            </a:xfrm>
            <a:prstGeom prst="rect">
              <a:avLst/>
            </a:prstGeom>
            <a:solidFill>
              <a:srgbClr val="FFFFFF">
                <a:alpha val="100000"/>
              </a:srgbClr>
            </a:solidFill>
            <a:ln w="9525" cap="rnd">
              <a:solidFill>
                <a:srgbClr val="FFFFFF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50" name="rc50"/>
            <p:cNvSpPr/>
            <p:nvPr/>
          </p:nvSpPr>
          <p:spPr>
            <a:xfrm>
              <a:off x="2775596" y="2132008"/>
              <a:ext cx="1414192" cy="195416"/>
            </a:xfrm>
            <a:prstGeom prst="rect">
              <a:avLst/>
            </a:prstGeom>
            <a:solidFill>
              <a:srgbClr val="EFF3F2">
                <a:alpha val="100000"/>
              </a:srgbClr>
            </a:solidFill>
            <a:ln w="9525" cap="rnd">
              <a:solidFill>
                <a:srgbClr val="EFF3F2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51" name="rc51"/>
            <p:cNvSpPr/>
            <p:nvPr/>
          </p:nvSpPr>
          <p:spPr>
            <a:xfrm>
              <a:off x="2775596" y="2327424"/>
              <a:ext cx="1414192" cy="195416"/>
            </a:xfrm>
            <a:prstGeom prst="rect">
              <a:avLst/>
            </a:prstGeom>
            <a:solidFill>
              <a:srgbClr val="FFFFFF">
                <a:alpha val="100000"/>
              </a:srgbClr>
            </a:solidFill>
            <a:ln w="9525" cap="rnd">
              <a:solidFill>
                <a:srgbClr val="FFFFFF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52" name="rc52"/>
            <p:cNvSpPr/>
            <p:nvPr/>
          </p:nvSpPr>
          <p:spPr>
            <a:xfrm>
              <a:off x="2775596" y="2522841"/>
              <a:ext cx="1414192" cy="195416"/>
            </a:xfrm>
            <a:prstGeom prst="rect">
              <a:avLst/>
            </a:prstGeom>
            <a:solidFill>
              <a:srgbClr val="EFF3F2">
                <a:alpha val="100000"/>
              </a:srgbClr>
            </a:solidFill>
            <a:ln w="9525" cap="rnd">
              <a:solidFill>
                <a:srgbClr val="EFF3F2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53" name="rc53"/>
            <p:cNvSpPr/>
            <p:nvPr/>
          </p:nvSpPr>
          <p:spPr>
            <a:xfrm>
              <a:off x="2775596" y="2718258"/>
              <a:ext cx="1414192" cy="195416"/>
            </a:xfrm>
            <a:prstGeom prst="rect">
              <a:avLst/>
            </a:prstGeom>
            <a:solidFill>
              <a:srgbClr val="FFFFFF">
                <a:alpha val="100000"/>
              </a:srgbClr>
            </a:solidFill>
            <a:ln w="9525" cap="rnd">
              <a:solidFill>
                <a:srgbClr val="FFFFFF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54" name="rc54"/>
            <p:cNvSpPr/>
            <p:nvPr/>
          </p:nvSpPr>
          <p:spPr>
            <a:xfrm>
              <a:off x="2775596" y="2913674"/>
              <a:ext cx="1414192" cy="195416"/>
            </a:xfrm>
            <a:prstGeom prst="rect">
              <a:avLst/>
            </a:prstGeom>
            <a:solidFill>
              <a:srgbClr val="EFF3F2">
                <a:alpha val="100000"/>
              </a:srgbClr>
            </a:solidFill>
            <a:ln w="9525" cap="rnd">
              <a:solidFill>
                <a:srgbClr val="EFF3F2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55" name="rc55"/>
            <p:cNvSpPr/>
            <p:nvPr/>
          </p:nvSpPr>
          <p:spPr>
            <a:xfrm>
              <a:off x="2775596" y="3109091"/>
              <a:ext cx="1414192" cy="195416"/>
            </a:xfrm>
            <a:prstGeom prst="rect">
              <a:avLst/>
            </a:prstGeom>
            <a:solidFill>
              <a:srgbClr val="FFFFFF">
                <a:alpha val="100000"/>
              </a:srgbClr>
            </a:solidFill>
            <a:ln w="9525" cap="rnd">
              <a:solidFill>
                <a:srgbClr val="FFFFFF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56" name="rc56"/>
            <p:cNvSpPr/>
            <p:nvPr/>
          </p:nvSpPr>
          <p:spPr>
            <a:xfrm>
              <a:off x="2775596" y="3304507"/>
              <a:ext cx="1414192" cy="195416"/>
            </a:xfrm>
            <a:prstGeom prst="rect">
              <a:avLst/>
            </a:prstGeom>
            <a:solidFill>
              <a:srgbClr val="EFF3F2">
                <a:alpha val="100000"/>
              </a:srgbClr>
            </a:solidFill>
            <a:ln w="9525" cap="rnd">
              <a:solidFill>
                <a:srgbClr val="EFF3F2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57" name="rc57"/>
            <p:cNvSpPr/>
            <p:nvPr/>
          </p:nvSpPr>
          <p:spPr>
            <a:xfrm>
              <a:off x="2775596" y="3499924"/>
              <a:ext cx="1414192" cy="195416"/>
            </a:xfrm>
            <a:prstGeom prst="rect">
              <a:avLst/>
            </a:prstGeom>
            <a:solidFill>
              <a:srgbClr val="FFFFFF">
                <a:alpha val="100000"/>
              </a:srgbClr>
            </a:solidFill>
            <a:ln w="9525" cap="rnd">
              <a:solidFill>
                <a:srgbClr val="FFFFFF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58" name="rc58"/>
            <p:cNvSpPr/>
            <p:nvPr/>
          </p:nvSpPr>
          <p:spPr>
            <a:xfrm>
              <a:off x="2775596" y="3695341"/>
              <a:ext cx="1414192" cy="195416"/>
            </a:xfrm>
            <a:prstGeom prst="rect">
              <a:avLst/>
            </a:prstGeom>
            <a:solidFill>
              <a:srgbClr val="EFF3F2">
                <a:alpha val="100000"/>
              </a:srgbClr>
            </a:solidFill>
            <a:ln w="9525" cap="rnd">
              <a:solidFill>
                <a:srgbClr val="EFF3F2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59" name="rc59"/>
            <p:cNvSpPr/>
            <p:nvPr/>
          </p:nvSpPr>
          <p:spPr>
            <a:xfrm>
              <a:off x="2775596" y="3890757"/>
              <a:ext cx="1414192" cy="195416"/>
            </a:xfrm>
            <a:prstGeom prst="rect">
              <a:avLst/>
            </a:prstGeom>
            <a:solidFill>
              <a:srgbClr val="FFFFFF">
                <a:alpha val="100000"/>
              </a:srgbClr>
            </a:solidFill>
            <a:ln w="9525" cap="rnd">
              <a:solidFill>
                <a:srgbClr val="FFFFFF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60" name="rc60"/>
            <p:cNvSpPr/>
            <p:nvPr/>
          </p:nvSpPr>
          <p:spPr>
            <a:xfrm>
              <a:off x="2775596" y="4086174"/>
              <a:ext cx="1414192" cy="195416"/>
            </a:xfrm>
            <a:prstGeom prst="rect">
              <a:avLst/>
            </a:prstGeom>
            <a:solidFill>
              <a:srgbClr val="EFF3F2">
                <a:alpha val="100000"/>
              </a:srgbClr>
            </a:solidFill>
            <a:ln w="9525" cap="rnd">
              <a:solidFill>
                <a:srgbClr val="EFF3F2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61" name="rc61"/>
            <p:cNvSpPr/>
            <p:nvPr/>
          </p:nvSpPr>
          <p:spPr>
            <a:xfrm>
              <a:off x="2775596" y="4281591"/>
              <a:ext cx="1414192" cy="195416"/>
            </a:xfrm>
            <a:prstGeom prst="rect">
              <a:avLst/>
            </a:prstGeom>
            <a:solidFill>
              <a:srgbClr val="FFFFFF">
                <a:alpha val="100000"/>
              </a:srgbClr>
            </a:solidFill>
            <a:ln w="9525" cap="rnd">
              <a:solidFill>
                <a:srgbClr val="FFFFFF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62" name="rc62"/>
            <p:cNvSpPr/>
            <p:nvPr/>
          </p:nvSpPr>
          <p:spPr>
            <a:xfrm>
              <a:off x="2775596" y="4477007"/>
              <a:ext cx="1414192" cy="195416"/>
            </a:xfrm>
            <a:prstGeom prst="rect">
              <a:avLst/>
            </a:prstGeom>
            <a:solidFill>
              <a:srgbClr val="EFF3F2">
                <a:alpha val="100000"/>
              </a:srgbClr>
            </a:solidFill>
            <a:ln w="9525" cap="rnd">
              <a:solidFill>
                <a:srgbClr val="EFF3F2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63" name="rc63"/>
            <p:cNvSpPr/>
            <p:nvPr/>
          </p:nvSpPr>
          <p:spPr>
            <a:xfrm>
              <a:off x="2775596" y="4672424"/>
              <a:ext cx="1414192" cy="195416"/>
            </a:xfrm>
            <a:prstGeom prst="rect">
              <a:avLst/>
            </a:prstGeom>
            <a:solidFill>
              <a:srgbClr val="FFFFFF">
                <a:alpha val="100000"/>
              </a:srgbClr>
            </a:solidFill>
            <a:ln w="9525" cap="rnd">
              <a:solidFill>
                <a:srgbClr val="FFFFFF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64" name="rc64"/>
            <p:cNvSpPr/>
            <p:nvPr/>
          </p:nvSpPr>
          <p:spPr>
            <a:xfrm>
              <a:off x="2775596" y="4867841"/>
              <a:ext cx="1414192" cy="195416"/>
            </a:xfrm>
            <a:prstGeom prst="rect">
              <a:avLst/>
            </a:prstGeom>
            <a:solidFill>
              <a:srgbClr val="EFF3F2">
                <a:alpha val="100000"/>
              </a:srgbClr>
            </a:solidFill>
            <a:ln w="9525" cap="rnd">
              <a:solidFill>
                <a:srgbClr val="EFF3F2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65" name="rc65"/>
            <p:cNvSpPr/>
            <p:nvPr/>
          </p:nvSpPr>
          <p:spPr>
            <a:xfrm>
              <a:off x="2775596" y="5063257"/>
              <a:ext cx="1414192" cy="195416"/>
            </a:xfrm>
            <a:prstGeom prst="rect">
              <a:avLst/>
            </a:prstGeom>
            <a:solidFill>
              <a:srgbClr val="FFFFFF">
                <a:alpha val="100000"/>
              </a:srgbClr>
            </a:solidFill>
            <a:ln w="9525" cap="rnd">
              <a:solidFill>
                <a:srgbClr val="FFFFFF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66" name="rc66"/>
            <p:cNvSpPr/>
            <p:nvPr/>
          </p:nvSpPr>
          <p:spPr>
            <a:xfrm>
              <a:off x="2775596" y="5258674"/>
              <a:ext cx="1414192" cy="195416"/>
            </a:xfrm>
            <a:prstGeom prst="rect">
              <a:avLst/>
            </a:prstGeom>
            <a:solidFill>
              <a:srgbClr val="EFF3F2">
                <a:alpha val="100000"/>
              </a:srgbClr>
            </a:solidFill>
            <a:ln w="9525" cap="rnd">
              <a:solidFill>
                <a:srgbClr val="EFF3F2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67" name="rc67"/>
            <p:cNvSpPr/>
            <p:nvPr/>
          </p:nvSpPr>
          <p:spPr>
            <a:xfrm>
              <a:off x="2775596" y="5454090"/>
              <a:ext cx="1414192" cy="195416"/>
            </a:xfrm>
            <a:prstGeom prst="rect">
              <a:avLst/>
            </a:prstGeom>
            <a:solidFill>
              <a:srgbClr val="FFFFFF">
                <a:alpha val="100000"/>
              </a:srgbClr>
            </a:solidFill>
            <a:ln w="9525" cap="rnd">
              <a:solidFill>
                <a:srgbClr val="FFFFFF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68" name="rc68"/>
            <p:cNvSpPr/>
            <p:nvPr/>
          </p:nvSpPr>
          <p:spPr>
            <a:xfrm>
              <a:off x="2775596" y="5649507"/>
              <a:ext cx="1414192" cy="195416"/>
            </a:xfrm>
            <a:prstGeom prst="rect">
              <a:avLst/>
            </a:prstGeom>
            <a:solidFill>
              <a:srgbClr val="EFF3F2">
                <a:alpha val="100000"/>
              </a:srgbClr>
            </a:solidFill>
            <a:ln w="9525" cap="rnd">
              <a:solidFill>
                <a:srgbClr val="EFF3F2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69" name="rc69"/>
            <p:cNvSpPr/>
            <p:nvPr/>
          </p:nvSpPr>
          <p:spPr>
            <a:xfrm>
              <a:off x="2775596" y="5844924"/>
              <a:ext cx="1414192" cy="195416"/>
            </a:xfrm>
            <a:prstGeom prst="rect">
              <a:avLst/>
            </a:prstGeom>
            <a:solidFill>
              <a:srgbClr val="FFFFFF">
                <a:alpha val="100000"/>
              </a:srgbClr>
            </a:solidFill>
            <a:ln w="9525" cap="rnd">
              <a:solidFill>
                <a:srgbClr val="FFFFFF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70" name="rc70"/>
            <p:cNvSpPr/>
            <p:nvPr/>
          </p:nvSpPr>
          <p:spPr>
            <a:xfrm>
              <a:off x="2775596" y="6040340"/>
              <a:ext cx="1414192" cy="195416"/>
            </a:xfrm>
            <a:prstGeom prst="rect">
              <a:avLst/>
            </a:prstGeom>
            <a:solidFill>
              <a:srgbClr val="EFF3F2">
                <a:alpha val="100000"/>
              </a:srgbClr>
            </a:solidFill>
            <a:ln w="9525" cap="rnd">
              <a:solidFill>
                <a:srgbClr val="EFF3F2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71" name="rc71"/>
            <p:cNvSpPr/>
            <p:nvPr/>
          </p:nvSpPr>
          <p:spPr>
            <a:xfrm>
              <a:off x="4189789" y="177841"/>
              <a:ext cx="1160263" cy="195416"/>
            </a:xfrm>
            <a:prstGeom prst="rect">
              <a:avLst/>
            </a:prstGeom>
            <a:solidFill>
              <a:srgbClr val="EFF3F2">
                <a:alpha val="100000"/>
              </a:srgbClr>
            </a:solidFill>
            <a:ln w="9525" cap="rnd">
              <a:solidFill>
                <a:srgbClr val="EFF3F2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72" name="rc72"/>
            <p:cNvSpPr/>
            <p:nvPr/>
          </p:nvSpPr>
          <p:spPr>
            <a:xfrm>
              <a:off x="4189789" y="373258"/>
              <a:ext cx="1160263" cy="195416"/>
            </a:xfrm>
            <a:prstGeom prst="rect">
              <a:avLst/>
            </a:prstGeom>
            <a:solidFill>
              <a:srgbClr val="FFFFFF">
                <a:alpha val="100000"/>
              </a:srgbClr>
            </a:solidFill>
            <a:ln w="9525" cap="rnd">
              <a:solidFill>
                <a:srgbClr val="FFFFFF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73" name="rc73"/>
            <p:cNvSpPr/>
            <p:nvPr/>
          </p:nvSpPr>
          <p:spPr>
            <a:xfrm>
              <a:off x="4189789" y="568674"/>
              <a:ext cx="1160263" cy="195416"/>
            </a:xfrm>
            <a:prstGeom prst="rect">
              <a:avLst/>
            </a:prstGeom>
            <a:solidFill>
              <a:srgbClr val="EFF3F2">
                <a:alpha val="100000"/>
              </a:srgbClr>
            </a:solidFill>
            <a:ln w="9525" cap="rnd">
              <a:solidFill>
                <a:srgbClr val="EFF3F2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74" name="rc74"/>
            <p:cNvSpPr/>
            <p:nvPr/>
          </p:nvSpPr>
          <p:spPr>
            <a:xfrm>
              <a:off x="4189789" y="764091"/>
              <a:ext cx="1160263" cy="195416"/>
            </a:xfrm>
            <a:prstGeom prst="rect">
              <a:avLst/>
            </a:prstGeom>
            <a:solidFill>
              <a:srgbClr val="FFFFFF">
                <a:alpha val="100000"/>
              </a:srgbClr>
            </a:solidFill>
            <a:ln w="9525" cap="rnd">
              <a:solidFill>
                <a:srgbClr val="FFFFFF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75" name="rc75"/>
            <p:cNvSpPr/>
            <p:nvPr/>
          </p:nvSpPr>
          <p:spPr>
            <a:xfrm>
              <a:off x="4189789" y="959508"/>
              <a:ext cx="1160263" cy="195416"/>
            </a:xfrm>
            <a:prstGeom prst="rect">
              <a:avLst/>
            </a:prstGeom>
            <a:solidFill>
              <a:srgbClr val="EFF3F2">
                <a:alpha val="100000"/>
              </a:srgbClr>
            </a:solidFill>
            <a:ln w="9525" cap="rnd">
              <a:solidFill>
                <a:srgbClr val="EFF3F2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76" name="rc76"/>
            <p:cNvSpPr/>
            <p:nvPr/>
          </p:nvSpPr>
          <p:spPr>
            <a:xfrm>
              <a:off x="4189789" y="1154924"/>
              <a:ext cx="1160263" cy="195416"/>
            </a:xfrm>
            <a:prstGeom prst="rect">
              <a:avLst/>
            </a:prstGeom>
            <a:solidFill>
              <a:srgbClr val="FFFFFF">
                <a:alpha val="100000"/>
              </a:srgbClr>
            </a:solidFill>
            <a:ln w="9525" cap="rnd">
              <a:solidFill>
                <a:srgbClr val="FFFFFF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77" name="rc77"/>
            <p:cNvSpPr/>
            <p:nvPr/>
          </p:nvSpPr>
          <p:spPr>
            <a:xfrm>
              <a:off x="4189789" y="1350341"/>
              <a:ext cx="1160263" cy="195416"/>
            </a:xfrm>
            <a:prstGeom prst="rect">
              <a:avLst/>
            </a:prstGeom>
            <a:solidFill>
              <a:srgbClr val="EFF3F2">
                <a:alpha val="100000"/>
              </a:srgbClr>
            </a:solidFill>
            <a:ln w="9525" cap="rnd">
              <a:solidFill>
                <a:srgbClr val="EFF3F2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78" name="rc78"/>
            <p:cNvSpPr/>
            <p:nvPr/>
          </p:nvSpPr>
          <p:spPr>
            <a:xfrm>
              <a:off x="4189789" y="1545758"/>
              <a:ext cx="1160263" cy="195416"/>
            </a:xfrm>
            <a:prstGeom prst="rect">
              <a:avLst/>
            </a:prstGeom>
            <a:solidFill>
              <a:srgbClr val="FFFFFF">
                <a:alpha val="100000"/>
              </a:srgbClr>
            </a:solidFill>
            <a:ln w="9525" cap="rnd">
              <a:solidFill>
                <a:srgbClr val="FFFFFF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79" name="rc79"/>
            <p:cNvSpPr/>
            <p:nvPr/>
          </p:nvSpPr>
          <p:spPr>
            <a:xfrm>
              <a:off x="4189789" y="1741174"/>
              <a:ext cx="1160263" cy="195416"/>
            </a:xfrm>
            <a:prstGeom prst="rect">
              <a:avLst/>
            </a:prstGeom>
            <a:solidFill>
              <a:srgbClr val="EFF3F2">
                <a:alpha val="100000"/>
              </a:srgbClr>
            </a:solidFill>
            <a:ln w="9525" cap="rnd">
              <a:solidFill>
                <a:srgbClr val="EFF3F2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80" name="rc80"/>
            <p:cNvSpPr/>
            <p:nvPr/>
          </p:nvSpPr>
          <p:spPr>
            <a:xfrm>
              <a:off x="4189789" y="1936591"/>
              <a:ext cx="1160263" cy="195416"/>
            </a:xfrm>
            <a:prstGeom prst="rect">
              <a:avLst/>
            </a:prstGeom>
            <a:solidFill>
              <a:srgbClr val="FFFFFF">
                <a:alpha val="100000"/>
              </a:srgbClr>
            </a:solidFill>
            <a:ln w="9525" cap="rnd">
              <a:solidFill>
                <a:srgbClr val="FFFFFF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81" name="rc81"/>
            <p:cNvSpPr/>
            <p:nvPr/>
          </p:nvSpPr>
          <p:spPr>
            <a:xfrm>
              <a:off x="4189789" y="2132008"/>
              <a:ext cx="1160263" cy="195416"/>
            </a:xfrm>
            <a:prstGeom prst="rect">
              <a:avLst/>
            </a:prstGeom>
            <a:solidFill>
              <a:srgbClr val="EFF3F2">
                <a:alpha val="100000"/>
              </a:srgbClr>
            </a:solidFill>
            <a:ln w="9525" cap="rnd">
              <a:solidFill>
                <a:srgbClr val="EFF3F2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82" name="rc82"/>
            <p:cNvSpPr/>
            <p:nvPr/>
          </p:nvSpPr>
          <p:spPr>
            <a:xfrm>
              <a:off x="4189789" y="2327424"/>
              <a:ext cx="1160263" cy="195416"/>
            </a:xfrm>
            <a:prstGeom prst="rect">
              <a:avLst/>
            </a:prstGeom>
            <a:solidFill>
              <a:srgbClr val="FFFFFF">
                <a:alpha val="100000"/>
              </a:srgbClr>
            </a:solidFill>
            <a:ln w="9525" cap="rnd">
              <a:solidFill>
                <a:srgbClr val="FFFFFF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83" name="rc83"/>
            <p:cNvSpPr/>
            <p:nvPr/>
          </p:nvSpPr>
          <p:spPr>
            <a:xfrm>
              <a:off x="4189789" y="2522841"/>
              <a:ext cx="1160263" cy="195416"/>
            </a:xfrm>
            <a:prstGeom prst="rect">
              <a:avLst/>
            </a:prstGeom>
            <a:solidFill>
              <a:srgbClr val="EFF3F2">
                <a:alpha val="100000"/>
              </a:srgbClr>
            </a:solidFill>
            <a:ln w="9525" cap="rnd">
              <a:solidFill>
                <a:srgbClr val="EFF3F2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84" name="rc84"/>
            <p:cNvSpPr/>
            <p:nvPr/>
          </p:nvSpPr>
          <p:spPr>
            <a:xfrm>
              <a:off x="4189789" y="2718258"/>
              <a:ext cx="1160263" cy="195416"/>
            </a:xfrm>
            <a:prstGeom prst="rect">
              <a:avLst/>
            </a:prstGeom>
            <a:solidFill>
              <a:srgbClr val="FFFFFF">
                <a:alpha val="100000"/>
              </a:srgbClr>
            </a:solidFill>
            <a:ln w="9525" cap="rnd">
              <a:solidFill>
                <a:srgbClr val="FFFFFF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85" name="rc85"/>
            <p:cNvSpPr/>
            <p:nvPr/>
          </p:nvSpPr>
          <p:spPr>
            <a:xfrm>
              <a:off x="4189789" y="2913674"/>
              <a:ext cx="1160263" cy="195416"/>
            </a:xfrm>
            <a:prstGeom prst="rect">
              <a:avLst/>
            </a:prstGeom>
            <a:solidFill>
              <a:srgbClr val="EFF3F2">
                <a:alpha val="100000"/>
              </a:srgbClr>
            </a:solidFill>
            <a:ln w="9525" cap="rnd">
              <a:solidFill>
                <a:srgbClr val="EFF3F2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86" name="rc86"/>
            <p:cNvSpPr/>
            <p:nvPr/>
          </p:nvSpPr>
          <p:spPr>
            <a:xfrm>
              <a:off x="4189789" y="3109091"/>
              <a:ext cx="1160263" cy="195416"/>
            </a:xfrm>
            <a:prstGeom prst="rect">
              <a:avLst/>
            </a:prstGeom>
            <a:solidFill>
              <a:srgbClr val="FFFFFF">
                <a:alpha val="100000"/>
              </a:srgbClr>
            </a:solidFill>
            <a:ln w="9525" cap="rnd">
              <a:solidFill>
                <a:srgbClr val="FFFFFF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87" name="rc87"/>
            <p:cNvSpPr/>
            <p:nvPr/>
          </p:nvSpPr>
          <p:spPr>
            <a:xfrm>
              <a:off x="4189789" y="3304507"/>
              <a:ext cx="1160263" cy="195416"/>
            </a:xfrm>
            <a:prstGeom prst="rect">
              <a:avLst/>
            </a:prstGeom>
            <a:solidFill>
              <a:srgbClr val="EFF3F2">
                <a:alpha val="100000"/>
              </a:srgbClr>
            </a:solidFill>
            <a:ln w="9525" cap="rnd">
              <a:solidFill>
                <a:srgbClr val="EFF3F2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88" name="rc88"/>
            <p:cNvSpPr/>
            <p:nvPr/>
          </p:nvSpPr>
          <p:spPr>
            <a:xfrm>
              <a:off x="4189789" y="3499924"/>
              <a:ext cx="1160263" cy="195416"/>
            </a:xfrm>
            <a:prstGeom prst="rect">
              <a:avLst/>
            </a:prstGeom>
            <a:solidFill>
              <a:srgbClr val="FFFFFF">
                <a:alpha val="100000"/>
              </a:srgbClr>
            </a:solidFill>
            <a:ln w="9525" cap="rnd">
              <a:solidFill>
                <a:srgbClr val="FFFFFF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89" name="rc89"/>
            <p:cNvSpPr/>
            <p:nvPr/>
          </p:nvSpPr>
          <p:spPr>
            <a:xfrm>
              <a:off x="4189789" y="3695341"/>
              <a:ext cx="1160263" cy="195416"/>
            </a:xfrm>
            <a:prstGeom prst="rect">
              <a:avLst/>
            </a:prstGeom>
            <a:solidFill>
              <a:srgbClr val="EFF3F2">
                <a:alpha val="100000"/>
              </a:srgbClr>
            </a:solidFill>
            <a:ln w="9525" cap="rnd">
              <a:solidFill>
                <a:srgbClr val="EFF3F2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90" name="rc90"/>
            <p:cNvSpPr/>
            <p:nvPr/>
          </p:nvSpPr>
          <p:spPr>
            <a:xfrm>
              <a:off x="4189789" y="3890757"/>
              <a:ext cx="1160263" cy="195416"/>
            </a:xfrm>
            <a:prstGeom prst="rect">
              <a:avLst/>
            </a:prstGeom>
            <a:solidFill>
              <a:srgbClr val="FFFFFF">
                <a:alpha val="100000"/>
              </a:srgbClr>
            </a:solidFill>
            <a:ln w="9525" cap="rnd">
              <a:solidFill>
                <a:srgbClr val="FFFFFF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91" name="rc91"/>
            <p:cNvSpPr/>
            <p:nvPr/>
          </p:nvSpPr>
          <p:spPr>
            <a:xfrm>
              <a:off x="4189789" y="4086174"/>
              <a:ext cx="1160263" cy="195416"/>
            </a:xfrm>
            <a:prstGeom prst="rect">
              <a:avLst/>
            </a:prstGeom>
            <a:solidFill>
              <a:srgbClr val="EFF3F2">
                <a:alpha val="100000"/>
              </a:srgbClr>
            </a:solidFill>
            <a:ln w="9525" cap="rnd">
              <a:solidFill>
                <a:srgbClr val="EFF3F2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92" name="rc92"/>
            <p:cNvSpPr/>
            <p:nvPr/>
          </p:nvSpPr>
          <p:spPr>
            <a:xfrm>
              <a:off x="4189789" y="4281591"/>
              <a:ext cx="1160263" cy="195416"/>
            </a:xfrm>
            <a:prstGeom prst="rect">
              <a:avLst/>
            </a:prstGeom>
            <a:solidFill>
              <a:srgbClr val="FFFFFF">
                <a:alpha val="100000"/>
              </a:srgbClr>
            </a:solidFill>
            <a:ln w="9525" cap="rnd">
              <a:solidFill>
                <a:srgbClr val="FFFFFF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93" name="rc93"/>
            <p:cNvSpPr/>
            <p:nvPr/>
          </p:nvSpPr>
          <p:spPr>
            <a:xfrm>
              <a:off x="4189789" y="4477007"/>
              <a:ext cx="1160263" cy="195416"/>
            </a:xfrm>
            <a:prstGeom prst="rect">
              <a:avLst/>
            </a:prstGeom>
            <a:solidFill>
              <a:srgbClr val="EFF3F2">
                <a:alpha val="100000"/>
              </a:srgbClr>
            </a:solidFill>
            <a:ln w="9525" cap="rnd">
              <a:solidFill>
                <a:srgbClr val="EFF3F2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94" name="rc94"/>
            <p:cNvSpPr/>
            <p:nvPr/>
          </p:nvSpPr>
          <p:spPr>
            <a:xfrm>
              <a:off x="4189789" y="4672424"/>
              <a:ext cx="1160263" cy="195416"/>
            </a:xfrm>
            <a:prstGeom prst="rect">
              <a:avLst/>
            </a:prstGeom>
            <a:solidFill>
              <a:srgbClr val="FFFFFF">
                <a:alpha val="100000"/>
              </a:srgbClr>
            </a:solidFill>
            <a:ln w="9525" cap="rnd">
              <a:solidFill>
                <a:srgbClr val="FFFFFF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95" name="rc95"/>
            <p:cNvSpPr/>
            <p:nvPr/>
          </p:nvSpPr>
          <p:spPr>
            <a:xfrm>
              <a:off x="4189789" y="4867841"/>
              <a:ext cx="1160263" cy="195416"/>
            </a:xfrm>
            <a:prstGeom prst="rect">
              <a:avLst/>
            </a:prstGeom>
            <a:solidFill>
              <a:srgbClr val="EFF3F2">
                <a:alpha val="100000"/>
              </a:srgbClr>
            </a:solidFill>
            <a:ln w="9525" cap="rnd">
              <a:solidFill>
                <a:srgbClr val="EFF3F2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96" name="rc96"/>
            <p:cNvSpPr/>
            <p:nvPr/>
          </p:nvSpPr>
          <p:spPr>
            <a:xfrm>
              <a:off x="4189789" y="5063257"/>
              <a:ext cx="1160263" cy="195416"/>
            </a:xfrm>
            <a:prstGeom prst="rect">
              <a:avLst/>
            </a:prstGeom>
            <a:solidFill>
              <a:srgbClr val="FFFFFF">
                <a:alpha val="100000"/>
              </a:srgbClr>
            </a:solidFill>
            <a:ln w="9525" cap="rnd">
              <a:solidFill>
                <a:srgbClr val="FFFFFF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97" name="rc97"/>
            <p:cNvSpPr/>
            <p:nvPr/>
          </p:nvSpPr>
          <p:spPr>
            <a:xfrm>
              <a:off x="4189789" y="5258674"/>
              <a:ext cx="1160263" cy="195416"/>
            </a:xfrm>
            <a:prstGeom prst="rect">
              <a:avLst/>
            </a:prstGeom>
            <a:solidFill>
              <a:srgbClr val="EFF3F2">
                <a:alpha val="100000"/>
              </a:srgbClr>
            </a:solidFill>
            <a:ln w="9525" cap="rnd">
              <a:solidFill>
                <a:srgbClr val="EFF3F2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98" name="rc98"/>
            <p:cNvSpPr/>
            <p:nvPr/>
          </p:nvSpPr>
          <p:spPr>
            <a:xfrm>
              <a:off x="4189789" y="5454090"/>
              <a:ext cx="1160263" cy="195416"/>
            </a:xfrm>
            <a:prstGeom prst="rect">
              <a:avLst/>
            </a:prstGeom>
            <a:solidFill>
              <a:srgbClr val="FFFFFF">
                <a:alpha val="100000"/>
              </a:srgbClr>
            </a:solidFill>
            <a:ln w="9525" cap="rnd">
              <a:solidFill>
                <a:srgbClr val="FFFFFF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99" name="rc99"/>
            <p:cNvSpPr/>
            <p:nvPr/>
          </p:nvSpPr>
          <p:spPr>
            <a:xfrm>
              <a:off x="4189789" y="5649507"/>
              <a:ext cx="1160263" cy="195416"/>
            </a:xfrm>
            <a:prstGeom prst="rect">
              <a:avLst/>
            </a:prstGeom>
            <a:solidFill>
              <a:srgbClr val="EFF3F2">
                <a:alpha val="100000"/>
              </a:srgbClr>
            </a:solidFill>
            <a:ln w="9525" cap="rnd">
              <a:solidFill>
                <a:srgbClr val="EFF3F2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00" name="rc100"/>
            <p:cNvSpPr/>
            <p:nvPr/>
          </p:nvSpPr>
          <p:spPr>
            <a:xfrm>
              <a:off x="4189789" y="5844924"/>
              <a:ext cx="1160263" cy="195416"/>
            </a:xfrm>
            <a:prstGeom prst="rect">
              <a:avLst/>
            </a:prstGeom>
            <a:solidFill>
              <a:srgbClr val="FFFFFF">
                <a:alpha val="100000"/>
              </a:srgbClr>
            </a:solidFill>
            <a:ln w="9525" cap="rnd">
              <a:solidFill>
                <a:srgbClr val="FFFFFF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01" name="rc101"/>
            <p:cNvSpPr/>
            <p:nvPr/>
          </p:nvSpPr>
          <p:spPr>
            <a:xfrm>
              <a:off x="4189789" y="6040340"/>
              <a:ext cx="1160263" cy="195416"/>
            </a:xfrm>
            <a:prstGeom prst="rect">
              <a:avLst/>
            </a:prstGeom>
            <a:solidFill>
              <a:srgbClr val="EFF3F2">
                <a:alpha val="100000"/>
              </a:srgbClr>
            </a:solidFill>
            <a:ln w="9525" cap="rnd">
              <a:solidFill>
                <a:srgbClr val="EFF3F2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02" name="rc102"/>
            <p:cNvSpPr/>
            <p:nvPr/>
          </p:nvSpPr>
          <p:spPr>
            <a:xfrm>
              <a:off x="5350054" y="177841"/>
              <a:ext cx="991099" cy="195416"/>
            </a:xfrm>
            <a:prstGeom prst="rect">
              <a:avLst/>
            </a:prstGeom>
            <a:solidFill>
              <a:srgbClr val="EFF3F2">
                <a:alpha val="100000"/>
              </a:srgbClr>
            </a:solidFill>
            <a:ln w="9525" cap="rnd">
              <a:solidFill>
                <a:srgbClr val="EFF3F2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03" name="rc103"/>
            <p:cNvSpPr/>
            <p:nvPr/>
          </p:nvSpPr>
          <p:spPr>
            <a:xfrm>
              <a:off x="5350054" y="373258"/>
              <a:ext cx="991099" cy="195416"/>
            </a:xfrm>
            <a:prstGeom prst="rect">
              <a:avLst/>
            </a:prstGeom>
            <a:solidFill>
              <a:srgbClr val="FFFFFF">
                <a:alpha val="100000"/>
              </a:srgbClr>
            </a:solidFill>
            <a:ln w="9525" cap="rnd">
              <a:solidFill>
                <a:srgbClr val="FFFFFF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04" name="rc104"/>
            <p:cNvSpPr/>
            <p:nvPr/>
          </p:nvSpPr>
          <p:spPr>
            <a:xfrm>
              <a:off x="5350054" y="568674"/>
              <a:ext cx="991099" cy="195416"/>
            </a:xfrm>
            <a:prstGeom prst="rect">
              <a:avLst/>
            </a:prstGeom>
            <a:solidFill>
              <a:srgbClr val="EFF3F2">
                <a:alpha val="100000"/>
              </a:srgbClr>
            </a:solidFill>
            <a:ln w="9525" cap="rnd">
              <a:solidFill>
                <a:srgbClr val="EFF3F2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05" name="rc105"/>
            <p:cNvSpPr/>
            <p:nvPr/>
          </p:nvSpPr>
          <p:spPr>
            <a:xfrm>
              <a:off x="5350054" y="764091"/>
              <a:ext cx="991099" cy="195416"/>
            </a:xfrm>
            <a:prstGeom prst="rect">
              <a:avLst/>
            </a:prstGeom>
            <a:solidFill>
              <a:srgbClr val="FFFFFF">
                <a:alpha val="100000"/>
              </a:srgbClr>
            </a:solidFill>
            <a:ln w="9525" cap="rnd">
              <a:solidFill>
                <a:srgbClr val="FFFFFF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06" name="rc106"/>
            <p:cNvSpPr/>
            <p:nvPr/>
          </p:nvSpPr>
          <p:spPr>
            <a:xfrm>
              <a:off x="5350054" y="959508"/>
              <a:ext cx="991099" cy="195416"/>
            </a:xfrm>
            <a:prstGeom prst="rect">
              <a:avLst/>
            </a:prstGeom>
            <a:solidFill>
              <a:srgbClr val="EFF3F2">
                <a:alpha val="100000"/>
              </a:srgbClr>
            </a:solidFill>
            <a:ln w="9525" cap="rnd">
              <a:solidFill>
                <a:srgbClr val="EFF3F2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07" name="rc107"/>
            <p:cNvSpPr/>
            <p:nvPr/>
          </p:nvSpPr>
          <p:spPr>
            <a:xfrm>
              <a:off x="5350054" y="1154924"/>
              <a:ext cx="991099" cy="195416"/>
            </a:xfrm>
            <a:prstGeom prst="rect">
              <a:avLst/>
            </a:prstGeom>
            <a:solidFill>
              <a:srgbClr val="FFFFFF">
                <a:alpha val="100000"/>
              </a:srgbClr>
            </a:solidFill>
            <a:ln w="9525" cap="rnd">
              <a:solidFill>
                <a:srgbClr val="FFFFFF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08" name="rc108"/>
            <p:cNvSpPr/>
            <p:nvPr/>
          </p:nvSpPr>
          <p:spPr>
            <a:xfrm>
              <a:off x="5350054" y="1350341"/>
              <a:ext cx="991099" cy="195416"/>
            </a:xfrm>
            <a:prstGeom prst="rect">
              <a:avLst/>
            </a:prstGeom>
            <a:solidFill>
              <a:srgbClr val="EFF3F2">
                <a:alpha val="100000"/>
              </a:srgbClr>
            </a:solidFill>
            <a:ln w="9525" cap="rnd">
              <a:solidFill>
                <a:srgbClr val="EFF3F2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09" name="rc109"/>
            <p:cNvSpPr/>
            <p:nvPr/>
          </p:nvSpPr>
          <p:spPr>
            <a:xfrm>
              <a:off x="5350054" y="1545758"/>
              <a:ext cx="991099" cy="195416"/>
            </a:xfrm>
            <a:prstGeom prst="rect">
              <a:avLst/>
            </a:prstGeom>
            <a:solidFill>
              <a:srgbClr val="FFFFFF">
                <a:alpha val="100000"/>
              </a:srgbClr>
            </a:solidFill>
            <a:ln w="9525" cap="rnd">
              <a:solidFill>
                <a:srgbClr val="FFFFFF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10" name="rc110"/>
            <p:cNvSpPr/>
            <p:nvPr/>
          </p:nvSpPr>
          <p:spPr>
            <a:xfrm>
              <a:off x="5350054" y="1741174"/>
              <a:ext cx="991099" cy="195416"/>
            </a:xfrm>
            <a:prstGeom prst="rect">
              <a:avLst/>
            </a:prstGeom>
            <a:solidFill>
              <a:srgbClr val="EFF3F2">
                <a:alpha val="100000"/>
              </a:srgbClr>
            </a:solidFill>
            <a:ln w="9525" cap="rnd">
              <a:solidFill>
                <a:srgbClr val="EFF3F2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11" name="rc111"/>
            <p:cNvSpPr/>
            <p:nvPr/>
          </p:nvSpPr>
          <p:spPr>
            <a:xfrm>
              <a:off x="5350054" y="1936591"/>
              <a:ext cx="991099" cy="195416"/>
            </a:xfrm>
            <a:prstGeom prst="rect">
              <a:avLst/>
            </a:prstGeom>
            <a:solidFill>
              <a:srgbClr val="FFFFFF">
                <a:alpha val="100000"/>
              </a:srgbClr>
            </a:solidFill>
            <a:ln w="9525" cap="rnd">
              <a:solidFill>
                <a:srgbClr val="FFFFFF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12" name="rc112"/>
            <p:cNvSpPr/>
            <p:nvPr/>
          </p:nvSpPr>
          <p:spPr>
            <a:xfrm>
              <a:off x="5350054" y="2132008"/>
              <a:ext cx="991099" cy="195416"/>
            </a:xfrm>
            <a:prstGeom prst="rect">
              <a:avLst/>
            </a:prstGeom>
            <a:solidFill>
              <a:srgbClr val="EFF3F2">
                <a:alpha val="100000"/>
              </a:srgbClr>
            </a:solidFill>
            <a:ln w="9525" cap="rnd">
              <a:solidFill>
                <a:srgbClr val="EFF3F2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13" name="rc113"/>
            <p:cNvSpPr/>
            <p:nvPr/>
          </p:nvSpPr>
          <p:spPr>
            <a:xfrm>
              <a:off x="5350054" y="2327424"/>
              <a:ext cx="991099" cy="195416"/>
            </a:xfrm>
            <a:prstGeom prst="rect">
              <a:avLst/>
            </a:prstGeom>
            <a:solidFill>
              <a:srgbClr val="FFFFFF">
                <a:alpha val="100000"/>
              </a:srgbClr>
            </a:solidFill>
            <a:ln w="9525" cap="rnd">
              <a:solidFill>
                <a:srgbClr val="FFFFFF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14" name="rc114"/>
            <p:cNvSpPr/>
            <p:nvPr/>
          </p:nvSpPr>
          <p:spPr>
            <a:xfrm>
              <a:off x="5350054" y="2522841"/>
              <a:ext cx="991099" cy="195416"/>
            </a:xfrm>
            <a:prstGeom prst="rect">
              <a:avLst/>
            </a:prstGeom>
            <a:solidFill>
              <a:srgbClr val="EFF3F2">
                <a:alpha val="100000"/>
              </a:srgbClr>
            </a:solidFill>
            <a:ln w="9525" cap="rnd">
              <a:solidFill>
                <a:srgbClr val="EFF3F2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15" name="rc115"/>
            <p:cNvSpPr/>
            <p:nvPr/>
          </p:nvSpPr>
          <p:spPr>
            <a:xfrm>
              <a:off x="5350054" y="2718258"/>
              <a:ext cx="991099" cy="195416"/>
            </a:xfrm>
            <a:prstGeom prst="rect">
              <a:avLst/>
            </a:prstGeom>
            <a:solidFill>
              <a:srgbClr val="FFFFFF">
                <a:alpha val="100000"/>
              </a:srgbClr>
            </a:solidFill>
            <a:ln w="9525" cap="rnd">
              <a:solidFill>
                <a:srgbClr val="FFFFFF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16" name="rc116"/>
            <p:cNvSpPr/>
            <p:nvPr/>
          </p:nvSpPr>
          <p:spPr>
            <a:xfrm>
              <a:off x="5350054" y="2913674"/>
              <a:ext cx="991099" cy="195416"/>
            </a:xfrm>
            <a:prstGeom prst="rect">
              <a:avLst/>
            </a:prstGeom>
            <a:solidFill>
              <a:srgbClr val="EFF3F2">
                <a:alpha val="100000"/>
              </a:srgbClr>
            </a:solidFill>
            <a:ln w="9525" cap="rnd">
              <a:solidFill>
                <a:srgbClr val="EFF3F2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17" name="rc117"/>
            <p:cNvSpPr/>
            <p:nvPr/>
          </p:nvSpPr>
          <p:spPr>
            <a:xfrm>
              <a:off x="5350054" y="3109091"/>
              <a:ext cx="991099" cy="195416"/>
            </a:xfrm>
            <a:prstGeom prst="rect">
              <a:avLst/>
            </a:prstGeom>
            <a:solidFill>
              <a:srgbClr val="FFFFFF">
                <a:alpha val="100000"/>
              </a:srgbClr>
            </a:solidFill>
            <a:ln w="9525" cap="rnd">
              <a:solidFill>
                <a:srgbClr val="FFFFFF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18" name="rc118"/>
            <p:cNvSpPr/>
            <p:nvPr/>
          </p:nvSpPr>
          <p:spPr>
            <a:xfrm>
              <a:off x="5350054" y="3304507"/>
              <a:ext cx="991099" cy="195416"/>
            </a:xfrm>
            <a:prstGeom prst="rect">
              <a:avLst/>
            </a:prstGeom>
            <a:solidFill>
              <a:srgbClr val="EFF3F2">
                <a:alpha val="100000"/>
              </a:srgbClr>
            </a:solidFill>
            <a:ln w="9525" cap="rnd">
              <a:solidFill>
                <a:srgbClr val="EFF3F2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19" name="rc119"/>
            <p:cNvSpPr/>
            <p:nvPr/>
          </p:nvSpPr>
          <p:spPr>
            <a:xfrm>
              <a:off x="5350054" y="3499924"/>
              <a:ext cx="991099" cy="195416"/>
            </a:xfrm>
            <a:prstGeom prst="rect">
              <a:avLst/>
            </a:prstGeom>
            <a:solidFill>
              <a:srgbClr val="FFFFFF">
                <a:alpha val="100000"/>
              </a:srgbClr>
            </a:solidFill>
            <a:ln w="9525" cap="rnd">
              <a:solidFill>
                <a:srgbClr val="FFFFFF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20" name="rc120"/>
            <p:cNvSpPr/>
            <p:nvPr/>
          </p:nvSpPr>
          <p:spPr>
            <a:xfrm>
              <a:off x="5350054" y="3695341"/>
              <a:ext cx="991099" cy="195416"/>
            </a:xfrm>
            <a:prstGeom prst="rect">
              <a:avLst/>
            </a:prstGeom>
            <a:solidFill>
              <a:srgbClr val="EFF3F2">
                <a:alpha val="100000"/>
              </a:srgbClr>
            </a:solidFill>
            <a:ln w="9525" cap="rnd">
              <a:solidFill>
                <a:srgbClr val="EFF3F2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21" name="rc121"/>
            <p:cNvSpPr/>
            <p:nvPr/>
          </p:nvSpPr>
          <p:spPr>
            <a:xfrm>
              <a:off x="5350054" y="3890757"/>
              <a:ext cx="991099" cy="195416"/>
            </a:xfrm>
            <a:prstGeom prst="rect">
              <a:avLst/>
            </a:prstGeom>
            <a:solidFill>
              <a:srgbClr val="FFFFFF">
                <a:alpha val="100000"/>
              </a:srgbClr>
            </a:solidFill>
            <a:ln w="9525" cap="rnd">
              <a:solidFill>
                <a:srgbClr val="FFFFFF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22" name="rc122"/>
            <p:cNvSpPr/>
            <p:nvPr/>
          </p:nvSpPr>
          <p:spPr>
            <a:xfrm>
              <a:off x="5350054" y="4086174"/>
              <a:ext cx="991099" cy="195416"/>
            </a:xfrm>
            <a:prstGeom prst="rect">
              <a:avLst/>
            </a:prstGeom>
            <a:solidFill>
              <a:srgbClr val="EFF3F2">
                <a:alpha val="100000"/>
              </a:srgbClr>
            </a:solidFill>
            <a:ln w="9525" cap="rnd">
              <a:solidFill>
                <a:srgbClr val="EFF3F2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23" name="rc123"/>
            <p:cNvSpPr/>
            <p:nvPr/>
          </p:nvSpPr>
          <p:spPr>
            <a:xfrm>
              <a:off x="5350054" y="4281591"/>
              <a:ext cx="991099" cy="195416"/>
            </a:xfrm>
            <a:prstGeom prst="rect">
              <a:avLst/>
            </a:prstGeom>
            <a:solidFill>
              <a:srgbClr val="FFFFFF">
                <a:alpha val="100000"/>
              </a:srgbClr>
            </a:solidFill>
            <a:ln w="9525" cap="rnd">
              <a:solidFill>
                <a:srgbClr val="FFFFFF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24" name="rc124"/>
            <p:cNvSpPr/>
            <p:nvPr/>
          </p:nvSpPr>
          <p:spPr>
            <a:xfrm>
              <a:off x="5350054" y="4477007"/>
              <a:ext cx="991099" cy="195416"/>
            </a:xfrm>
            <a:prstGeom prst="rect">
              <a:avLst/>
            </a:prstGeom>
            <a:solidFill>
              <a:srgbClr val="EFF3F2">
                <a:alpha val="100000"/>
              </a:srgbClr>
            </a:solidFill>
            <a:ln w="9525" cap="rnd">
              <a:solidFill>
                <a:srgbClr val="EFF3F2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25" name="rc125"/>
            <p:cNvSpPr/>
            <p:nvPr/>
          </p:nvSpPr>
          <p:spPr>
            <a:xfrm>
              <a:off x="5350054" y="4672424"/>
              <a:ext cx="991099" cy="195416"/>
            </a:xfrm>
            <a:prstGeom prst="rect">
              <a:avLst/>
            </a:prstGeom>
            <a:solidFill>
              <a:srgbClr val="FFFFFF">
                <a:alpha val="100000"/>
              </a:srgbClr>
            </a:solidFill>
            <a:ln w="9525" cap="rnd">
              <a:solidFill>
                <a:srgbClr val="FFFFFF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26" name="rc126"/>
            <p:cNvSpPr/>
            <p:nvPr/>
          </p:nvSpPr>
          <p:spPr>
            <a:xfrm>
              <a:off x="5350054" y="4867841"/>
              <a:ext cx="991099" cy="195416"/>
            </a:xfrm>
            <a:prstGeom prst="rect">
              <a:avLst/>
            </a:prstGeom>
            <a:solidFill>
              <a:srgbClr val="EFF3F2">
                <a:alpha val="100000"/>
              </a:srgbClr>
            </a:solidFill>
            <a:ln w="9525" cap="rnd">
              <a:solidFill>
                <a:srgbClr val="EFF3F2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27" name="rc127"/>
            <p:cNvSpPr/>
            <p:nvPr/>
          </p:nvSpPr>
          <p:spPr>
            <a:xfrm>
              <a:off x="5350054" y="5063257"/>
              <a:ext cx="991099" cy="195416"/>
            </a:xfrm>
            <a:prstGeom prst="rect">
              <a:avLst/>
            </a:prstGeom>
            <a:solidFill>
              <a:srgbClr val="FFFFFF">
                <a:alpha val="100000"/>
              </a:srgbClr>
            </a:solidFill>
            <a:ln w="9525" cap="rnd">
              <a:solidFill>
                <a:srgbClr val="FFFFFF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28" name="rc128"/>
            <p:cNvSpPr/>
            <p:nvPr/>
          </p:nvSpPr>
          <p:spPr>
            <a:xfrm>
              <a:off x="5350054" y="5258674"/>
              <a:ext cx="991099" cy="195416"/>
            </a:xfrm>
            <a:prstGeom prst="rect">
              <a:avLst/>
            </a:prstGeom>
            <a:solidFill>
              <a:srgbClr val="EFF3F2">
                <a:alpha val="100000"/>
              </a:srgbClr>
            </a:solidFill>
            <a:ln w="9525" cap="rnd">
              <a:solidFill>
                <a:srgbClr val="EFF3F2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29" name="rc129"/>
            <p:cNvSpPr/>
            <p:nvPr/>
          </p:nvSpPr>
          <p:spPr>
            <a:xfrm>
              <a:off x="5350054" y="5454090"/>
              <a:ext cx="991099" cy="195416"/>
            </a:xfrm>
            <a:prstGeom prst="rect">
              <a:avLst/>
            </a:prstGeom>
            <a:solidFill>
              <a:srgbClr val="FFFFFF">
                <a:alpha val="100000"/>
              </a:srgbClr>
            </a:solidFill>
            <a:ln w="9525" cap="rnd">
              <a:solidFill>
                <a:srgbClr val="FFFFFF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30" name="rc130"/>
            <p:cNvSpPr/>
            <p:nvPr/>
          </p:nvSpPr>
          <p:spPr>
            <a:xfrm>
              <a:off x="5350054" y="5649507"/>
              <a:ext cx="991099" cy="195416"/>
            </a:xfrm>
            <a:prstGeom prst="rect">
              <a:avLst/>
            </a:prstGeom>
            <a:solidFill>
              <a:srgbClr val="EFF3F2">
                <a:alpha val="100000"/>
              </a:srgbClr>
            </a:solidFill>
            <a:ln w="9525" cap="rnd">
              <a:solidFill>
                <a:srgbClr val="EFF3F2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31" name="rc131"/>
            <p:cNvSpPr/>
            <p:nvPr/>
          </p:nvSpPr>
          <p:spPr>
            <a:xfrm>
              <a:off x="5350054" y="5844924"/>
              <a:ext cx="991099" cy="195416"/>
            </a:xfrm>
            <a:prstGeom prst="rect">
              <a:avLst/>
            </a:prstGeom>
            <a:solidFill>
              <a:srgbClr val="FFFFFF">
                <a:alpha val="100000"/>
              </a:srgbClr>
            </a:solidFill>
            <a:ln w="9525" cap="rnd">
              <a:solidFill>
                <a:srgbClr val="FFFFFF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32" name="rc132"/>
            <p:cNvSpPr/>
            <p:nvPr/>
          </p:nvSpPr>
          <p:spPr>
            <a:xfrm>
              <a:off x="5350054" y="6040340"/>
              <a:ext cx="991099" cy="195416"/>
            </a:xfrm>
            <a:prstGeom prst="rect">
              <a:avLst/>
            </a:prstGeom>
            <a:solidFill>
              <a:srgbClr val="EFF3F2">
                <a:alpha val="100000"/>
              </a:srgbClr>
            </a:solidFill>
            <a:ln w="9525" cap="rnd">
              <a:solidFill>
                <a:srgbClr val="EFF3F2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33" name="rc133"/>
            <p:cNvSpPr/>
            <p:nvPr/>
          </p:nvSpPr>
          <p:spPr>
            <a:xfrm>
              <a:off x="6341154" y="177841"/>
              <a:ext cx="1866454" cy="195416"/>
            </a:xfrm>
            <a:prstGeom prst="rect">
              <a:avLst/>
            </a:prstGeom>
            <a:solidFill>
              <a:srgbClr val="EFF3F2">
                <a:alpha val="100000"/>
              </a:srgbClr>
            </a:solidFill>
            <a:ln w="9525" cap="rnd">
              <a:solidFill>
                <a:srgbClr val="EFF3F2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34" name="rc134"/>
            <p:cNvSpPr/>
            <p:nvPr/>
          </p:nvSpPr>
          <p:spPr>
            <a:xfrm>
              <a:off x="6341154" y="373258"/>
              <a:ext cx="1866454" cy="195416"/>
            </a:xfrm>
            <a:prstGeom prst="rect">
              <a:avLst/>
            </a:prstGeom>
            <a:solidFill>
              <a:srgbClr val="FFFFFF">
                <a:alpha val="100000"/>
              </a:srgbClr>
            </a:solidFill>
            <a:ln w="9525" cap="rnd">
              <a:solidFill>
                <a:srgbClr val="FFFFFF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35" name="rc135"/>
            <p:cNvSpPr/>
            <p:nvPr/>
          </p:nvSpPr>
          <p:spPr>
            <a:xfrm>
              <a:off x="6341154" y="568674"/>
              <a:ext cx="1866454" cy="195416"/>
            </a:xfrm>
            <a:prstGeom prst="rect">
              <a:avLst/>
            </a:prstGeom>
            <a:solidFill>
              <a:srgbClr val="EFF3F2">
                <a:alpha val="100000"/>
              </a:srgbClr>
            </a:solidFill>
            <a:ln w="9525" cap="rnd">
              <a:solidFill>
                <a:srgbClr val="EFF3F2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36" name="rc136"/>
            <p:cNvSpPr/>
            <p:nvPr/>
          </p:nvSpPr>
          <p:spPr>
            <a:xfrm>
              <a:off x="6341154" y="764091"/>
              <a:ext cx="1866454" cy="195416"/>
            </a:xfrm>
            <a:prstGeom prst="rect">
              <a:avLst/>
            </a:prstGeom>
            <a:solidFill>
              <a:srgbClr val="FFFFFF">
                <a:alpha val="100000"/>
              </a:srgbClr>
            </a:solidFill>
            <a:ln w="9525" cap="rnd">
              <a:solidFill>
                <a:srgbClr val="FFFFFF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37" name="rc137"/>
            <p:cNvSpPr/>
            <p:nvPr/>
          </p:nvSpPr>
          <p:spPr>
            <a:xfrm>
              <a:off x="6341154" y="959508"/>
              <a:ext cx="1866454" cy="195416"/>
            </a:xfrm>
            <a:prstGeom prst="rect">
              <a:avLst/>
            </a:prstGeom>
            <a:solidFill>
              <a:srgbClr val="EFF3F2">
                <a:alpha val="100000"/>
              </a:srgbClr>
            </a:solidFill>
            <a:ln w="9525" cap="rnd">
              <a:solidFill>
                <a:srgbClr val="EFF3F2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38" name="rc138"/>
            <p:cNvSpPr/>
            <p:nvPr/>
          </p:nvSpPr>
          <p:spPr>
            <a:xfrm>
              <a:off x="6341154" y="1154924"/>
              <a:ext cx="1866454" cy="195416"/>
            </a:xfrm>
            <a:prstGeom prst="rect">
              <a:avLst/>
            </a:prstGeom>
            <a:solidFill>
              <a:srgbClr val="FFFFFF">
                <a:alpha val="100000"/>
              </a:srgbClr>
            </a:solidFill>
            <a:ln w="9525" cap="rnd">
              <a:solidFill>
                <a:srgbClr val="FFFFFF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39" name="rc139"/>
            <p:cNvSpPr/>
            <p:nvPr/>
          </p:nvSpPr>
          <p:spPr>
            <a:xfrm>
              <a:off x="6341154" y="1350341"/>
              <a:ext cx="1866454" cy="195416"/>
            </a:xfrm>
            <a:prstGeom prst="rect">
              <a:avLst/>
            </a:prstGeom>
            <a:solidFill>
              <a:srgbClr val="EFF3F2">
                <a:alpha val="100000"/>
              </a:srgbClr>
            </a:solidFill>
            <a:ln w="9525" cap="rnd">
              <a:solidFill>
                <a:srgbClr val="EFF3F2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40" name="rc140"/>
            <p:cNvSpPr/>
            <p:nvPr/>
          </p:nvSpPr>
          <p:spPr>
            <a:xfrm>
              <a:off x="6341154" y="1545758"/>
              <a:ext cx="1866454" cy="195416"/>
            </a:xfrm>
            <a:prstGeom prst="rect">
              <a:avLst/>
            </a:prstGeom>
            <a:solidFill>
              <a:srgbClr val="FFFFFF">
                <a:alpha val="100000"/>
              </a:srgbClr>
            </a:solidFill>
            <a:ln w="9525" cap="rnd">
              <a:solidFill>
                <a:srgbClr val="FFFFFF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41" name="rc141"/>
            <p:cNvSpPr/>
            <p:nvPr/>
          </p:nvSpPr>
          <p:spPr>
            <a:xfrm>
              <a:off x="6341154" y="1741174"/>
              <a:ext cx="1866454" cy="195416"/>
            </a:xfrm>
            <a:prstGeom prst="rect">
              <a:avLst/>
            </a:prstGeom>
            <a:solidFill>
              <a:srgbClr val="EFF3F2">
                <a:alpha val="100000"/>
              </a:srgbClr>
            </a:solidFill>
            <a:ln w="9525" cap="rnd">
              <a:solidFill>
                <a:srgbClr val="EFF3F2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42" name="rc142"/>
            <p:cNvSpPr/>
            <p:nvPr/>
          </p:nvSpPr>
          <p:spPr>
            <a:xfrm>
              <a:off x="6341154" y="1936591"/>
              <a:ext cx="1866454" cy="195416"/>
            </a:xfrm>
            <a:prstGeom prst="rect">
              <a:avLst/>
            </a:prstGeom>
            <a:solidFill>
              <a:srgbClr val="FFFFFF">
                <a:alpha val="100000"/>
              </a:srgbClr>
            </a:solidFill>
            <a:ln w="9525" cap="rnd">
              <a:solidFill>
                <a:srgbClr val="FFFFFF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43" name="rc143"/>
            <p:cNvSpPr/>
            <p:nvPr/>
          </p:nvSpPr>
          <p:spPr>
            <a:xfrm>
              <a:off x="6341154" y="2132008"/>
              <a:ext cx="1866454" cy="195416"/>
            </a:xfrm>
            <a:prstGeom prst="rect">
              <a:avLst/>
            </a:prstGeom>
            <a:solidFill>
              <a:srgbClr val="EFF3F2">
                <a:alpha val="100000"/>
              </a:srgbClr>
            </a:solidFill>
            <a:ln w="9525" cap="rnd">
              <a:solidFill>
                <a:srgbClr val="EFF3F2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44" name="rc144"/>
            <p:cNvSpPr/>
            <p:nvPr/>
          </p:nvSpPr>
          <p:spPr>
            <a:xfrm>
              <a:off x="6341154" y="2327424"/>
              <a:ext cx="1866454" cy="195416"/>
            </a:xfrm>
            <a:prstGeom prst="rect">
              <a:avLst/>
            </a:prstGeom>
            <a:solidFill>
              <a:srgbClr val="FFFFFF">
                <a:alpha val="100000"/>
              </a:srgbClr>
            </a:solidFill>
            <a:ln w="9525" cap="rnd">
              <a:solidFill>
                <a:srgbClr val="FFFFFF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45" name="rc145"/>
            <p:cNvSpPr/>
            <p:nvPr/>
          </p:nvSpPr>
          <p:spPr>
            <a:xfrm>
              <a:off x="6341154" y="2522841"/>
              <a:ext cx="1866454" cy="195416"/>
            </a:xfrm>
            <a:prstGeom prst="rect">
              <a:avLst/>
            </a:prstGeom>
            <a:solidFill>
              <a:srgbClr val="EFF3F2">
                <a:alpha val="100000"/>
              </a:srgbClr>
            </a:solidFill>
            <a:ln w="9525" cap="rnd">
              <a:solidFill>
                <a:srgbClr val="EFF3F2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46" name="rc146"/>
            <p:cNvSpPr/>
            <p:nvPr/>
          </p:nvSpPr>
          <p:spPr>
            <a:xfrm>
              <a:off x="6341154" y="2718258"/>
              <a:ext cx="1866454" cy="195416"/>
            </a:xfrm>
            <a:prstGeom prst="rect">
              <a:avLst/>
            </a:prstGeom>
            <a:solidFill>
              <a:srgbClr val="FFFFFF">
                <a:alpha val="100000"/>
              </a:srgbClr>
            </a:solidFill>
            <a:ln w="9525" cap="rnd">
              <a:solidFill>
                <a:srgbClr val="FFFFFF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47" name="rc147"/>
            <p:cNvSpPr/>
            <p:nvPr/>
          </p:nvSpPr>
          <p:spPr>
            <a:xfrm>
              <a:off x="6341154" y="2913674"/>
              <a:ext cx="1866454" cy="195416"/>
            </a:xfrm>
            <a:prstGeom prst="rect">
              <a:avLst/>
            </a:prstGeom>
            <a:solidFill>
              <a:srgbClr val="EFF3F2">
                <a:alpha val="100000"/>
              </a:srgbClr>
            </a:solidFill>
            <a:ln w="9525" cap="rnd">
              <a:solidFill>
                <a:srgbClr val="EFF3F2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48" name="rc148"/>
            <p:cNvSpPr/>
            <p:nvPr/>
          </p:nvSpPr>
          <p:spPr>
            <a:xfrm>
              <a:off x="6341154" y="3109091"/>
              <a:ext cx="1866454" cy="195416"/>
            </a:xfrm>
            <a:prstGeom prst="rect">
              <a:avLst/>
            </a:prstGeom>
            <a:solidFill>
              <a:srgbClr val="FFFFFF">
                <a:alpha val="100000"/>
              </a:srgbClr>
            </a:solidFill>
            <a:ln w="9525" cap="rnd">
              <a:solidFill>
                <a:srgbClr val="FFFFFF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49" name="rc149"/>
            <p:cNvSpPr/>
            <p:nvPr/>
          </p:nvSpPr>
          <p:spPr>
            <a:xfrm>
              <a:off x="6341154" y="3304507"/>
              <a:ext cx="1866454" cy="195416"/>
            </a:xfrm>
            <a:prstGeom prst="rect">
              <a:avLst/>
            </a:prstGeom>
            <a:solidFill>
              <a:srgbClr val="EFF3F2">
                <a:alpha val="100000"/>
              </a:srgbClr>
            </a:solidFill>
            <a:ln w="9525" cap="rnd">
              <a:solidFill>
                <a:srgbClr val="EFF3F2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50" name="rc150"/>
            <p:cNvSpPr/>
            <p:nvPr/>
          </p:nvSpPr>
          <p:spPr>
            <a:xfrm>
              <a:off x="6341154" y="3499924"/>
              <a:ext cx="1866454" cy="195416"/>
            </a:xfrm>
            <a:prstGeom prst="rect">
              <a:avLst/>
            </a:prstGeom>
            <a:solidFill>
              <a:srgbClr val="FFFFFF">
                <a:alpha val="100000"/>
              </a:srgbClr>
            </a:solidFill>
            <a:ln w="9525" cap="rnd">
              <a:solidFill>
                <a:srgbClr val="FFFFFF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51" name="rc151"/>
            <p:cNvSpPr/>
            <p:nvPr/>
          </p:nvSpPr>
          <p:spPr>
            <a:xfrm>
              <a:off x="6341154" y="3695341"/>
              <a:ext cx="1866454" cy="195416"/>
            </a:xfrm>
            <a:prstGeom prst="rect">
              <a:avLst/>
            </a:prstGeom>
            <a:solidFill>
              <a:srgbClr val="EFF3F2">
                <a:alpha val="100000"/>
              </a:srgbClr>
            </a:solidFill>
            <a:ln w="9525" cap="rnd">
              <a:solidFill>
                <a:srgbClr val="EFF3F2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52" name="rc152"/>
            <p:cNvSpPr/>
            <p:nvPr/>
          </p:nvSpPr>
          <p:spPr>
            <a:xfrm>
              <a:off x="6341154" y="3890757"/>
              <a:ext cx="1866454" cy="195416"/>
            </a:xfrm>
            <a:prstGeom prst="rect">
              <a:avLst/>
            </a:prstGeom>
            <a:solidFill>
              <a:srgbClr val="FFFFFF">
                <a:alpha val="100000"/>
              </a:srgbClr>
            </a:solidFill>
            <a:ln w="9525" cap="rnd">
              <a:solidFill>
                <a:srgbClr val="FFFFFF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53" name="rc153"/>
            <p:cNvSpPr/>
            <p:nvPr/>
          </p:nvSpPr>
          <p:spPr>
            <a:xfrm>
              <a:off x="6341154" y="4086174"/>
              <a:ext cx="1866454" cy="195416"/>
            </a:xfrm>
            <a:prstGeom prst="rect">
              <a:avLst/>
            </a:prstGeom>
            <a:solidFill>
              <a:srgbClr val="EFF3F2">
                <a:alpha val="100000"/>
              </a:srgbClr>
            </a:solidFill>
            <a:ln w="9525" cap="rnd">
              <a:solidFill>
                <a:srgbClr val="EFF3F2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54" name="rc154"/>
            <p:cNvSpPr/>
            <p:nvPr/>
          </p:nvSpPr>
          <p:spPr>
            <a:xfrm>
              <a:off x="6341154" y="4281591"/>
              <a:ext cx="1866454" cy="195416"/>
            </a:xfrm>
            <a:prstGeom prst="rect">
              <a:avLst/>
            </a:prstGeom>
            <a:solidFill>
              <a:srgbClr val="FFFFFF">
                <a:alpha val="100000"/>
              </a:srgbClr>
            </a:solidFill>
            <a:ln w="9525" cap="rnd">
              <a:solidFill>
                <a:srgbClr val="FFFFFF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55" name="rc155"/>
            <p:cNvSpPr/>
            <p:nvPr/>
          </p:nvSpPr>
          <p:spPr>
            <a:xfrm>
              <a:off x="6341154" y="4477007"/>
              <a:ext cx="1866454" cy="195416"/>
            </a:xfrm>
            <a:prstGeom prst="rect">
              <a:avLst/>
            </a:prstGeom>
            <a:solidFill>
              <a:srgbClr val="EFF3F2">
                <a:alpha val="100000"/>
              </a:srgbClr>
            </a:solidFill>
            <a:ln w="9525" cap="rnd">
              <a:solidFill>
                <a:srgbClr val="EFF3F2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56" name="rc156"/>
            <p:cNvSpPr/>
            <p:nvPr/>
          </p:nvSpPr>
          <p:spPr>
            <a:xfrm>
              <a:off x="6341154" y="4672424"/>
              <a:ext cx="1866454" cy="195416"/>
            </a:xfrm>
            <a:prstGeom prst="rect">
              <a:avLst/>
            </a:prstGeom>
            <a:solidFill>
              <a:srgbClr val="FFFFFF">
                <a:alpha val="100000"/>
              </a:srgbClr>
            </a:solidFill>
            <a:ln w="9525" cap="rnd">
              <a:solidFill>
                <a:srgbClr val="FFFFFF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57" name="rc157"/>
            <p:cNvSpPr/>
            <p:nvPr/>
          </p:nvSpPr>
          <p:spPr>
            <a:xfrm>
              <a:off x="6341154" y="4867841"/>
              <a:ext cx="1866454" cy="195416"/>
            </a:xfrm>
            <a:prstGeom prst="rect">
              <a:avLst/>
            </a:prstGeom>
            <a:solidFill>
              <a:srgbClr val="EFF3F2">
                <a:alpha val="100000"/>
              </a:srgbClr>
            </a:solidFill>
            <a:ln w="9525" cap="rnd">
              <a:solidFill>
                <a:srgbClr val="EFF3F2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58" name="rc158"/>
            <p:cNvSpPr/>
            <p:nvPr/>
          </p:nvSpPr>
          <p:spPr>
            <a:xfrm>
              <a:off x="6341154" y="5063257"/>
              <a:ext cx="1866454" cy="195416"/>
            </a:xfrm>
            <a:prstGeom prst="rect">
              <a:avLst/>
            </a:prstGeom>
            <a:solidFill>
              <a:srgbClr val="FFFFFF">
                <a:alpha val="100000"/>
              </a:srgbClr>
            </a:solidFill>
            <a:ln w="9525" cap="rnd">
              <a:solidFill>
                <a:srgbClr val="FFFFFF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59" name="rc159"/>
            <p:cNvSpPr/>
            <p:nvPr/>
          </p:nvSpPr>
          <p:spPr>
            <a:xfrm>
              <a:off x="6341154" y="5258674"/>
              <a:ext cx="1866454" cy="195416"/>
            </a:xfrm>
            <a:prstGeom prst="rect">
              <a:avLst/>
            </a:prstGeom>
            <a:solidFill>
              <a:srgbClr val="EFF3F2">
                <a:alpha val="100000"/>
              </a:srgbClr>
            </a:solidFill>
            <a:ln w="9525" cap="rnd">
              <a:solidFill>
                <a:srgbClr val="EFF3F2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60" name="rc160"/>
            <p:cNvSpPr/>
            <p:nvPr/>
          </p:nvSpPr>
          <p:spPr>
            <a:xfrm>
              <a:off x="6341154" y="5454090"/>
              <a:ext cx="1866454" cy="195416"/>
            </a:xfrm>
            <a:prstGeom prst="rect">
              <a:avLst/>
            </a:prstGeom>
            <a:solidFill>
              <a:srgbClr val="FFFFFF">
                <a:alpha val="100000"/>
              </a:srgbClr>
            </a:solidFill>
            <a:ln w="9525" cap="rnd">
              <a:solidFill>
                <a:srgbClr val="FFFFFF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61" name="rc161"/>
            <p:cNvSpPr/>
            <p:nvPr/>
          </p:nvSpPr>
          <p:spPr>
            <a:xfrm>
              <a:off x="6341154" y="5649507"/>
              <a:ext cx="1866454" cy="195416"/>
            </a:xfrm>
            <a:prstGeom prst="rect">
              <a:avLst/>
            </a:prstGeom>
            <a:solidFill>
              <a:srgbClr val="EFF3F2">
                <a:alpha val="100000"/>
              </a:srgbClr>
            </a:solidFill>
            <a:ln w="9525" cap="rnd">
              <a:solidFill>
                <a:srgbClr val="EFF3F2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62" name="rc162"/>
            <p:cNvSpPr/>
            <p:nvPr/>
          </p:nvSpPr>
          <p:spPr>
            <a:xfrm>
              <a:off x="6341154" y="5844924"/>
              <a:ext cx="1866454" cy="195416"/>
            </a:xfrm>
            <a:prstGeom prst="rect">
              <a:avLst/>
            </a:prstGeom>
            <a:solidFill>
              <a:srgbClr val="FFFFFF">
                <a:alpha val="100000"/>
              </a:srgbClr>
            </a:solidFill>
            <a:ln w="9525" cap="rnd">
              <a:solidFill>
                <a:srgbClr val="FFFFFF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63" name="rc163"/>
            <p:cNvSpPr/>
            <p:nvPr/>
          </p:nvSpPr>
          <p:spPr>
            <a:xfrm>
              <a:off x="6341154" y="6040340"/>
              <a:ext cx="1866454" cy="195416"/>
            </a:xfrm>
            <a:prstGeom prst="rect">
              <a:avLst/>
            </a:prstGeom>
            <a:solidFill>
              <a:srgbClr val="EFF3F2">
                <a:alpha val="100000"/>
              </a:srgbClr>
            </a:solidFill>
            <a:ln w="9525" cap="rnd">
              <a:solidFill>
                <a:srgbClr val="EFF3F2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64" name="tx164"/>
            <p:cNvSpPr/>
            <p:nvPr/>
          </p:nvSpPr>
          <p:spPr>
            <a:xfrm>
              <a:off x="1028350" y="-73015"/>
              <a:ext cx="599389" cy="87416"/>
            </a:xfrm>
            <a:prstGeom prst="rect">
              <a:avLst/>
            </a:prstGeom>
            <a:noFill/>
          </p:spPr>
          <p:txBody>
            <a:bodyPr lIns="0" rIns="0" tIns="0" bIns="0" anchorCtr="1" anchor="ctr" wrap="none"/>
            <a:lstStyle/>
            <a:p>
              <a:pPr algn="l" marL="0" marR="0" indent="0">
                <a:spcBef>
                  <a:spcPts val="0"/>
                </a:spcBef>
                <a:spcAft>
                  <a:spcPts val="0"/>
                </a:spcAft>
              </a:pPr>
              <a:r>
                <a:rPr sz="1000" i="0" b="1">
                  <a:solidFill>
                    <a:srgbClr val="000000">
                      <a:alpha val="100000"/>
                    </a:srgbClr>
                  </a:solidFill>
                  <a:latin typeface="Liberation Sans"/>
                  <a:cs typeface="Liberation Sans"/>
                </a:rPr>
                <a:t>Subgroup</a:t>
              </a:r>
            </a:p>
          </p:txBody>
        </p:sp>
        <p:sp>
          <p:nvSpPr>
            <p:cNvPr id="165" name="tx165"/>
            <p:cNvSpPr/>
            <p:nvPr/>
          </p:nvSpPr>
          <p:spPr>
            <a:xfrm>
              <a:off x="1028350" y="231841"/>
              <a:ext cx="621609" cy="87416"/>
            </a:xfrm>
            <a:prstGeom prst="rect">
              <a:avLst/>
            </a:prstGeom>
            <a:noFill/>
          </p:spPr>
          <p:txBody>
            <a:bodyPr lIns="0" rIns="0" tIns="0" bIns="0" anchorCtr="1" anchor="ctr" wrap="none"/>
            <a:lstStyle/>
            <a:p>
              <a:pPr algn="l" marL="0" marR="0" indent="0">
                <a:spcBef>
                  <a:spcPts val="0"/>
                </a:spcBef>
                <a:spcAft>
                  <a:spcPts val="0"/>
                </a:spcAft>
              </a:pPr>
              <a:r>
                <a:rPr sz="1000" i="0" b="0">
                  <a:solidFill>
                    <a:srgbClr val="000000">
                      <a:alpha val="100000"/>
                    </a:srgbClr>
                  </a:solidFill>
                  <a:latin typeface="Liberation Sans"/>
                  <a:cs typeface="Liberation Sans"/>
                </a:rPr>
                <a:t>All patients</a:t>
              </a:r>
            </a:p>
          </p:txBody>
        </p:sp>
        <p:sp>
          <p:nvSpPr>
            <p:cNvPr id="166" name="tx166"/>
            <p:cNvSpPr/>
            <p:nvPr/>
          </p:nvSpPr>
          <p:spPr>
            <a:xfrm>
              <a:off x="2846306" y="-164455"/>
              <a:ext cx="1270193" cy="87416"/>
            </a:xfrm>
            <a:prstGeom prst="rect">
              <a:avLst/>
            </a:prstGeom>
            <a:noFill/>
          </p:spPr>
          <p:txBody>
            <a:bodyPr lIns="0" rIns="0" tIns="0" bIns="0" anchorCtr="1" anchor="ctr" wrap="none"/>
            <a:lstStyle/>
            <a:p>
              <a:pPr algn="l" marL="0" marR="0" indent="0">
                <a:spcBef>
                  <a:spcPts val="0"/>
                </a:spcBef>
                <a:spcAft>
                  <a:spcPts val="0"/>
                </a:spcAft>
              </a:pPr>
              <a:r>
                <a:rPr sz="1000" i="0" b="1">
                  <a:solidFill>
                    <a:srgbClr val="000000">
                      <a:alpha val="100000"/>
                    </a:srgbClr>
                  </a:solidFill>
                  <a:latin typeface="Liberation Sans"/>
                  <a:cs typeface="Liberation Sans"/>
                </a:rPr>
                <a:t>Combination therapy</a:t>
              </a:r>
            </a:p>
          </p:txBody>
        </p:sp>
        <p:sp>
          <p:nvSpPr>
            <p:cNvPr id="167" name="tx167"/>
            <p:cNvSpPr/>
            <p:nvPr/>
          </p:nvSpPr>
          <p:spPr>
            <a:xfrm>
              <a:off x="2846306" y="18424"/>
              <a:ext cx="1016264" cy="87416"/>
            </a:xfrm>
            <a:prstGeom prst="rect">
              <a:avLst/>
            </a:prstGeom>
            <a:noFill/>
          </p:spPr>
          <p:txBody>
            <a:bodyPr lIns="0" rIns="0" tIns="0" bIns="0" anchorCtr="1" anchor="ctr" wrap="none"/>
            <a:lstStyle/>
            <a:p>
              <a:pPr algn="l" marL="0" marR="0" indent="0">
                <a:spcBef>
                  <a:spcPts val="0"/>
                </a:spcBef>
                <a:spcAft>
                  <a:spcPts val="0"/>
                </a:spcAft>
              </a:pPr>
              <a:r>
                <a:rPr sz="1000" i="0" b="1">
                  <a:solidFill>
                    <a:srgbClr val="000000">
                      <a:alpha val="100000"/>
                    </a:srgbClr>
                  </a:solidFill>
                  <a:latin typeface="Liberation Sans"/>
                  <a:cs typeface="Liberation Sans"/>
                </a:rPr>
                <a:t>Number/total (%)</a:t>
              </a:r>
            </a:p>
          </p:txBody>
        </p:sp>
        <p:sp>
          <p:nvSpPr>
            <p:cNvPr id="168" name="tx168"/>
            <p:cNvSpPr/>
            <p:nvPr/>
          </p:nvSpPr>
          <p:spPr>
            <a:xfrm>
              <a:off x="1028350" y="427258"/>
              <a:ext cx="607435" cy="87416"/>
            </a:xfrm>
            <a:prstGeom prst="rect">
              <a:avLst/>
            </a:prstGeom>
            <a:noFill/>
          </p:spPr>
          <p:txBody>
            <a:bodyPr lIns="0" rIns="0" tIns="0" bIns="0" anchorCtr="1" anchor="ctr" wrap="none"/>
            <a:lstStyle/>
            <a:p>
              <a:pPr algn="l" marL="0" marR="0" indent="0">
                <a:spcBef>
                  <a:spcPts val="0"/>
                </a:spcBef>
                <a:spcAft>
                  <a:spcPts val="0"/>
                </a:spcAft>
              </a:pPr>
              <a:r>
                <a:rPr sz="1000" i="0" b="0">
                  <a:solidFill>
                    <a:srgbClr val="000000">
                      <a:alpha val="100000"/>
                    </a:srgbClr>
                  </a:solidFill>
                  <a:latin typeface="Liberation Sans"/>
                  <a:cs typeface="Liberation Sans"/>
                </a:rPr>
                <a:t>Age, years</a:t>
              </a:r>
            </a:p>
          </p:txBody>
        </p:sp>
        <p:sp>
          <p:nvSpPr>
            <p:cNvPr id="169" name="tx169"/>
            <p:cNvSpPr/>
            <p:nvPr/>
          </p:nvSpPr>
          <p:spPr>
            <a:xfrm>
              <a:off x="4247803" y="-164455"/>
              <a:ext cx="797356" cy="87416"/>
            </a:xfrm>
            <a:prstGeom prst="rect">
              <a:avLst/>
            </a:prstGeom>
            <a:noFill/>
          </p:spPr>
          <p:txBody>
            <a:bodyPr lIns="0" rIns="0" tIns="0" bIns="0" anchorCtr="1" anchor="ctr" wrap="none"/>
            <a:lstStyle/>
            <a:p>
              <a:pPr algn="l" marL="0" marR="0" indent="0">
                <a:spcBef>
                  <a:spcPts val="0"/>
                </a:spcBef>
                <a:spcAft>
                  <a:spcPts val="0"/>
                </a:spcAft>
              </a:pPr>
              <a:r>
                <a:rPr sz="1000" i="0" b="1">
                  <a:solidFill>
                    <a:srgbClr val="000000">
                      <a:alpha val="100000"/>
                    </a:srgbClr>
                  </a:solidFill>
                  <a:latin typeface="Liberation Sans"/>
                  <a:cs typeface="Liberation Sans"/>
                </a:rPr>
                <a:t>Monotherapy</a:t>
              </a:r>
            </a:p>
          </p:txBody>
        </p:sp>
        <p:sp>
          <p:nvSpPr>
            <p:cNvPr id="170" name="tx170"/>
            <p:cNvSpPr/>
            <p:nvPr/>
          </p:nvSpPr>
          <p:spPr>
            <a:xfrm>
              <a:off x="4247803" y="18424"/>
              <a:ext cx="1016264" cy="87416"/>
            </a:xfrm>
            <a:prstGeom prst="rect">
              <a:avLst/>
            </a:prstGeom>
            <a:noFill/>
          </p:spPr>
          <p:txBody>
            <a:bodyPr lIns="0" rIns="0" tIns="0" bIns="0" anchorCtr="1" anchor="ctr" wrap="none"/>
            <a:lstStyle/>
            <a:p>
              <a:pPr algn="l" marL="0" marR="0" indent="0">
                <a:spcBef>
                  <a:spcPts val="0"/>
                </a:spcBef>
                <a:spcAft>
                  <a:spcPts val="0"/>
                </a:spcAft>
              </a:pPr>
              <a:r>
                <a:rPr sz="1000" i="0" b="1">
                  <a:solidFill>
                    <a:srgbClr val="000000">
                      <a:alpha val="100000"/>
                    </a:srgbClr>
                  </a:solidFill>
                  <a:latin typeface="Liberation Sans"/>
                  <a:cs typeface="Liberation Sans"/>
                </a:rPr>
                <a:t>Number/total (%)</a:t>
              </a:r>
            </a:p>
          </p:txBody>
        </p:sp>
        <p:sp>
          <p:nvSpPr>
            <p:cNvPr id="171" name="tx171"/>
            <p:cNvSpPr/>
            <p:nvPr/>
          </p:nvSpPr>
          <p:spPr>
            <a:xfrm>
              <a:off x="1028350" y="622674"/>
              <a:ext cx="321411" cy="87416"/>
            </a:xfrm>
            <a:prstGeom prst="rect">
              <a:avLst/>
            </a:prstGeom>
            <a:noFill/>
          </p:spPr>
          <p:txBody>
            <a:bodyPr lIns="0" rIns="0" tIns="0" bIns="0" anchorCtr="1" anchor="ctr" wrap="none"/>
            <a:lstStyle/>
            <a:p>
              <a:pPr algn="l" marL="0" marR="0" indent="0">
                <a:spcBef>
                  <a:spcPts val="0"/>
                </a:spcBef>
                <a:spcAft>
                  <a:spcPts val="0"/>
                </a:spcAft>
              </a:pPr>
              <a:r>
                <a:rPr sz="1000" i="0" b="0">
                  <a:solidFill>
                    <a:srgbClr val="000000">
                      <a:alpha val="100000"/>
                    </a:srgbClr>
                  </a:solidFill>
                  <a:latin typeface="Liberation Sans"/>
                  <a:cs typeface="Liberation Sans"/>
                </a:rPr>
                <a:t>   &lt;60</a:t>
              </a:r>
            </a:p>
          </p:txBody>
        </p:sp>
        <p:sp>
          <p:nvSpPr>
            <p:cNvPr id="172" name="tx172"/>
            <p:cNvSpPr/>
            <p:nvPr/>
          </p:nvSpPr>
          <p:spPr>
            <a:xfrm>
              <a:off x="5399608" y="-73015"/>
              <a:ext cx="35295" cy="87416"/>
            </a:xfrm>
            <a:prstGeom prst="rect">
              <a:avLst/>
            </a:prstGeom>
            <a:noFill/>
          </p:spPr>
          <p:txBody>
            <a:bodyPr lIns="0" rIns="0" tIns="0" bIns="0" anchorCtr="1" anchor="ctr" wrap="none"/>
            <a:lstStyle/>
            <a:p>
              <a:pPr algn="l" marL="0" marR="0" indent="0">
                <a:spcBef>
                  <a:spcPts val="0"/>
                </a:spcBef>
                <a:spcAft>
                  <a:spcPts val="0"/>
                </a:spcAft>
              </a:pPr>
              <a:r>
                <a:rPr sz="1000" i="0" b="1">
                  <a:solidFill>
                    <a:srgbClr val="000000">
                      <a:alpha val="100000"/>
                    </a:srgbClr>
                  </a:solidFill>
                  <a:latin typeface="Liberation Sans"/>
                  <a:cs typeface="Liberation Sans"/>
                </a:rPr>
                <a:t> </a:t>
              </a:r>
            </a:p>
          </p:txBody>
        </p:sp>
        <p:sp>
          <p:nvSpPr>
            <p:cNvPr id="173" name="tx173"/>
            <p:cNvSpPr/>
            <p:nvPr/>
          </p:nvSpPr>
          <p:spPr>
            <a:xfrm>
              <a:off x="1028350" y="818091"/>
              <a:ext cx="316931" cy="87416"/>
            </a:xfrm>
            <a:prstGeom prst="rect">
              <a:avLst/>
            </a:prstGeom>
            <a:noFill/>
          </p:spPr>
          <p:txBody>
            <a:bodyPr lIns="0" rIns="0" tIns="0" bIns="0" anchorCtr="1" anchor="ctr" wrap="none"/>
            <a:lstStyle/>
            <a:p>
              <a:pPr algn="l" marL="0" marR="0" indent="0">
                <a:spcBef>
                  <a:spcPts val="0"/>
                </a:spcBef>
                <a:spcAft>
                  <a:spcPts val="0"/>
                </a:spcAft>
              </a:pPr>
              <a:r>
                <a:rPr sz="1000" i="0" b="0">
                  <a:solidFill>
                    <a:srgbClr val="000000">
                      <a:alpha val="100000"/>
                    </a:srgbClr>
                  </a:solidFill>
                  <a:latin typeface="Liberation Sans"/>
                  <a:cs typeface="Liberation Sans"/>
                </a:rPr>
                <a:t>   ≥60</a:t>
              </a:r>
            </a:p>
          </p:txBody>
        </p:sp>
        <p:sp>
          <p:nvSpPr>
            <p:cNvPr id="174" name="tx174"/>
            <p:cNvSpPr/>
            <p:nvPr/>
          </p:nvSpPr>
          <p:spPr>
            <a:xfrm>
              <a:off x="6434476" y="-73015"/>
              <a:ext cx="1722455" cy="87416"/>
            </a:xfrm>
            <a:prstGeom prst="rect">
              <a:avLst/>
            </a:prstGeom>
            <a:noFill/>
          </p:spPr>
          <p:txBody>
            <a:bodyPr lIns="0" rIns="0" tIns="0" bIns="0" anchorCtr="1" anchor="ctr" wrap="none"/>
            <a:lstStyle/>
            <a:p>
              <a:pPr algn="l" marL="0" marR="0" indent="0">
                <a:spcBef>
                  <a:spcPts val="0"/>
                </a:spcBef>
                <a:spcAft>
                  <a:spcPts val="0"/>
                </a:spcAft>
              </a:pPr>
              <a:r>
                <a:rPr sz="1000" i="0" b="1">
                  <a:solidFill>
                    <a:srgbClr val="000000">
                      <a:alpha val="100000"/>
                    </a:srgbClr>
                  </a:solidFill>
                  <a:latin typeface="Liberation Sans"/>
                  <a:cs typeface="Liberation Sans"/>
                </a:rPr>
                <a:t>Absolute difference (90% CI)</a:t>
              </a:r>
            </a:p>
          </p:txBody>
        </p:sp>
        <p:sp>
          <p:nvSpPr>
            <p:cNvPr id="175" name="tx175"/>
            <p:cNvSpPr/>
            <p:nvPr/>
          </p:nvSpPr>
          <p:spPr>
            <a:xfrm>
              <a:off x="1028350" y="1013508"/>
              <a:ext cx="218907" cy="87416"/>
            </a:xfrm>
            <a:prstGeom prst="rect">
              <a:avLst/>
            </a:prstGeom>
            <a:noFill/>
          </p:spPr>
          <p:txBody>
            <a:bodyPr lIns="0" rIns="0" tIns="0" bIns="0" anchorCtr="1" anchor="ctr" wrap="none"/>
            <a:lstStyle/>
            <a:p>
              <a:pPr algn="l" marL="0" marR="0" indent="0">
                <a:spcBef>
                  <a:spcPts val="0"/>
                </a:spcBef>
                <a:spcAft>
                  <a:spcPts val="0"/>
                </a:spcAft>
              </a:pPr>
              <a:r>
                <a:rPr sz="1000" i="0" b="0">
                  <a:solidFill>
                    <a:srgbClr val="000000">
                      <a:alpha val="100000"/>
                    </a:srgbClr>
                  </a:solidFill>
                  <a:latin typeface="Liberation Sans"/>
                  <a:cs typeface="Liberation Sans"/>
                </a:rPr>
                <a:t>Sex</a:t>
              </a:r>
            </a:p>
          </p:txBody>
        </p:sp>
        <p:sp>
          <p:nvSpPr>
            <p:cNvPr id="176" name="tx176"/>
            <p:cNvSpPr/>
            <p:nvPr/>
          </p:nvSpPr>
          <p:spPr>
            <a:xfrm>
              <a:off x="1028350" y="1208924"/>
              <a:ext cx="529529" cy="87416"/>
            </a:xfrm>
            <a:prstGeom prst="rect">
              <a:avLst/>
            </a:prstGeom>
            <a:noFill/>
          </p:spPr>
          <p:txBody>
            <a:bodyPr lIns="0" rIns="0" tIns="0" bIns="0" anchorCtr="1" anchor="ctr" wrap="none"/>
            <a:lstStyle/>
            <a:p>
              <a:pPr algn="l" marL="0" marR="0" indent="0">
                <a:spcBef>
                  <a:spcPts val="0"/>
                </a:spcBef>
                <a:spcAft>
                  <a:spcPts val="0"/>
                </a:spcAft>
              </a:pPr>
              <a:r>
                <a:rPr sz="1000" i="0" b="0">
                  <a:solidFill>
                    <a:srgbClr val="000000">
                      <a:alpha val="100000"/>
                    </a:srgbClr>
                  </a:solidFill>
                  <a:latin typeface="Liberation Sans"/>
                  <a:cs typeface="Liberation Sans"/>
                </a:rPr>
                <a:t>   Female</a:t>
              </a:r>
            </a:p>
          </p:txBody>
        </p:sp>
        <p:sp>
          <p:nvSpPr>
            <p:cNvPr id="177" name="tx177"/>
            <p:cNvSpPr/>
            <p:nvPr/>
          </p:nvSpPr>
          <p:spPr>
            <a:xfrm>
              <a:off x="1028350" y="1404341"/>
              <a:ext cx="381304" cy="87416"/>
            </a:xfrm>
            <a:prstGeom prst="rect">
              <a:avLst/>
            </a:prstGeom>
            <a:noFill/>
          </p:spPr>
          <p:txBody>
            <a:bodyPr lIns="0" rIns="0" tIns="0" bIns="0" anchorCtr="1" anchor="ctr" wrap="none"/>
            <a:lstStyle/>
            <a:p>
              <a:pPr algn="l" marL="0" marR="0" indent="0">
                <a:spcBef>
                  <a:spcPts val="0"/>
                </a:spcBef>
                <a:spcAft>
                  <a:spcPts val="0"/>
                </a:spcAft>
              </a:pPr>
              <a:r>
                <a:rPr sz="1000" i="0" b="0">
                  <a:solidFill>
                    <a:srgbClr val="000000">
                      <a:alpha val="100000"/>
                    </a:srgbClr>
                  </a:solidFill>
                  <a:latin typeface="Liberation Sans"/>
                  <a:cs typeface="Liberation Sans"/>
                </a:rPr>
                <a:t>   Male</a:t>
              </a:r>
            </a:p>
          </p:txBody>
        </p:sp>
        <p:sp>
          <p:nvSpPr>
            <p:cNvPr id="178" name="tx178"/>
            <p:cNvSpPr/>
            <p:nvPr/>
          </p:nvSpPr>
          <p:spPr>
            <a:xfrm>
              <a:off x="1028350" y="1599757"/>
              <a:ext cx="614019" cy="87416"/>
            </a:xfrm>
            <a:prstGeom prst="rect">
              <a:avLst/>
            </a:prstGeom>
            <a:noFill/>
          </p:spPr>
          <p:txBody>
            <a:bodyPr lIns="0" rIns="0" tIns="0" bIns="0" anchorCtr="1" anchor="ctr" wrap="none"/>
            <a:lstStyle/>
            <a:p>
              <a:pPr algn="l" marL="0" marR="0" indent="0">
                <a:spcBef>
                  <a:spcPts val="0"/>
                </a:spcBef>
                <a:spcAft>
                  <a:spcPts val="0"/>
                </a:spcAft>
              </a:pPr>
              <a:r>
                <a:rPr sz="1000" i="0" b="0">
                  <a:solidFill>
                    <a:srgbClr val="000000">
                      <a:alpha val="100000"/>
                    </a:srgbClr>
                  </a:solidFill>
                  <a:latin typeface="Liberation Sans"/>
                  <a:cs typeface="Liberation Sans"/>
                </a:rPr>
                <a:t>BMI, kg/m²</a:t>
              </a:r>
            </a:p>
          </p:txBody>
        </p:sp>
        <p:sp>
          <p:nvSpPr>
            <p:cNvPr id="179" name="tx179"/>
            <p:cNvSpPr/>
            <p:nvPr/>
          </p:nvSpPr>
          <p:spPr>
            <a:xfrm>
              <a:off x="1028350" y="1795174"/>
              <a:ext cx="321411" cy="87416"/>
            </a:xfrm>
            <a:prstGeom prst="rect">
              <a:avLst/>
            </a:prstGeom>
            <a:noFill/>
          </p:spPr>
          <p:txBody>
            <a:bodyPr lIns="0" rIns="0" tIns="0" bIns="0" anchorCtr="1" anchor="ctr" wrap="none"/>
            <a:lstStyle/>
            <a:p>
              <a:pPr algn="l" marL="0" marR="0" indent="0">
                <a:spcBef>
                  <a:spcPts val="0"/>
                </a:spcBef>
                <a:spcAft>
                  <a:spcPts val="0"/>
                </a:spcAft>
              </a:pPr>
              <a:r>
                <a:rPr sz="1000" i="0" b="0">
                  <a:solidFill>
                    <a:srgbClr val="000000">
                      <a:alpha val="100000"/>
                    </a:srgbClr>
                  </a:solidFill>
                  <a:latin typeface="Liberation Sans"/>
                  <a:cs typeface="Liberation Sans"/>
                </a:rPr>
                <a:t>   &lt;25</a:t>
              </a:r>
            </a:p>
          </p:txBody>
        </p:sp>
        <p:sp>
          <p:nvSpPr>
            <p:cNvPr id="180" name="tx180"/>
            <p:cNvSpPr/>
            <p:nvPr/>
          </p:nvSpPr>
          <p:spPr>
            <a:xfrm>
              <a:off x="1028350" y="1990591"/>
              <a:ext cx="316931" cy="87416"/>
            </a:xfrm>
            <a:prstGeom prst="rect">
              <a:avLst/>
            </a:prstGeom>
            <a:noFill/>
          </p:spPr>
          <p:txBody>
            <a:bodyPr lIns="0" rIns="0" tIns="0" bIns="0" anchorCtr="1" anchor="ctr" wrap="none"/>
            <a:lstStyle/>
            <a:p>
              <a:pPr algn="l" marL="0" marR="0" indent="0">
                <a:spcBef>
                  <a:spcPts val="0"/>
                </a:spcBef>
                <a:spcAft>
                  <a:spcPts val="0"/>
                </a:spcAft>
              </a:pPr>
              <a:r>
                <a:rPr sz="1000" i="0" b="0">
                  <a:solidFill>
                    <a:srgbClr val="000000">
                      <a:alpha val="100000"/>
                    </a:srgbClr>
                  </a:solidFill>
                  <a:latin typeface="Liberation Sans"/>
                  <a:cs typeface="Liberation Sans"/>
                </a:rPr>
                <a:t>   ≥25</a:t>
              </a:r>
            </a:p>
          </p:txBody>
        </p:sp>
        <p:sp>
          <p:nvSpPr>
            <p:cNvPr id="181" name="tx181"/>
            <p:cNvSpPr/>
            <p:nvPr/>
          </p:nvSpPr>
          <p:spPr>
            <a:xfrm>
              <a:off x="1028350" y="2186007"/>
              <a:ext cx="501548" cy="87416"/>
            </a:xfrm>
            <a:prstGeom prst="rect">
              <a:avLst/>
            </a:prstGeom>
            <a:noFill/>
          </p:spPr>
          <p:txBody>
            <a:bodyPr lIns="0" rIns="0" tIns="0" bIns="0" anchorCtr="1" anchor="ctr" wrap="none"/>
            <a:lstStyle/>
            <a:p>
              <a:pPr algn="l" marL="0" marR="0" indent="0">
                <a:spcBef>
                  <a:spcPts val="0"/>
                </a:spcBef>
                <a:spcAft>
                  <a:spcPts val="0"/>
                </a:spcAft>
              </a:pPr>
              <a:r>
                <a:rPr sz="1000" i="0" b="0">
                  <a:solidFill>
                    <a:srgbClr val="000000">
                      <a:alpha val="100000"/>
                    </a:srgbClr>
                  </a:solidFill>
                  <a:latin typeface="Liberation Sans"/>
                  <a:cs typeface="Liberation Sans"/>
                </a:rPr>
                <a:t>Diabetes</a:t>
              </a:r>
            </a:p>
          </p:txBody>
        </p:sp>
        <p:sp>
          <p:nvSpPr>
            <p:cNvPr id="182" name="tx182"/>
            <p:cNvSpPr/>
            <p:nvPr/>
          </p:nvSpPr>
          <p:spPr>
            <a:xfrm>
              <a:off x="1028350" y="2381424"/>
              <a:ext cx="268284" cy="87416"/>
            </a:xfrm>
            <a:prstGeom prst="rect">
              <a:avLst/>
            </a:prstGeom>
            <a:noFill/>
          </p:spPr>
          <p:txBody>
            <a:bodyPr lIns="0" rIns="0" tIns="0" bIns="0" anchorCtr="1" anchor="ctr" wrap="none"/>
            <a:lstStyle/>
            <a:p>
              <a:pPr algn="l" marL="0" marR="0" indent="0">
                <a:spcBef>
                  <a:spcPts val="0"/>
                </a:spcBef>
                <a:spcAft>
                  <a:spcPts val="0"/>
                </a:spcAft>
              </a:pPr>
              <a:r>
                <a:rPr sz="1000" i="0" b="0">
                  <a:solidFill>
                    <a:srgbClr val="000000">
                      <a:alpha val="100000"/>
                    </a:srgbClr>
                  </a:solidFill>
                  <a:latin typeface="Liberation Sans"/>
                  <a:cs typeface="Liberation Sans"/>
                </a:rPr>
                <a:t>   No</a:t>
              </a:r>
            </a:p>
          </p:txBody>
        </p:sp>
        <p:sp>
          <p:nvSpPr>
            <p:cNvPr id="183" name="tx183"/>
            <p:cNvSpPr/>
            <p:nvPr/>
          </p:nvSpPr>
          <p:spPr>
            <a:xfrm>
              <a:off x="1028350" y="2576841"/>
              <a:ext cx="310896" cy="87416"/>
            </a:xfrm>
            <a:prstGeom prst="rect">
              <a:avLst/>
            </a:prstGeom>
            <a:noFill/>
          </p:spPr>
          <p:txBody>
            <a:bodyPr lIns="0" rIns="0" tIns="0" bIns="0" anchorCtr="1" anchor="ctr" wrap="none"/>
            <a:lstStyle/>
            <a:p>
              <a:pPr algn="l" marL="0" marR="0" indent="0">
                <a:spcBef>
                  <a:spcPts val="0"/>
                </a:spcBef>
                <a:spcAft>
                  <a:spcPts val="0"/>
                </a:spcAft>
              </a:pPr>
              <a:r>
                <a:rPr sz="1000" i="0" b="0">
                  <a:solidFill>
                    <a:srgbClr val="000000">
                      <a:alpha val="100000"/>
                    </a:srgbClr>
                  </a:solidFill>
                  <a:latin typeface="Liberation Sans"/>
                  <a:cs typeface="Liberation Sans"/>
                </a:rPr>
                <a:t>   Yes</a:t>
              </a:r>
            </a:p>
          </p:txBody>
        </p:sp>
        <p:sp>
          <p:nvSpPr>
            <p:cNvPr id="184" name="tx184"/>
            <p:cNvSpPr/>
            <p:nvPr/>
          </p:nvSpPr>
          <p:spPr>
            <a:xfrm>
              <a:off x="1028350" y="2772257"/>
              <a:ext cx="748802" cy="87416"/>
            </a:xfrm>
            <a:prstGeom prst="rect">
              <a:avLst/>
            </a:prstGeom>
            <a:noFill/>
          </p:spPr>
          <p:txBody>
            <a:bodyPr lIns="0" rIns="0" tIns="0" bIns="0" anchorCtr="1" anchor="ctr" wrap="none"/>
            <a:lstStyle/>
            <a:p>
              <a:pPr algn="l" marL="0" marR="0" indent="0">
                <a:spcBef>
                  <a:spcPts val="0"/>
                </a:spcBef>
                <a:spcAft>
                  <a:spcPts val="0"/>
                </a:spcAft>
              </a:pPr>
              <a:r>
                <a:rPr sz="1000" i="0" b="0">
                  <a:solidFill>
                    <a:srgbClr val="000000">
                      <a:alpha val="100000"/>
                    </a:srgbClr>
                  </a:solidFill>
                  <a:latin typeface="Liberation Sans"/>
                  <a:cs typeface="Liberation Sans"/>
                </a:rPr>
                <a:t>Hypertension</a:t>
              </a:r>
            </a:p>
          </p:txBody>
        </p:sp>
        <p:sp>
          <p:nvSpPr>
            <p:cNvPr id="185" name="tx185"/>
            <p:cNvSpPr/>
            <p:nvPr/>
          </p:nvSpPr>
          <p:spPr>
            <a:xfrm>
              <a:off x="1028350" y="2967674"/>
              <a:ext cx="268284" cy="87416"/>
            </a:xfrm>
            <a:prstGeom prst="rect">
              <a:avLst/>
            </a:prstGeom>
            <a:noFill/>
          </p:spPr>
          <p:txBody>
            <a:bodyPr lIns="0" rIns="0" tIns="0" bIns="0" anchorCtr="1" anchor="ctr" wrap="none"/>
            <a:lstStyle/>
            <a:p>
              <a:pPr algn="l" marL="0" marR="0" indent="0">
                <a:spcBef>
                  <a:spcPts val="0"/>
                </a:spcBef>
                <a:spcAft>
                  <a:spcPts val="0"/>
                </a:spcAft>
              </a:pPr>
              <a:r>
                <a:rPr sz="1000" i="0" b="0">
                  <a:solidFill>
                    <a:srgbClr val="000000">
                      <a:alpha val="100000"/>
                    </a:srgbClr>
                  </a:solidFill>
                  <a:latin typeface="Liberation Sans"/>
                  <a:cs typeface="Liberation Sans"/>
                </a:rPr>
                <a:t>   No</a:t>
              </a:r>
            </a:p>
          </p:txBody>
        </p:sp>
        <p:sp>
          <p:nvSpPr>
            <p:cNvPr id="186" name="tx186"/>
            <p:cNvSpPr/>
            <p:nvPr/>
          </p:nvSpPr>
          <p:spPr>
            <a:xfrm>
              <a:off x="1028350" y="3163091"/>
              <a:ext cx="310896" cy="87416"/>
            </a:xfrm>
            <a:prstGeom prst="rect">
              <a:avLst/>
            </a:prstGeom>
            <a:noFill/>
          </p:spPr>
          <p:txBody>
            <a:bodyPr lIns="0" rIns="0" tIns="0" bIns="0" anchorCtr="1" anchor="ctr" wrap="none"/>
            <a:lstStyle/>
            <a:p>
              <a:pPr algn="l" marL="0" marR="0" indent="0">
                <a:spcBef>
                  <a:spcPts val="0"/>
                </a:spcBef>
                <a:spcAft>
                  <a:spcPts val="0"/>
                </a:spcAft>
              </a:pPr>
              <a:r>
                <a:rPr sz="1000" i="0" b="0">
                  <a:solidFill>
                    <a:srgbClr val="000000">
                      <a:alpha val="100000"/>
                    </a:srgbClr>
                  </a:solidFill>
                  <a:latin typeface="Liberation Sans"/>
                  <a:cs typeface="Liberation Sans"/>
                </a:rPr>
                <a:t>   Yes</a:t>
              </a:r>
            </a:p>
          </p:txBody>
        </p:sp>
        <p:sp>
          <p:nvSpPr>
            <p:cNvPr id="187" name="tx187"/>
            <p:cNvSpPr/>
            <p:nvPr/>
          </p:nvSpPr>
          <p:spPr>
            <a:xfrm>
              <a:off x="1028350" y="3358507"/>
              <a:ext cx="1313992" cy="87416"/>
            </a:xfrm>
            <a:prstGeom prst="rect">
              <a:avLst/>
            </a:prstGeom>
            <a:noFill/>
          </p:spPr>
          <p:txBody>
            <a:bodyPr lIns="0" rIns="0" tIns="0" bIns="0" anchorCtr="1" anchor="ctr" wrap="none"/>
            <a:lstStyle/>
            <a:p>
              <a:pPr algn="l" marL="0" marR="0" indent="0">
                <a:spcBef>
                  <a:spcPts val="0"/>
                </a:spcBef>
                <a:spcAft>
                  <a:spcPts val="0"/>
                </a:spcAft>
              </a:pPr>
              <a:r>
                <a:rPr sz="1000" i="0" b="0">
                  <a:solidFill>
                    <a:srgbClr val="000000">
                      <a:alpha val="100000"/>
                    </a:srgbClr>
                  </a:solidFill>
                  <a:latin typeface="Liberation Sans"/>
                  <a:cs typeface="Liberation Sans"/>
                </a:rPr>
                <a:t>Chronic kidney disease</a:t>
              </a:r>
            </a:p>
          </p:txBody>
        </p:sp>
        <p:sp>
          <p:nvSpPr>
            <p:cNvPr id="188" name="tx188"/>
            <p:cNvSpPr/>
            <p:nvPr/>
          </p:nvSpPr>
          <p:spPr>
            <a:xfrm>
              <a:off x="1028350" y="3553924"/>
              <a:ext cx="268284" cy="87416"/>
            </a:xfrm>
            <a:prstGeom prst="rect">
              <a:avLst/>
            </a:prstGeom>
            <a:noFill/>
          </p:spPr>
          <p:txBody>
            <a:bodyPr lIns="0" rIns="0" tIns="0" bIns="0" anchorCtr="1" anchor="ctr" wrap="none"/>
            <a:lstStyle/>
            <a:p>
              <a:pPr algn="l" marL="0" marR="0" indent="0">
                <a:spcBef>
                  <a:spcPts val="0"/>
                </a:spcBef>
                <a:spcAft>
                  <a:spcPts val="0"/>
                </a:spcAft>
              </a:pPr>
              <a:r>
                <a:rPr sz="1000" i="0" b="0">
                  <a:solidFill>
                    <a:srgbClr val="000000">
                      <a:alpha val="100000"/>
                    </a:srgbClr>
                  </a:solidFill>
                  <a:latin typeface="Liberation Sans"/>
                  <a:cs typeface="Liberation Sans"/>
                </a:rPr>
                <a:t>   No</a:t>
              </a:r>
            </a:p>
          </p:txBody>
        </p:sp>
        <p:sp>
          <p:nvSpPr>
            <p:cNvPr id="189" name="tx189"/>
            <p:cNvSpPr/>
            <p:nvPr/>
          </p:nvSpPr>
          <p:spPr>
            <a:xfrm>
              <a:off x="1028350" y="3749341"/>
              <a:ext cx="310896" cy="87416"/>
            </a:xfrm>
            <a:prstGeom prst="rect">
              <a:avLst/>
            </a:prstGeom>
            <a:noFill/>
          </p:spPr>
          <p:txBody>
            <a:bodyPr lIns="0" rIns="0" tIns="0" bIns="0" anchorCtr="1" anchor="ctr" wrap="none"/>
            <a:lstStyle/>
            <a:p>
              <a:pPr algn="l" marL="0" marR="0" indent="0">
                <a:spcBef>
                  <a:spcPts val="0"/>
                </a:spcBef>
                <a:spcAft>
                  <a:spcPts val="0"/>
                </a:spcAft>
              </a:pPr>
              <a:r>
                <a:rPr sz="1000" i="0" b="0">
                  <a:solidFill>
                    <a:srgbClr val="000000">
                      <a:alpha val="100000"/>
                    </a:srgbClr>
                  </a:solidFill>
                  <a:latin typeface="Liberation Sans"/>
                  <a:cs typeface="Liberation Sans"/>
                </a:rPr>
                <a:t>   Yes</a:t>
              </a:r>
            </a:p>
          </p:txBody>
        </p:sp>
        <p:sp>
          <p:nvSpPr>
            <p:cNvPr id="190" name="tx190"/>
            <p:cNvSpPr/>
            <p:nvPr/>
          </p:nvSpPr>
          <p:spPr>
            <a:xfrm>
              <a:off x="1028350" y="3944757"/>
              <a:ext cx="1695206" cy="87416"/>
            </a:xfrm>
            <a:prstGeom prst="rect">
              <a:avLst/>
            </a:prstGeom>
            <a:noFill/>
          </p:spPr>
          <p:txBody>
            <a:bodyPr lIns="0" rIns="0" tIns="0" bIns="0" anchorCtr="1" anchor="ctr" wrap="none"/>
            <a:lstStyle/>
            <a:p>
              <a:pPr algn="l" marL="0" marR="0" indent="0">
                <a:spcBef>
                  <a:spcPts val="0"/>
                </a:spcBef>
                <a:spcAft>
                  <a:spcPts val="0"/>
                </a:spcAft>
              </a:pPr>
              <a:r>
                <a:rPr sz="1000" i="0" b="0">
                  <a:solidFill>
                    <a:srgbClr val="000000">
                      <a:alpha val="100000"/>
                    </a:srgbClr>
                  </a:solidFill>
                  <a:latin typeface="Liberation Sans"/>
                  <a:cs typeface="Liberation Sans"/>
                </a:rPr>
                <a:t>Previous myocardial infarction</a:t>
              </a:r>
            </a:p>
          </p:txBody>
        </p:sp>
        <p:sp>
          <p:nvSpPr>
            <p:cNvPr id="191" name="tx191"/>
            <p:cNvSpPr/>
            <p:nvPr/>
          </p:nvSpPr>
          <p:spPr>
            <a:xfrm>
              <a:off x="1028350" y="4140174"/>
              <a:ext cx="268284" cy="87416"/>
            </a:xfrm>
            <a:prstGeom prst="rect">
              <a:avLst/>
            </a:prstGeom>
            <a:noFill/>
          </p:spPr>
          <p:txBody>
            <a:bodyPr lIns="0" rIns="0" tIns="0" bIns="0" anchorCtr="1" anchor="ctr" wrap="none"/>
            <a:lstStyle/>
            <a:p>
              <a:pPr algn="l" marL="0" marR="0" indent="0">
                <a:spcBef>
                  <a:spcPts val="0"/>
                </a:spcBef>
                <a:spcAft>
                  <a:spcPts val="0"/>
                </a:spcAft>
              </a:pPr>
              <a:r>
                <a:rPr sz="1000" i="0" b="0">
                  <a:solidFill>
                    <a:srgbClr val="000000">
                      <a:alpha val="100000"/>
                    </a:srgbClr>
                  </a:solidFill>
                  <a:latin typeface="Liberation Sans"/>
                  <a:cs typeface="Liberation Sans"/>
                </a:rPr>
                <a:t>   No</a:t>
              </a:r>
            </a:p>
          </p:txBody>
        </p:sp>
        <p:sp>
          <p:nvSpPr>
            <p:cNvPr id="192" name="tx192"/>
            <p:cNvSpPr/>
            <p:nvPr/>
          </p:nvSpPr>
          <p:spPr>
            <a:xfrm>
              <a:off x="1028350" y="4335590"/>
              <a:ext cx="310896" cy="87416"/>
            </a:xfrm>
            <a:prstGeom prst="rect">
              <a:avLst/>
            </a:prstGeom>
            <a:noFill/>
          </p:spPr>
          <p:txBody>
            <a:bodyPr lIns="0" rIns="0" tIns="0" bIns="0" anchorCtr="1" anchor="ctr" wrap="none"/>
            <a:lstStyle/>
            <a:p>
              <a:pPr algn="l" marL="0" marR="0" indent="0">
                <a:spcBef>
                  <a:spcPts val="0"/>
                </a:spcBef>
                <a:spcAft>
                  <a:spcPts val="0"/>
                </a:spcAft>
              </a:pPr>
              <a:r>
                <a:rPr sz="1000" i="0" b="0">
                  <a:solidFill>
                    <a:srgbClr val="000000">
                      <a:alpha val="100000"/>
                    </a:srgbClr>
                  </a:solidFill>
                  <a:latin typeface="Liberation Sans"/>
                  <a:cs typeface="Liberation Sans"/>
                </a:rPr>
                <a:t>   Yes</a:t>
              </a:r>
            </a:p>
          </p:txBody>
        </p:sp>
        <p:sp>
          <p:nvSpPr>
            <p:cNvPr id="193" name="tx193"/>
            <p:cNvSpPr/>
            <p:nvPr/>
          </p:nvSpPr>
          <p:spPr>
            <a:xfrm>
              <a:off x="1028350" y="4531007"/>
              <a:ext cx="1476115" cy="87416"/>
            </a:xfrm>
            <a:prstGeom prst="rect">
              <a:avLst/>
            </a:prstGeom>
            <a:noFill/>
          </p:spPr>
          <p:txBody>
            <a:bodyPr lIns="0" rIns="0" tIns="0" bIns="0" anchorCtr="1" anchor="ctr" wrap="none"/>
            <a:lstStyle/>
            <a:p>
              <a:pPr algn="l" marL="0" marR="0" indent="0">
                <a:spcBef>
                  <a:spcPts val="0"/>
                </a:spcBef>
                <a:spcAft>
                  <a:spcPts val="0"/>
                </a:spcAft>
              </a:pPr>
              <a:r>
                <a:rPr sz="1000" i="0" b="0">
                  <a:solidFill>
                    <a:srgbClr val="000000">
                      <a:alpha val="100000"/>
                    </a:srgbClr>
                  </a:solidFill>
                  <a:latin typeface="Liberation Sans"/>
                  <a:cs typeface="Liberation Sans"/>
                </a:rPr>
                <a:t>Previous ischaemic stroke</a:t>
              </a:r>
            </a:p>
          </p:txBody>
        </p:sp>
        <p:sp>
          <p:nvSpPr>
            <p:cNvPr id="194" name="tx194"/>
            <p:cNvSpPr/>
            <p:nvPr/>
          </p:nvSpPr>
          <p:spPr>
            <a:xfrm>
              <a:off x="1028350" y="4726424"/>
              <a:ext cx="268284" cy="87416"/>
            </a:xfrm>
            <a:prstGeom prst="rect">
              <a:avLst/>
            </a:prstGeom>
            <a:noFill/>
          </p:spPr>
          <p:txBody>
            <a:bodyPr lIns="0" rIns="0" tIns="0" bIns="0" anchorCtr="1" anchor="ctr" wrap="none"/>
            <a:lstStyle/>
            <a:p>
              <a:pPr algn="l" marL="0" marR="0" indent="0">
                <a:spcBef>
                  <a:spcPts val="0"/>
                </a:spcBef>
                <a:spcAft>
                  <a:spcPts val="0"/>
                </a:spcAft>
              </a:pPr>
              <a:r>
                <a:rPr sz="1000" i="0" b="0">
                  <a:solidFill>
                    <a:srgbClr val="000000">
                      <a:alpha val="100000"/>
                    </a:srgbClr>
                  </a:solidFill>
                  <a:latin typeface="Liberation Sans"/>
                  <a:cs typeface="Liberation Sans"/>
                </a:rPr>
                <a:t>   No</a:t>
              </a:r>
            </a:p>
          </p:txBody>
        </p:sp>
        <p:sp>
          <p:nvSpPr>
            <p:cNvPr id="195" name="tx195"/>
            <p:cNvSpPr/>
            <p:nvPr/>
          </p:nvSpPr>
          <p:spPr>
            <a:xfrm>
              <a:off x="1028350" y="4921840"/>
              <a:ext cx="310896" cy="87416"/>
            </a:xfrm>
            <a:prstGeom prst="rect">
              <a:avLst/>
            </a:prstGeom>
            <a:noFill/>
          </p:spPr>
          <p:txBody>
            <a:bodyPr lIns="0" rIns="0" tIns="0" bIns="0" anchorCtr="1" anchor="ctr" wrap="none"/>
            <a:lstStyle/>
            <a:p>
              <a:pPr algn="l" marL="0" marR="0" indent="0">
                <a:spcBef>
                  <a:spcPts val="0"/>
                </a:spcBef>
                <a:spcAft>
                  <a:spcPts val="0"/>
                </a:spcAft>
              </a:pPr>
              <a:r>
                <a:rPr sz="1000" i="0" b="0">
                  <a:solidFill>
                    <a:srgbClr val="000000">
                      <a:alpha val="100000"/>
                    </a:srgbClr>
                  </a:solidFill>
                  <a:latin typeface="Liberation Sans"/>
                  <a:cs typeface="Liberation Sans"/>
                </a:rPr>
                <a:t>   Yes</a:t>
              </a:r>
            </a:p>
          </p:txBody>
        </p:sp>
        <p:sp>
          <p:nvSpPr>
            <p:cNvPr id="196" name="tx196"/>
            <p:cNvSpPr/>
            <p:nvPr/>
          </p:nvSpPr>
          <p:spPr>
            <a:xfrm>
              <a:off x="1028350" y="5117257"/>
              <a:ext cx="1412839" cy="87416"/>
            </a:xfrm>
            <a:prstGeom prst="rect">
              <a:avLst/>
            </a:prstGeom>
            <a:noFill/>
          </p:spPr>
          <p:txBody>
            <a:bodyPr lIns="0" rIns="0" tIns="0" bIns="0" anchorCtr="1" anchor="ctr" wrap="none"/>
            <a:lstStyle/>
            <a:p>
              <a:pPr algn="l" marL="0" marR="0" indent="0">
                <a:spcBef>
                  <a:spcPts val="0"/>
                </a:spcBef>
                <a:spcAft>
                  <a:spcPts val="0"/>
                </a:spcAft>
              </a:pPr>
              <a:r>
                <a:rPr sz="1000" i="0" b="0">
                  <a:solidFill>
                    <a:srgbClr val="000000">
                      <a:alpha val="100000"/>
                    </a:srgbClr>
                  </a:solidFill>
                  <a:latin typeface="Liberation Sans"/>
                  <a:cs typeface="Liberation Sans"/>
                </a:rPr>
                <a:t>Peripheral artery disease</a:t>
              </a:r>
            </a:p>
          </p:txBody>
        </p:sp>
        <p:sp>
          <p:nvSpPr>
            <p:cNvPr id="197" name="tx197"/>
            <p:cNvSpPr/>
            <p:nvPr/>
          </p:nvSpPr>
          <p:spPr>
            <a:xfrm>
              <a:off x="1028350" y="5312674"/>
              <a:ext cx="268284" cy="87416"/>
            </a:xfrm>
            <a:prstGeom prst="rect">
              <a:avLst/>
            </a:prstGeom>
            <a:noFill/>
          </p:spPr>
          <p:txBody>
            <a:bodyPr lIns="0" rIns="0" tIns="0" bIns="0" anchorCtr="1" anchor="ctr" wrap="none"/>
            <a:lstStyle/>
            <a:p>
              <a:pPr algn="l" marL="0" marR="0" indent="0">
                <a:spcBef>
                  <a:spcPts val="0"/>
                </a:spcBef>
                <a:spcAft>
                  <a:spcPts val="0"/>
                </a:spcAft>
              </a:pPr>
              <a:r>
                <a:rPr sz="1000" i="0" b="0">
                  <a:solidFill>
                    <a:srgbClr val="000000">
                      <a:alpha val="100000"/>
                    </a:srgbClr>
                  </a:solidFill>
                  <a:latin typeface="Liberation Sans"/>
                  <a:cs typeface="Liberation Sans"/>
                </a:rPr>
                <a:t>   No</a:t>
              </a:r>
            </a:p>
          </p:txBody>
        </p:sp>
        <p:sp>
          <p:nvSpPr>
            <p:cNvPr id="198" name="tx198"/>
            <p:cNvSpPr/>
            <p:nvPr/>
          </p:nvSpPr>
          <p:spPr>
            <a:xfrm>
              <a:off x="1028350" y="5508090"/>
              <a:ext cx="310896" cy="87416"/>
            </a:xfrm>
            <a:prstGeom prst="rect">
              <a:avLst/>
            </a:prstGeom>
            <a:noFill/>
          </p:spPr>
          <p:txBody>
            <a:bodyPr lIns="0" rIns="0" tIns="0" bIns="0" anchorCtr="1" anchor="ctr" wrap="none"/>
            <a:lstStyle/>
            <a:p>
              <a:pPr algn="l" marL="0" marR="0" indent="0">
                <a:spcBef>
                  <a:spcPts val="0"/>
                </a:spcBef>
                <a:spcAft>
                  <a:spcPts val="0"/>
                </a:spcAft>
              </a:pPr>
              <a:r>
                <a:rPr sz="1000" i="0" b="0">
                  <a:solidFill>
                    <a:srgbClr val="000000">
                      <a:alpha val="100000"/>
                    </a:srgbClr>
                  </a:solidFill>
                  <a:latin typeface="Liberation Sans"/>
                  <a:cs typeface="Liberation Sans"/>
                </a:rPr>
                <a:t>   Yes</a:t>
              </a:r>
            </a:p>
          </p:txBody>
        </p:sp>
        <p:sp>
          <p:nvSpPr>
            <p:cNvPr id="199" name="tx199"/>
            <p:cNvSpPr/>
            <p:nvPr/>
          </p:nvSpPr>
          <p:spPr>
            <a:xfrm>
              <a:off x="1028350" y="5703507"/>
              <a:ext cx="1313627" cy="87416"/>
            </a:xfrm>
            <a:prstGeom prst="rect">
              <a:avLst/>
            </a:prstGeom>
            <a:noFill/>
          </p:spPr>
          <p:txBody>
            <a:bodyPr lIns="0" rIns="0" tIns="0" bIns="0" anchorCtr="1" anchor="ctr" wrap="none"/>
            <a:lstStyle/>
            <a:p>
              <a:pPr algn="l" marL="0" marR="0" indent="0">
                <a:spcBef>
                  <a:spcPts val="0"/>
                </a:spcBef>
                <a:spcAft>
                  <a:spcPts val="0"/>
                </a:spcAft>
              </a:pPr>
              <a:r>
                <a:rPr sz="1000" i="0" b="0">
                  <a:solidFill>
                    <a:srgbClr val="000000">
                      <a:alpha val="100000"/>
                    </a:srgbClr>
                  </a:solidFill>
                  <a:latin typeface="Liberation Sans"/>
                  <a:cs typeface="Liberation Sans"/>
                </a:rPr>
                <a:t>Baseline LDL-C, mg/dL</a:t>
              </a:r>
            </a:p>
          </p:txBody>
        </p:sp>
        <p:sp>
          <p:nvSpPr>
            <p:cNvPr id="200" name="tx200"/>
            <p:cNvSpPr/>
            <p:nvPr/>
          </p:nvSpPr>
          <p:spPr>
            <a:xfrm>
              <a:off x="1028350" y="5898924"/>
              <a:ext cx="392094" cy="87416"/>
            </a:xfrm>
            <a:prstGeom prst="rect">
              <a:avLst/>
            </a:prstGeom>
            <a:noFill/>
          </p:spPr>
          <p:txBody>
            <a:bodyPr lIns="0" rIns="0" tIns="0" bIns="0" anchorCtr="1" anchor="ctr" wrap="none"/>
            <a:lstStyle/>
            <a:p>
              <a:pPr algn="l" marL="0" marR="0" indent="0">
                <a:spcBef>
                  <a:spcPts val="0"/>
                </a:spcBef>
                <a:spcAft>
                  <a:spcPts val="0"/>
                </a:spcAft>
              </a:pPr>
              <a:r>
                <a:rPr sz="1000" i="0" b="0">
                  <a:solidFill>
                    <a:srgbClr val="000000">
                      <a:alpha val="100000"/>
                    </a:srgbClr>
                  </a:solidFill>
                  <a:latin typeface="Liberation Sans"/>
                  <a:cs typeface="Liberation Sans"/>
                </a:rPr>
                <a:t>   &lt;100</a:t>
              </a:r>
            </a:p>
          </p:txBody>
        </p:sp>
        <p:sp>
          <p:nvSpPr>
            <p:cNvPr id="201" name="tx201"/>
            <p:cNvSpPr/>
            <p:nvPr/>
          </p:nvSpPr>
          <p:spPr>
            <a:xfrm>
              <a:off x="1028350" y="6094340"/>
              <a:ext cx="387614" cy="87416"/>
            </a:xfrm>
            <a:prstGeom prst="rect">
              <a:avLst/>
            </a:prstGeom>
            <a:noFill/>
          </p:spPr>
          <p:txBody>
            <a:bodyPr lIns="0" rIns="0" tIns="0" bIns="0" anchorCtr="1" anchor="ctr" wrap="none"/>
            <a:lstStyle/>
            <a:p>
              <a:pPr algn="l" marL="0" marR="0" indent="0">
                <a:spcBef>
                  <a:spcPts val="0"/>
                </a:spcBef>
                <a:spcAft>
                  <a:spcPts val="0"/>
                </a:spcAft>
              </a:pPr>
              <a:r>
                <a:rPr sz="1000" i="0" b="0">
                  <a:solidFill>
                    <a:srgbClr val="000000">
                      <a:alpha val="100000"/>
                    </a:srgbClr>
                  </a:solidFill>
                  <a:latin typeface="Liberation Sans"/>
                  <a:cs typeface="Liberation Sans"/>
                </a:rPr>
                <a:t>   ≥100</a:t>
              </a:r>
            </a:p>
          </p:txBody>
        </p:sp>
        <p:sp>
          <p:nvSpPr>
            <p:cNvPr id="202" name="tx202"/>
            <p:cNvSpPr/>
            <p:nvPr/>
          </p:nvSpPr>
          <p:spPr>
            <a:xfrm>
              <a:off x="2846306" y="231841"/>
              <a:ext cx="826709" cy="87416"/>
            </a:xfrm>
            <a:prstGeom prst="rect">
              <a:avLst/>
            </a:prstGeom>
            <a:noFill/>
          </p:spPr>
          <p:txBody>
            <a:bodyPr lIns="0" rIns="0" tIns="0" bIns="0" anchorCtr="1" anchor="ctr" wrap="none"/>
            <a:lstStyle/>
            <a:p>
              <a:pPr algn="l" marL="0" marR="0" indent="0">
                <a:spcBef>
                  <a:spcPts val="0"/>
                </a:spcBef>
                <a:spcAft>
                  <a:spcPts val="0"/>
                </a:spcAft>
              </a:pPr>
              <a:r>
                <a:rPr sz="1000" i="0" b="0">
                  <a:solidFill>
                    <a:srgbClr val="000000">
                      <a:alpha val="100000"/>
                    </a:srgbClr>
                  </a:solidFill>
                  <a:latin typeface="Liberation Sans"/>
                  <a:cs typeface="Liberation Sans"/>
                </a:rPr>
                <a:t>172/1894 (9.1)</a:t>
              </a:r>
            </a:p>
          </p:txBody>
        </p:sp>
        <p:sp>
          <p:nvSpPr>
            <p:cNvPr id="203" name="tx203"/>
            <p:cNvSpPr/>
            <p:nvPr/>
          </p:nvSpPr>
          <p:spPr>
            <a:xfrm>
              <a:off x="2846306" y="622674"/>
              <a:ext cx="685342" cy="87416"/>
            </a:xfrm>
            <a:prstGeom prst="rect">
              <a:avLst/>
            </a:prstGeom>
            <a:noFill/>
          </p:spPr>
          <p:txBody>
            <a:bodyPr lIns="0" rIns="0" tIns="0" bIns="0" anchorCtr="1" anchor="ctr" wrap="none"/>
            <a:lstStyle/>
            <a:p>
              <a:pPr algn="l" marL="0" marR="0" indent="0">
                <a:spcBef>
                  <a:spcPts val="0"/>
                </a:spcBef>
                <a:spcAft>
                  <a:spcPts val="0"/>
                </a:spcAft>
              </a:pPr>
              <a:r>
                <a:rPr sz="1000" i="0" b="0">
                  <a:solidFill>
                    <a:srgbClr val="000000">
                      <a:alpha val="100000"/>
                    </a:srgbClr>
                  </a:solidFill>
                  <a:latin typeface="Liberation Sans"/>
                  <a:cs typeface="Liberation Sans"/>
                </a:rPr>
                <a:t>47/637 (7.4)</a:t>
              </a:r>
            </a:p>
          </p:txBody>
        </p:sp>
        <p:sp>
          <p:nvSpPr>
            <p:cNvPr id="204" name="tx204"/>
            <p:cNvSpPr/>
            <p:nvPr/>
          </p:nvSpPr>
          <p:spPr>
            <a:xfrm>
              <a:off x="2846306" y="818091"/>
              <a:ext cx="826709" cy="87416"/>
            </a:xfrm>
            <a:prstGeom prst="rect">
              <a:avLst/>
            </a:prstGeom>
            <a:noFill/>
          </p:spPr>
          <p:txBody>
            <a:bodyPr lIns="0" rIns="0" tIns="0" bIns="0" anchorCtr="1" anchor="ctr" wrap="none"/>
            <a:lstStyle/>
            <a:p>
              <a:pPr algn="l" marL="0" marR="0" indent="0">
                <a:spcBef>
                  <a:spcPts val="0"/>
                </a:spcBef>
                <a:spcAft>
                  <a:spcPts val="0"/>
                </a:spcAft>
              </a:pPr>
              <a:r>
                <a:rPr sz="1000" i="0" b="0">
                  <a:solidFill>
                    <a:srgbClr val="000000">
                      <a:alpha val="100000"/>
                    </a:srgbClr>
                  </a:solidFill>
                  <a:latin typeface="Liberation Sans"/>
                  <a:cs typeface="Liberation Sans"/>
                </a:rPr>
                <a:t>125/1257 (9.9)</a:t>
              </a:r>
            </a:p>
          </p:txBody>
        </p:sp>
        <p:sp>
          <p:nvSpPr>
            <p:cNvPr id="205" name="tx205"/>
            <p:cNvSpPr/>
            <p:nvPr/>
          </p:nvSpPr>
          <p:spPr>
            <a:xfrm>
              <a:off x="2846306" y="1208924"/>
              <a:ext cx="685342" cy="87416"/>
            </a:xfrm>
            <a:prstGeom prst="rect">
              <a:avLst/>
            </a:prstGeom>
            <a:noFill/>
          </p:spPr>
          <p:txBody>
            <a:bodyPr lIns="0" rIns="0" tIns="0" bIns="0" anchorCtr="1" anchor="ctr" wrap="none"/>
            <a:lstStyle/>
            <a:p>
              <a:pPr algn="l" marL="0" marR="0" indent="0">
                <a:spcBef>
                  <a:spcPts val="0"/>
                </a:spcBef>
                <a:spcAft>
                  <a:spcPts val="0"/>
                </a:spcAft>
              </a:pPr>
              <a:r>
                <a:rPr sz="1000" i="0" b="0">
                  <a:solidFill>
                    <a:srgbClr val="000000">
                      <a:alpha val="100000"/>
                    </a:srgbClr>
                  </a:solidFill>
                  <a:latin typeface="Liberation Sans"/>
                  <a:cs typeface="Liberation Sans"/>
                </a:rPr>
                <a:t>38/474 (8.0)</a:t>
              </a:r>
            </a:p>
          </p:txBody>
        </p:sp>
        <p:sp>
          <p:nvSpPr>
            <p:cNvPr id="206" name="tx206"/>
            <p:cNvSpPr/>
            <p:nvPr/>
          </p:nvSpPr>
          <p:spPr>
            <a:xfrm>
              <a:off x="2846306" y="1404341"/>
              <a:ext cx="826709" cy="87416"/>
            </a:xfrm>
            <a:prstGeom prst="rect">
              <a:avLst/>
            </a:prstGeom>
            <a:noFill/>
          </p:spPr>
          <p:txBody>
            <a:bodyPr lIns="0" rIns="0" tIns="0" bIns="0" anchorCtr="1" anchor="ctr" wrap="none"/>
            <a:lstStyle/>
            <a:p>
              <a:pPr algn="l" marL="0" marR="0" indent="0">
                <a:spcBef>
                  <a:spcPts val="0"/>
                </a:spcBef>
                <a:spcAft>
                  <a:spcPts val="0"/>
                </a:spcAft>
              </a:pPr>
              <a:r>
                <a:rPr sz="1000" i="0" b="0">
                  <a:solidFill>
                    <a:srgbClr val="000000">
                      <a:alpha val="100000"/>
                    </a:srgbClr>
                  </a:solidFill>
                  <a:latin typeface="Liberation Sans"/>
                  <a:cs typeface="Liberation Sans"/>
                </a:rPr>
                <a:t>134/1420 (9.4)</a:t>
              </a:r>
            </a:p>
          </p:txBody>
        </p:sp>
        <p:sp>
          <p:nvSpPr>
            <p:cNvPr id="207" name="tx207"/>
            <p:cNvSpPr/>
            <p:nvPr/>
          </p:nvSpPr>
          <p:spPr>
            <a:xfrm>
              <a:off x="2846306" y="1795174"/>
              <a:ext cx="756025" cy="87416"/>
            </a:xfrm>
            <a:prstGeom prst="rect">
              <a:avLst/>
            </a:prstGeom>
            <a:noFill/>
          </p:spPr>
          <p:txBody>
            <a:bodyPr lIns="0" rIns="0" tIns="0" bIns="0" anchorCtr="1" anchor="ctr" wrap="none"/>
            <a:lstStyle/>
            <a:p>
              <a:pPr algn="l" marL="0" marR="0" indent="0">
                <a:spcBef>
                  <a:spcPts val="0"/>
                </a:spcBef>
                <a:spcAft>
                  <a:spcPts val="0"/>
                </a:spcAft>
              </a:pPr>
              <a:r>
                <a:rPr sz="1000" i="0" b="0">
                  <a:solidFill>
                    <a:srgbClr val="000000">
                      <a:alpha val="100000"/>
                    </a:srgbClr>
                  </a:solidFill>
                  <a:latin typeface="Liberation Sans"/>
                  <a:cs typeface="Liberation Sans"/>
                </a:rPr>
                <a:t>94/1015 (9.3)</a:t>
              </a:r>
            </a:p>
          </p:txBody>
        </p:sp>
        <p:sp>
          <p:nvSpPr>
            <p:cNvPr id="208" name="tx208"/>
            <p:cNvSpPr/>
            <p:nvPr/>
          </p:nvSpPr>
          <p:spPr>
            <a:xfrm>
              <a:off x="2846306" y="1990591"/>
              <a:ext cx="685342" cy="87416"/>
            </a:xfrm>
            <a:prstGeom prst="rect">
              <a:avLst/>
            </a:prstGeom>
            <a:noFill/>
          </p:spPr>
          <p:txBody>
            <a:bodyPr lIns="0" rIns="0" tIns="0" bIns="0" anchorCtr="1" anchor="ctr" wrap="none"/>
            <a:lstStyle/>
            <a:p>
              <a:pPr algn="l" marL="0" marR="0" indent="0">
                <a:spcBef>
                  <a:spcPts val="0"/>
                </a:spcBef>
                <a:spcAft>
                  <a:spcPts val="0"/>
                </a:spcAft>
              </a:pPr>
              <a:r>
                <a:rPr sz="1000" i="0" b="0">
                  <a:solidFill>
                    <a:srgbClr val="000000">
                      <a:alpha val="100000"/>
                    </a:srgbClr>
                  </a:solidFill>
                  <a:latin typeface="Liberation Sans"/>
                  <a:cs typeface="Liberation Sans"/>
                </a:rPr>
                <a:t>78/879 (8.9)</a:t>
              </a:r>
            </a:p>
          </p:txBody>
        </p:sp>
        <p:sp>
          <p:nvSpPr>
            <p:cNvPr id="209" name="tx209"/>
            <p:cNvSpPr/>
            <p:nvPr/>
          </p:nvSpPr>
          <p:spPr>
            <a:xfrm>
              <a:off x="2846306" y="2381424"/>
              <a:ext cx="817290" cy="87416"/>
            </a:xfrm>
            <a:prstGeom prst="rect">
              <a:avLst/>
            </a:prstGeom>
            <a:noFill/>
          </p:spPr>
          <p:txBody>
            <a:bodyPr lIns="0" rIns="0" tIns="0" bIns="0" anchorCtr="1" anchor="ctr" wrap="none"/>
            <a:lstStyle/>
            <a:p>
              <a:pPr algn="l" marL="0" marR="0" indent="0">
                <a:spcBef>
                  <a:spcPts val="0"/>
                </a:spcBef>
                <a:spcAft>
                  <a:spcPts val="0"/>
                </a:spcAft>
              </a:pPr>
              <a:r>
                <a:rPr sz="1000" i="0" b="0">
                  <a:solidFill>
                    <a:srgbClr val="000000">
                      <a:alpha val="100000"/>
                    </a:srgbClr>
                  </a:solidFill>
                  <a:latin typeface="Liberation Sans"/>
                  <a:cs typeface="Liberation Sans"/>
                </a:rPr>
                <a:t>103/1193 (8.6)</a:t>
              </a:r>
            </a:p>
          </p:txBody>
        </p:sp>
        <p:sp>
          <p:nvSpPr>
            <p:cNvPr id="210" name="tx210"/>
            <p:cNvSpPr/>
            <p:nvPr/>
          </p:nvSpPr>
          <p:spPr>
            <a:xfrm>
              <a:off x="2846306" y="2576841"/>
              <a:ext cx="685342" cy="87416"/>
            </a:xfrm>
            <a:prstGeom prst="rect">
              <a:avLst/>
            </a:prstGeom>
            <a:noFill/>
          </p:spPr>
          <p:txBody>
            <a:bodyPr lIns="0" rIns="0" tIns="0" bIns="0" anchorCtr="1" anchor="ctr" wrap="none"/>
            <a:lstStyle/>
            <a:p>
              <a:pPr algn="l" marL="0" marR="0" indent="0">
                <a:spcBef>
                  <a:spcPts val="0"/>
                </a:spcBef>
                <a:spcAft>
                  <a:spcPts val="0"/>
                </a:spcAft>
              </a:pPr>
              <a:r>
                <a:rPr sz="1000" i="0" b="0">
                  <a:solidFill>
                    <a:srgbClr val="000000">
                      <a:alpha val="100000"/>
                    </a:srgbClr>
                  </a:solidFill>
                  <a:latin typeface="Liberation Sans"/>
                  <a:cs typeface="Liberation Sans"/>
                </a:rPr>
                <a:t>69/701 (9.8)</a:t>
              </a:r>
            </a:p>
          </p:txBody>
        </p:sp>
        <p:sp>
          <p:nvSpPr>
            <p:cNvPr id="211" name="tx211"/>
            <p:cNvSpPr/>
            <p:nvPr/>
          </p:nvSpPr>
          <p:spPr>
            <a:xfrm>
              <a:off x="2846306" y="2967674"/>
              <a:ext cx="685342" cy="87416"/>
            </a:xfrm>
            <a:prstGeom prst="rect">
              <a:avLst/>
            </a:prstGeom>
            <a:noFill/>
          </p:spPr>
          <p:txBody>
            <a:bodyPr lIns="0" rIns="0" tIns="0" bIns="0" anchorCtr="1" anchor="ctr" wrap="none"/>
            <a:lstStyle/>
            <a:p>
              <a:pPr algn="l" marL="0" marR="0" indent="0">
                <a:spcBef>
                  <a:spcPts val="0"/>
                </a:spcBef>
                <a:spcAft>
                  <a:spcPts val="0"/>
                </a:spcAft>
              </a:pPr>
              <a:r>
                <a:rPr sz="1000" i="0" b="0">
                  <a:solidFill>
                    <a:srgbClr val="000000">
                      <a:alpha val="100000"/>
                    </a:srgbClr>
                  </a:solidFill>
                  <a:latin typeface="Liberation Sans"/>
                  <a:cs typeface="Liberation Sans"/>
                </a:rPr>
                <a:t>46/648 (7.1)</a:t>
              </a:r>
            </a:p>
          </p:txBody>
        </p:sp>
        <p:sp>
          <p:nvSpPr>
            <p:cNvPr id="212" name="tx212"/>
            <p:cNvSpPr/>
            <p:nvPr/>
          </p:nvSpPr>
          <p:spPr>
            <a:xfrm>
              <a:off x="2846306" y="3163091"/>
              <a:ext cx="897392" cy="87416"/>
            </a:xfrm>
            <a:prstGeom prst="rect">
              <a:avLst/>
            </a:prstGeom>
            <a:noFill/>
          </p:spPr>
          <p:txBody>
            <a:bodyPr lIns="0" rIns="0" tIns="0" bIns="0" anchorCtr="1" anchor="ctr" wrap="none"/>
            <a:lstStyle/>
            <a:p>
              <a:pPr algn="l" marL="0" marR="0" indent="0">
                <a:spcBef>
                  <a:spcPts val="0"/>
                </a:spcBef>
                <a:spcAft>
                  <a:spcPts val="0"/>
                </a:spcAft>
              </a:pPr>
              <a:r>
                <a:rPr sz="1000" i="0" b="0">
                  <a:solidFill>
                    <a:srgbClr val="000000">
                      <a:alpha val="100000"/>
                    </a:srgbClr>
                  </a:solidFill>
                  <a:latin typeface="Liberation Sans"/>
                  <a:cs typeface="Liberation Sans"/>
                </a:rPr>
                <a:t>126/1246 (10.1)</a:t>
              </a:r>
            </a:p>
          </p:txBody>
        </p:sp>
        <p:sp>
          <p:nvSpPr>
            <p:cNvPr id="213" name="tx213"/>
            <p:cNvSpPr/>
            <p:nvPr/>
          </p:nvSpPr>
          <p:spPr>
            <a:xfrm>
              <a:off x="2846306" y="3553924"/>
              <a:ext cx="826709" cy="87416"/>
            </a:xfrm>
            <a:prstGeom prst="rect">
              <a:avLst/>
            </a:prstGeom>
            <a:noFill/>
          </p:spPr>
          <p:txBody>
            <a:bodyPr lIns="0" rIns="0" tIns="0" bIns="0" anchorCtr="1" anchor="ctr" wrap="none"/>
            <a:lstStyle/>
            <a:p>
              <a:pPr algn="l" marL="0" marR="0" indent="0">
                <a:spcBef>
                  <a:spcPts val="0"/>
                </a:spcBef>
                <a:spcAft>
                  <a:spcPts val="0"/>
                </a:spcAft>
              </a:pPr>
              <a:r>
                <a:rPr sz="1000" i="0" b="0">
                  <a:solidFill>
                    <a:srgbClr val="000000">
                      <a:alpha val="100000"/>
                    </a:srgbClr>
                  </a:solidFill>
                  <a:latin typeface="Liberation Sans"/>
                  <a:cs typeface="Liberation Sans"/>
                </a:rPr>
                <a:t>146/1701 (8.6)</a:t>
              </a:r>
            </a:p>
          </p:txBody>
        </p:sp>
        <p:sp>
          <p:nvSpPr>
            <p:cNvPr id="214" name="tx214"/>
            <p:cNvSpPr/>
            <p:nvPr/>
          </p:nvSpPr>
          <p:spPr>
            <a:xfrm>
              <a:off x="2846306" y="3749341"/>
              <a:ext cx="756025" cy="87416"/>
            </a:xfrm>
            <a:prstGeom prst="rect">
              <a:avLst/>
            </a:prstGeom>
            <a:noFill/>
          </p:spPr>
          <p:txBody>
            <a:bodyPr lIns="0" rIns="0" tIns="0" bIns="0" anchorCtr="1" anchor="ctr" wrap="none"/>
            <a:lstStyle/>
            <a:p>
              <a:pPr algn="l" marL="0" marR="0" indent="0">
                <a:spcBef>
                  <a:spcPts val="0"/>
                </a:spcBef>
                <a:spcAft>
                  <a:spcPts val="0"/>
                </a:spcAft>
              </a:pPr>
              <a:r>
                <a:rPr sz="1000" i="0" b="0">
                  <a:solidFill>
                    <a:srgbClr val="000000">
                      <a:alpha val="100000"/>
                    </a:srgbClr>
                  </a:solidFill>
                  <a:latin typeface="Liberation Sans"/>
                  <a:cs typeface="Liberation Sans"/>
                </a:rPr>
                <a:t>26/193 (13.5)</a:t>
              </a:r>
            </a:p>
          </p:txBody>
        </p:sp>
        <p:sp>
          <p:nvSpPr>
            <p:cNvPr id="215" name="tx215"/>
            <p:cNvSpPr/>
            <p:nvPr/>
          </p:nvSpPr>
          <p:spPr>
            <a:xfrm>
              <a:off x="2846306" y="4140174"/>
              <a:ext cx="746607" cy="87416"/>
            </a:xfrm>
            <a:prstGeom prst="rect">
              <a:avLst/>
            </a:prstGeom>
            <a:noFill/>
          </p:spPr>
          <p:txBody>
            <a:bodyPr lIns="0" rIns="0" tIns="0" bIns="0" anchorCtr="1" anchor="ctr" wrap="none"/>
            <a:lstStyle/>
            <a:p>
              <a:pPr algn="l" marL="0" marR="0" indent="0">
                <a:spcBef>
                  <a:spcPts val="0"/>
                </a:spcBef>
                <a:spcAft>
                  <a:spcPts val="0"/>
                </a:spcAft>
              </a:pPr>
              <a:r>
                <a:rPr sz="1000" i="0" b="0">
                  <a:solidFill>
                    <a:srgbClr val="000000">
                      <a:alpha val="100000"/>
                    </a:srgbClr>
                  </a:solidFill>
                  <a:latin typeface="Liberation Sans"/>
                  <a:cs typeface="Liberation Sans"/>
                </a:rPr>
                <a:t>93/1150 (8.1)</a:t>
              </a:r>
            </a:p>
          </p:txBody>
        </p:sp>
        <p:sp>
          <p:nvSpPr>
            <p:cNvPr id="216" name="tx216"/>
            <p:cNvSpPr/>
            <p:nvPr/>
          </p:nvSpPr>
          <p:spPr>
            <a:xfrm>
              <a:off x="2846306" y="4335590"/>
              <a:ext cx="756025" cy="87416"/>
            </a:xfrm>
            <a:prstGeom prst="rect">
              <a:avLst/>
            </a:prstGeom>
            <a:noFill/>
          </p:spPr>
          <p:txBody>
            <a:bodyPr lIns="0" rIns="0" tIns="0" bIns="0" anchorCtr="1" anchor="ctr" wrap="none"/>
            <a:lstStyle/>
            <a:p>
              <a:pPr algn="l" marL="0" marR="0" indent="0">
                <a:spcBef>
                  <a:spcPts val="0"/>
                </a:spcBef>
                <a:spcAft>
                  <a:spcPts val="0"/>
                </a:spcAft>
              </a:pPr>
              <a:r>
                <a:rPr sz="1000" i="0" b="0">
                  <a:solidFill>
                    <a:srgbClr val="000000">
                      <a:alpha val="100000"/>
                    </a:srgbClr>
                  </a:solidFill>
                  <a:latin typeface="Liberation Sans"/>
                  <a:cs typeface="Liberation Sans"/>
                </a:rPr>
                <a:t>79/744 (10.6)</a:t>
              </a:r>
            </a:p>
          </p:txBody>
        </p:sp>
        <p:sp>
          <p:nvSpPr>
            <p:cNvPr id="217" name="tx217"/>
            <p:cNvSpPr/>
            <p:nvPr/>
          </p:nvSpPr>
          <p:spPr>
            <a:xfrm>
              <a:off x="2846306" y="4726424"/>
              <a:ext cx="826709" cy="87416"/>
            </a:xfrm>
            <a:prstGeom prst="rect">
              <a:avLst/>
            </a:prstGeom>
            <a:noFill/>
          </p:spPr>
          <p:txBody>
            <a:bodyPr lIns="0" rIns="0" tIns="0" bIns="0" anchorCtr="1" anchor="ctr" wrap="none"/>
            <a:lstStyle/>
            <a:p>
              <a:pPr algn="l" marL="0" marR="0" indent="0">
                <a:spcBef>
                  <a:spcPts val="0"/>
                </a:spcBef>
                <a:spcAft>
                  <a:spcPts val="0"/>
                </a:spcAft>
              </a:pPr>
              <a:r>
                <a:rPr sz="1000" i="0" b="0">
                  <a:solidFill>
                    <a:srgbClr val="000000">
                      <a:alpha val="100000"/>
                    </a:srgbClr>
                  </a:solidFill>
                  <a:latin typeface="Liberation Sans"/>
                  <a:cs typeface="Liberation Sans"/>
                </a:rPr>
                <a:t>160/1793 (8.9)</a:t>
              </a:r>
            </a:p>
          </p:txBody>
        </p:sp>
        <p:sp>
          <p:nvSpPr>
            <p:cNvPr id="218" name="tx218"/>
            <p:cNvSpPr/>
            <p:nvPr/>
          </p:nvSpPr>
          <p:spPr>
            <a:xfrm>
              <a:off x="2846306" y="4921840"/>
              <a:ext cx="746607" cy="87416"/>
            </a:xfrm>
            <a:prstGeom prst="rect">
              <a:avLst/>
            </a:prstGeom>
            <a:noFill/>
          </p:spPr>
          <p:txBody>
            <a:bodyPr lIns="0" rIns="0" tIns="0" bIns="0" anchorCtr="1" anchor="ctr" wrap="none"/>
            <a:lstStyle/>
            <a:p>
              <a:pPr algn="l" marL="0" marR="0" indent="0">
                <a:spcBef>
                  <a:spcPts val="0"/>
                </a:spcBef>
                <a:spcAft>
                  <a:spcPts val="0"/>
                </a:spcAft>
              </a:pPr>
              <a:r>
                <a:rPr sz="1000" i="0" b="0">
                  <a:solidFill>
                    <a:srgbClr val="000000">
                      <a:alpha val="100000"/>
                    </a:srgbClr>
                  </a:solidFill>
                  <a:latin typeface="Liberation Sans"/>
                  <a:cs typeface="Liberation Sans"/>
                </a:rPr>
                <a:t>12/101 (11.9)</a:t>
              </a:r>
            </a:p>
          </p:txBody>
        </p:sp>
        <p:sp>
          <p:nvSpPr>
            <p:cNvPr id="219" name="tx219"/>
            <p:cNvSpPr/>
            <p:nvPr/>
          </p:nvSpPr>
          <p:spPr>
            <a:xfrm>
              <a:off x="2846306" y="5312674"/>
              <a:ext cx="826709" cy="87416"/>
            </a:xfrm>
            <a:prstGeom prst="rect">
              <a:avLst/>
            </a:prstGeom>
            <a:noFill/>
          </p:spPr>
          <p:txBody>
            <a:bodyPr lIns="0" rIns="0" tIns="0" bIns="0" anchorCtr="1" anchor="ctr" wrap="none"/>
            <a:lstStyle/>
            <a:p>
              <a:pPr algn="l" marL="0" marR="0" indent="0">
                <a:spcBef>
                  <a:spcPts val="0"/>
                </a:spcBef>
                <a:spcAft>
                  <a:spcPts val="0"/>
                </a:spcAft>
              </a:pPr>
              <a:r>
                <a:rPr sz="1000" i="0" b="0">
                  <a:solidFill>
                    <a:srgbClr val="000000">
                      <a:alpha val="100000"/>
                    </a:srgbClr>
                  </a:solidFill>
                  <a:latin typeface="Liberation Sans"/>
                  <a:cs typeface="Liberation Sans"/>
                </a:rPr>
                <a:t>166/1828 (9.1)</a:t>
              </a:r>
            </a:p>
          </p:txBody>
        </p:sp>
        <p:sp>
          <p:nvSpPr>
            <p:cNvPr id="220" name="tx220"/>
            <p:cNvSpPr/>
            <p:nvPr/>
          </p:nvSpPr>
          <p:spPr>
            <a:xfrm>
              <a:off x="2846306" y="5508090"/>
              <a:ext cx="543976" cy="87416"/>
            </a:xfrm>
            <a:prstGeom prst="rect">
              <a:avLst/>
            </a:prstGeom>
            <a:noFill/>
          </p:spPr>
          <p:txBody>
            <a:bodyPr lIns="0" rIns="0" tIns="0" bIns="0" anchorCtr="1" anchor="ctr" wrap="none"/>
            <a:lstStyle/>
            <a:p>
              <a:pPr algn="l" marL="0" marR="0" indent="0">
                <a:spcBef>
                  <a:spcPts val="0"/>
                </a:spcBef>
                <a:spcAft>
                  <a:spcPts val="0"/>
                </a:spcAft>
              </a:pPr>
              <a:r>
                <a:rPr sz="1000" i="0" b="0">
                  <a:solidFill>
                    <a:srgbClr val="000000">
                      <a:alpha val="100000"/>
                    </a:srgbClr>
                  </a:solidFill>
                  <a:latin typeface="Liberation Sans"/>
                  <a:cs typeface="Liberation Sans"/>
                </a:rPr>
                <a:t>6/66 (9.1)</a:t>
              </a:r>
            </a:p>
          </p:txBody>
        </p:sp>
        <p:sp>
          <p:nvSpPr>
            <p:cNvPr id="221" name="tx221"/>
            <p:cNvSpPr/>
            <p:nvPr/>
          </p:nvSpPr>
          <p:spPr>
            <a:xfrm>
              <a:off x="2846306" y="5898924"/>
              <a:ext cx="826709" cy="87416"/>
            </a:xfrm>
            <a:prstGeom prst="rect">
              <a:avLst/>
            </a:prstGeom>
            <a:noFill/>
          </p:spPr>
          <p:txBody>
            <a:bodyPr lIns="0" rIns="0" tIns="0" bIns="0" anchorCtr="1" anchor="ctr" wrap="none"/>
            <a:lstStyle/>
            <a:p>
              <a:pPr algn="l" marL="0" marR="0" indent="0">
                <a:spcBef>
                  <a:spcPts val="0"/>
                </a:spcBef>
                <a:spcAft>
                  <a:spcPts val="0"/>
                </a:spcAft>
              </a:pPr>
              <a:r>
                <a:rPr sz="1000" i="0" b="0">
                  <a:solidFill>
                    <a:srgbClr val="000000">
                      <a:alpha val="100000"/>
                    </a:srgbClr>
                  </a:solidFill>
                  <a:latin typeface="Liberation Sans"/>
                  <a:cs typeface="Liberation Sans"/>
                </a:rPr>
                <a:t>121/1406 (8.6)</a:t>
              </a:r>
            </a:p>
          </p:txBody>
        </p:sp>
        <p:sp>
          <p:nvSpPr>
            <p:cNvPr id="222" name="tx222"/>
            <p:cNvSpPr/>
            <p:nvPr/>
          </p:nvSpPr>
          <p:spPr>
            <a:xfrm>
              <a:off x="2846306" y="6094340"/>
              <a:ext cx="756025" cy="87416"/>
            </a:xfrm>
            <a:prstGeom prst="rect">
              <a:avLst/>
            </a:prstGeom>
            <a:noFill/>
          </p:spPr>
          <p:txBody>
            <a:bodyPr lIns="0" rIns="0" tIns="0" bIns="0" anchorCtr="1" anchor="ctr" wrap="none"/>
            <a:lstStyle/>
            <a:p>
              <a:pPr algn="l" marL="0" marR="0" indent="0">
                <a:spcBef>
                  <a:spcPts val="0"/>
                </a:spcBef>
                <a:spcAft>
                  <a:spcPts val="0"/>
                </a:spcAft>
              </a:pPr>
              <a:r>
                <a:rPr sz="1000" i="0" b="0">
                  <a:solidFill>
                    <a:srgbClr val="000000">
                      <a:alpha val="100000"/>
                    </a:srgbClr>
                  </a:solidFill>
                  <a:latin typeface="Liberation Sans"/>
                  <a:cs typeface="Liberation Sans"/>
                </a:rPr>
                <a:t>51/488 (10.5)</a:t>
              </a:r>
            </a:p>
          </p:txBody>
        </p:sp>
        <p:sp>
          <p:nvSpPr>
            <p:cNvPr id="223" name="tx223"/>
            <p:cNvSpPr/>
            <p:nvPr/>
          </p:nvSpPr>
          <p:spPr>
            <a:xfrm>
              <a:off x="4247803" y="231841"/>
              <a:ext cx="826709" cy="87416"/>
            </a:xfrm>
            <a:prstGeom prst="rect">
              <a:avLst/>
            </a:prstGeom>
            <a:noFill/>
          </p:spPr>
          <p:txBody>
            <a:bodyPr lIns="0" rIns="0" tIns="0" bIns="0" anchorCtr="1" anchor="ctr" wrap="none"/>
            <a:lstStyle/>
            <a:p>
              <a:pPr algn="l" marL="0" marR="0" indent="0">
                <a:spcBef>
                  <a:spcPts val="0"/>
                </a:spcBef>
                <a:spcAft>
                  <a:spcPts val="0"/>
                </a:spcAft>
              </a:pPr>
              <a:r>
                <a:rPr sz="1000" i="0" b="0">
                  <a:solidFill>
                    <a:srgbClr val="000000">
                      <a:alpha val="100000"/>
                    </a:srgbClr>
                  </a:solidFill>
                  <a:latin typeface="Liberation Sans"/>
                  <a:cs typeface="Liberation Sans"/>
                </a:rPr>
                <a:t>186/1886 (9.9)</a:t>
              </a:r>
            </a:p>
          </p:txBody>
        </p:sp>
        <p:sp>
          <p:nvSpPr>
            <p:cNvPr id="224" name="tx224"/>
            <p:cNvSpPr/>
            <p:nvPr/>
          </p:nvSpPr>
          <p:spPr>
            <a:xfrm>
              <a:off x="4247803" y="622674"/>
              <a:ext cx="756025" cy="87416"/>
            </a:xfrm>
            <a:prstGeom prst="rect">
              <a:avLst/>
            </a:prstGeom>
            <a:noFill/>
          </p:spPr>
          <p:txBody>
            <a:bodyPr lIns="0" rIns="0" tIns="0" bIns="0" anchorCtr="1" anchor="ctr" wrap="none"/>
            <a:lstStyle/>
            <a:p>
              <a:pPr algn="l" marL="0" marR="0" indent="0">
                <a:spcBef>
                  <a:spcPts val="0"/>
                </a:spcBef>
                <a:spcAft>
                  <a:spcPts val="0"/>
                </a:spcAft>
              </a:pPr>
              <a:r>
                <a:rPr sz="1000" i="0" b="0">
                  <a:solidFill>
                    <a:srgbClr val="000000">
                      <a:alpha val="100000"/>
                    </a:srgbClr>
                  </a:solidFill>
                  <a:latin typeface="Liberation Sans"/>
                  <a:cs typeface="Liberation Sans"/>
                </a:rPr>
                <a:t>61/593 (10.3)</a:t>
              </a:r>
            </a:p>
          </p:txBody>
        </p:sp>
        <p:sp>
          <p:nvSpPr>
            <p:cNvPr id="225" name="tx225"/>
            <p:cNvSpPr/>
            <p:nvPr/>
          </p:nvSpPr>
          <p:spPr>
            <a:xfrm>
              <a:off x="4247803" y="818091"/>
              <a:ext cx="826709" cy="87416"/>
            </a:xfrm>
            <a:prstGeom prst="rect">
              <a:avLst/>
            </a:prstGeom>
            <a:noFill/>
          </p:spPr>
          <p:txBody>
            <a:bodyPr lIns="0" rIns="0" tIns="0" bIns="0" anchorCtr="1" anchor="ctr" wrap="none"/>
            <a:lstStyle/>
            <a:p>
              <a:pPr algn="l" marL="0" marR="0" indent="0">
                <a:spcBef>
                  <a:spcPts val="0"/>
                </a:spcBef>
                <a:spcAft>
                  <a:spcPts val="0"/>
                </a:spcAft>
              </a:pPr>
              <a:r>
                <a:rPr sz="1000" i="0" b="0">
                  <a:solidFill>
                    <a:srgbClr val="000000">
                      <a:alpha val="100000"/>
                    </a:srgbClr>
                  </a:solidFill>
                  <a:latin typeface="Liberation Sans"/>
                  <a:cs typeface="Liberation Sans"/>
                </a:rPr>
                <a:t>125/1293 (9.7)</a:t>
              </a:r>
            </a:p>
          </p:txBody>
        </p:sp>
        <p:sp>
          <p:nvSpPr>
            <p:cNvPr id="226" name="tx226"/>
            <p:cNvSpPr/>
            <p:nvPr/>
          </p:nvSpPr>
          <p:spPr>
            <a:xfrm>
              <a:off x="4247803" y="1208924"/>
              <a:ext cx="685342" cy="87416"/>
            </a:xfrm>
            <a:prstGeom prst="rect">
              <a:avLst/>
            </a:prstGeom>
            <a:noFill/>
          </p:spPr>
          <p:txBody>
            <a:bodyPr lIns="0" rIns="0" tIns="0" bIns="0" anchorCtr="1" anchor="ctr" wrap="none"/>
            <a:lstStyle/>
            <a:p>
              <a:pPr algn="l" marL="0" marR="0" indent="0">
                <a:spcBef>
                  <a:spcPts val="0"/>
                </a:spcBef>
                <a:spcAft>
                  <a:spcPts val="0"/>
                </a:spcAft>
              </a:pPr>
              <a:r>
                <a:rPr sz="1000" i="0" b="0">
                  <a:solidFill>
                    <a:srgbClr val="000000">
                      <a:alpha val="100000"/>
                    </a:srgbClr>
                  </a:solidFill>
                  <a:latin typeface="Liberation Sans"/>
                  <a:cs typeface="Liberation Sans"/>
                </a:rPr>
                <a:t>40/480 (8.3)</a:t>
              </a:r>
            </a:p>
          </p:txBody>
        </p:sp>
        <p:sp>
          <p:nvSpPr>
            <p:cNvPr id="227" name="tx227"/>
            <p:cNvSpPr/>
            <p:nvPr/>
          </p:nvSpPr>
          <p:spPr>
            <a:xfrm>
              <a:off x="4247803" y="1404341"/>
              <a:ext cx="897392" cy="87416"/>
            </a:xfrm>
            <a:prstGeom prst="rect">
              <a:avLst/>
            </a:prstGeom>
            <a:noFill/>
          </p:spPr>
          <p:txBody>
            <a:bodyPr lIns="0" rIns="0" tIns="0" bIns="0" anchorCtr="1" anchor="ctr" wrap="none"/>
            <a:lstStyle/>
            <a:p>
              <a:pPr algn="l" marL="0" marR="0" indent="0">
                <a:spcBef>
                  <a:spcPts val="0"/>
                </a:spcBef>
                <a:spcAft>
                  <a:spcPts val="0"/>
                </a:spcAft>
              </a:pPr>
              <a:r>
                <a:rPr sz="1000" i="0" b="0">
                  <a:solidFill>
                    <a:srgbClr val="000000">
                      <a:alpha val="100000"/>
                    </a:srgbClr>
                  </a:solidFill>
                  <a:latin typeface="Liberation Sans"/>
                  <a:cs typeface="Liberation Sans"/>
                </a:rPr>
                <a:t>146/1406 (10.4)</a:t>
              </a:r>
            </a:p>
          </p:txBody>
        </p:sp>
        <p:sp>
          <p:nvSpPr>
            <p:cNvPr id="228" name="tx228"/>
            <p:cNvSpPr/>
            <p:nvPr/>
          </p:nvSpPr>
          <p:spPr>
            <a:xfrm>
              <a:off x="4247803" y="1795174"/>
              <a:ext cx="685342" cy="87416"/>
            </a:xfrm>
            <a:prstGeom prst="rect">
              <a:avLst/>
            </a:prstGeom>
            <a:noFill/>
          </p:spPr>
          <p:txBody>
            <a:bodyPr lIns="0" rIns="0" tIns="0" bIns="0" anchorCtr="1" anchor="ctr" wrap="none"/>
            <a:lstStyle/>
            <a:p>
              <a:pPr algn="l" marL="0" marR="0" indent="0">
                <a:spcBef>
                  <a:spcPts val="0"/>
                </a:spcBef>
                <a:spcAft>
                  <a:spcPts val="0"/>
                </a:spcAft>
              </a:pPr>
              <a:r>
                <a:rPr sz="1000" i="0" b="0">
                  <a:solidFill>
                    <a:srgbClr val="000000">
                      <a:alpha val="100000"/>
                    </a:srgbClr>
                  </a:solidFill>
                  <a:latin typeface="Liberation Sans"/>
                  <a:cs typeface="Liberation Sans"/>
                </a:rPr>
                <a:t>93/995 (9.3)</a:t>
              </a:r>
            </a:p>
          </p:txBody>
        </p:sp>
        <p:sp>
          <p:nvSpPr>
            <p:cNvPr id="229" name="tx229"/>
            <p:cNvSpPr/>
            <p:nvPr/>
          </p:nvSpPr>
          <p:spPr>
            <a:xfrm>
              <a:off x="4247803" y="1990591"/>
              <a:ext cx="756025" cy="87416"/>
            </a:xfrm>
            <a:prstGeom prst="rect">
              <a:avLst/>
            </a:prstGeom>
            <a:noFill/>
          </p:spPr>
          <p:txBody>
            <a:bodyPr lIns="0" rIns="0" tIns="0" bIns="0" anchorCtr="1" anchor="ctr" wrap="none"/>
            <a:lstStyle/>
            <a:p>
              <a:pPr algn="l" marL="0" marR="0" indent="0">
                <a:spcBef>
                  <a:spcPts val="0"/>
                </a:spcBef>
                <a:spcAft>
                  <a:spcPts val="0"/>
                </a:spcAft>
              </a:pPr>
              <a:r>
                <a:rPr sz="1000" i="0" b="0">
                  <a:solidFill>
                    <a:srgbClr val="000000">
                      <a:alpha val="100000"/>
                    </a:srgbClr>
                  </a:solidFill>
                  <a:latin typeface="Liberation Sans"/>
                  <a:cs typeface="Liberation Sans"/>
                </a:rPr>
                <a:t>93/891 (10.4)</a:t>
              </a:r>
            </a:p>
          </p:txBody>
        </p:sp>
        <p:sp>
          <p:nvSpPr>
            <p:cNvPr id="230" name="tx230"/>
            <p:cNvSpPr/>
            <p:nvPr/>
          </p:nvSpPr>
          <p:spPr>
            <a:xfrm>
              <a:off x="4247803" y="2381424"/>
              <a:ext cx="817290" cy="87416"/>
            </a:xfrm>
            <a:prstGeom prst="rect">
              <a:avLst/>
            </a:prstGeom>
            <a:noFill/>
          </p:spPr>
          <p:txBody>
            <a:bodyPr lIns="0" rIns="0" tIns="0" bIns="0" anchorCtr="1" anchor="ctr" wrap="none"/>
            <a:lstStyle/>
            <a:p>
              <a:pPr algn="l" marL="0" marR="0" indent="0">
                <a:spcBef>
                  <a:spcPts val="0"/>
                </a:spcBef>
                <a:spcAft>
                  <a:spcPts val="0"/>
                </a:spcAft>
              </a:pPr>
              <a:r>
                <a:rPr sz="1000" i="0" b="0">
                  <a:solidFill>
                    <a:srgbClr val="000000">
                      <a:alpha val="100000"/>
                    </a:srgbClr>
                  </a:solidFill>
                  <a:latin typeface="Liberation Sans"/>
                  <a:cs typeface="Liberation Sans"/>
                </a:rPr>
                <a:t>109/1189 (9.2)</a:t>
              </a:r>
            </a:p>
          </p:txBody>
        </p:sp>
        <p:sp>
          <p:nvSpPr>
            <p:cNvPr id="231" name="tx231"/>
            <p:cNvSpPr/>
            <p:nvPr/>
          </p:nvSpPr>
          <p:spPr>
            <a:xfrm>
              <a:off x="4247803" y="2576841"/>
              <a:ext cx="746607" cy="87416"/>
            </a:xfrm>
            <a:prstGeom prst="rect">
              <a:avLst/>
            </a:prstGeom>
            <a:noFill/>
          </p:spPr>
          <p:txBody>
            <a:bodyPr lIns="0" rIns="0" tIns="0" bIns="0" anchorCtr="1" anchor="ctr" wrap="none"/>
            <a:lstStyle/>
            <a:p>
              <a:pPr algn="l" marL="0" marR="0" indent="0">
                <a:spcBef>
                  <a:spcPts val="0"/>
                </a:spcBef>
                <a:spcAft>
                  <a:spcPts val="0"/>
                </a:spcAft>
              </a:pPr>
              <a:r>
                <a:rPr sz="1000" i="0" b="0">
                  <a:solidFill>
                    <a:srgbClr val="000000">
                      <a:alpha val="100000"/>
                    </a:srgbClr>
                  </a:solidFill>
                  <a:latin typeface="Liberation Sans"/>
                  <a:cs typeface="Liberation Sans"/>
                </a:rPr>
                <a:t>77/697 (11.0)</a:t>
              </a:r>
            </a:p>
          </p:txBody>
        </p:sp>
        <p:sp>
          <p:nvSpPr>
            <p:cNvPr id="232" name="tx232"/>
            <p:cNvSpPr/>
            <p:nvPr/>
          </p:nvSpPr>
          <p:spPr>
            <a:xfrm>
              <a:off x="4247803" y="2967674"/>
              <a:ext cx="685342" cy="87416"/>
            </a:xfrm>
            <a:prstGeom prst="rect">
              <a:avLst/>
            </a:prstGeom>
            <a:noFill/>
          </p:spPr>
          <p:txBody>
            <a:bodyPr lIns="0" rIns="0" tIns="0" bIns="0" anchorCtr="1" anchor="ctr" wrap="none"/>
            <a:lstStyle/>
            <a:p>
              <a:pPr algn="l" marL="0" marR="0" indent="0">
                <a:spcBef>
                  <a:spcPts val="0"/>
                </a:spcBef>
                <a:spcAft>
                  <a:spcPts val="0"/>
                </a:spcAft>
              </a:pPr>
              <a:r>
                <a:rPr sz="1000" i="0" b="0">
                  <a:solidFill>
                    <a:srgbClr val="000000">
                      <a:alpha val="100000"/>
                    </a:srgbClr>
                  </a:solidFill>
                  <a:latin typeface="Liberation Sans"/>
                  <a:cs typeface="Liberation Sans"/>
                </a:rPr>
                <a:t>59/612 (9.6)</a:t>
              </a:r>
            </a:p>
          </p:txBody>
        </p:sp>
        <p:sp>
          <p:nvSpPr>
            <p:cNvPr id="233" name="tx233"/>
            <p:cNvSpPr/>
            <p:nvPr/>
          </p:nvSpPr>
          <p:spPr>
            <a:xfrm>
              <a:off x="4247803" y="3163091"/>
              <a:ext cx="897392" cy="87416"/>
            </a:xfrm>
            <a:prstGeom prst="rect">
              <a:avLst/>
            </a:prstGeom>
            <a:noFill/>
          </p:spPr>
          <p:txBody>
            <a:bodyPr lIns="0" rIns="0" tIns="0" bIns="0" anchorCtr="1" anchor="ctr" wrap="none"/>
            <a:lstStyle/>
            <a:p>
              <a:pPr algn="l" marL="0" marR="0" indent="0">
                <a:spcBef>
                  <a:spcPts val="0"/>
                </a:spcBef>
                <a:spcAft>
                  <a:spcPts val="0"/>
                </a:spcAft>
              </a:pPr>
              <a:r>
                <a:rPr sz="1000" i="0" b="0">
                  <a:solidFill>
                    <a:srgbClr val="000000">
                      <a:alpha val="100000"/>
                    </a:srgbClr>
                  </a:solidFill>
                  <a:latin typeface="Liberation Sans"/>
                  <a:cs typeface="Liberation Sans"/>
                </a:rPr>
                <a:t>127/1274 (10.0)</a:t>
              </a:r>
            </a:p>
          </p:txBody>
        </p:sp>
        <p:sp>
          <p:nvSpPr>
            <p:cNvPr id="234" name="tx234"/>
            <p:cNvSpPr/>
            <p:nvPr/>
          </p:nvSpPr>
          <p:spPr>
            <a:xfrm>
              <a:off x="4247803" y="3553924"/>
              <a:ext cx="826709" cy="87416"/>
            </a:xfrm>
            <a:prstGeom prst="rect">
              <a:avLst/>
            </a:prstGeom>
            <a:noFill/>
          </p:spPr>
          <p:txBody>
            <a:bodyPr lIns="0" rIns="0" tIns="0" bIns="0" anchorCtr="1" anchor="ctr" wrap="none"/>
            <a:lstStyle/>
            <a:p>
              <a:pPr algn="l" marL="0" marR="0" indent="0">
                <a:spcBef>
                  <a:spcPts val="0"/>
                </a:spcBef>
                <a:spcAft>
                  <a:spcPts val="0"/>
                </a:spcAft>
              </a:pPr>
              <a:r>
                <a:rPr sz="1000" i="0" b="0">
                  <a:solidFill>
                    <a:srgbClr val="000000">
                      <a:alpha val="100000"/>
                    </a:srgbClr>
                  </a:solidFill>
                  <a:latin typeface="Liberation Sans"/>
                  <a:cs typeface="Liberation Sans"/>
                </a:rPr>
                <a:t>162/1687 (9.6)</a:t>
              </a:r>
            </a:p>
          </p:txBody>
        </p:sp>
        <p:sp>
          <p:nvSpPr>
            <p:cNvPr id="235" name="tx235"/>
            <p:cNvSpPr/>
            <p:nvPr/>
          </p:nvSpPr>
          <p:spPr>
            <a:xfrm>
              <a:off x="4247803" y="3749341"/>
              <a:ext cx="756025" cy="87416"/>
            </a:xfrm>
            <a:prstGeom prst="rect">
              <a:avLst/>
            </a:prstGeom>
            <a:noFill/>
          </p:spPr>
          <p:txBody>
            <a:bodyPr lIns="0" rIns="0" tIns="0" bIns="0" anchorCtr="1" anchor="ctr" wrap="none"/>
            <a:lstStyle/>
            <a:p>
              <a:pPr algn="l" marL="0" marR="0" indent="0">
                <a:spcBef>
                  <a:spcPts val="0"/>
                </a:spcBef>
                <a:spcAft>
                  <a:spcPts val="0"/>
                </a:spcAft>
              </a:pPr>
              <a:r>
                <a:rPr sz="1000" i="0" b="0">
                  <a:solidFill>
                    <a:srgbClr val="000000">
                      <a:alpha val="100000"/>
                    </a:srgbClr>
                  </a:solidFill>
                  <a:latin typeface="Liberation Sans"/>
                  <a:cs typeface="Liberation Sans"/>
                </a:rPr>
                <a:t>24/199 (12.1)</a:t>
              </a:r>
            </a:p>
          </p:txBody>
        </p:sp>
        <p:sp>
          <p:nvSpPr>
            <p:cNvPr id="236" name="tx236"/>
            <p:cNvSpPr/>
            <p:nvPr/>
          </p:nvSpPr>
          <p:spPr>
            <a:xfrm>
              <a:off x="4247803" y="4140174"/>
              <a:ext cx="798454" cy="87416"/>
            </a:xfrm>
            <a:prstGeom prst="rect">
              <a:avLst/>
            </a:prstGeom>
            <a:noFill/>
          </p:spPr>
          <p:txBody>
            <a:bodyPr lIns="0" rIns="0" tIns="0" bIns="0" anchorCtr="1" anchor="ctr" wrap="none"/>
            <a:lstStyle/>
            <a:p>
              <a:pPr algn="l" marL="0" marR="0" indent="0">
                <a:spcBef>
                  <a:spcPts val="0"/>
                </a:spcBef>
                <a:spcAft>
                  <a:spcPts val="0"/>
                </a:spcAft>
              </a:pPr>
              <a:r>
                <a:rPr sz="1000" i="0" b="0">
                  <a:solidFill>
                    <a:srgbClr val="000000">
                      <a:alpha val="100000"/>
                    </a:srgbClr>
                  </a:solidFill>
                  <a:latin typeface="Liberation Sans"/>
                  <a:cs typeface="Liberation Sans"/>
                </a:rPr>
                <a:t>111/1141 (9.7)</a:t>
              </a:r>
            </a:p>
          </p:txBody>
        </p:sp>
        <p:sp>
          <p:nvSpPr>
            <p:cNvPr id="237" name="tx237"/>
            <p:cNvSpPr/>
            <p:nvPr/>
          </p:nvSpPr>
          <p:spPr>
            <a:xfrm>
              <a:off x="4247803" y="4335590"/>
              <a:ext cx="756025" cy="87416"/>
            </a:xfrm>
            <a:prstGeom prst="rect">
              <a:avLst/>
            </a:prstGeom>
            <a:noFill/>
          </p:spPr>
          <p:txBody>
            <a:bodyPr lIns="0" rIns="0" tIns="0" bIns="0" anchorCtr="1" anchor="ctr" wrap="none"/>
            <a:lstStyle/>
            <a:p>
              <a:pPr algn="l" marL="0" marR="0" indent="0">
                <a:spcBef>
                  <a:spcPts val="0"/>
                </a:spcBef>
                <a:spcAft>
                  <a:spcPts val="0"/>
                </a:spcAft>
              </a:pPr>
              <a:r>
                <a:rPr sz="1000" i="0" b="0">
                  <a:solidFill>
                    <a:srgbClr val="000000">
                      <a:alpha val="100000"/>
                    </a:srgbClr>
                  </a:solidFill>
                  <a:latin typeface="Liberation Sans"/>
                  <a:cs typeface="Liberation Sans"/>
                </a:rPr>
                <a:t>75/745 (10.1)</a:t>
              </a:r>
            </a:p>
          </p:txBody>
        </p:sp>
        <p:sp>
          <p:nvSpPr>
            <p:cNvPr id="238" name="tx238"/>
            <p:cNvSpPr/>
            <p:nvPr/>
          </p:nvSpPr>
          <p:spPr>
            <a:xfrm>
              <a:off x="4247803" y="4726424"/>
              <a:ext cx="826709" cy="87416"/>
            </a:xfrm>
            <a:prstGeom prst="rect">
              <a:avLst/>
            </a:prstGeom>
            <a:noFill/>
          </p:spPr>
          <p:txBody>
            <a:bodyPr lIns="0" rIns="0" tIns="0" bIns="0" anchorCtr="1" anchor="ctr" wrap="none"/>
            <a:lstStyle/>
            <a:p>
              <a:pPr algn="l" marL="0" marR="0" indent="0">
                <a:spcBef>
                  <a:spcPts val="0"/>
                </a:spcBef>
                <a:spcAft>
                  <a:spcPts val="0"/>
                </a:spcAft>
              </a:pPr>
              <a:r>
                <a:rPr sz="1000" i="0" b="0">
                  <a:solidFill>
                    <a:srgbClr val="000000">
                      <a:alpha val="100000"/>
                    </a:srgbClr>
                  </a:solidFill>
                  <a:latin typeface="Liberation Sans"/>
                  <a:cs typeface="Liberation Sans"/>
                </a:rPr>
                <a:t>170/1774 (9.6)</a:t>
              </a:r>
            </a:p>
          </p:txBody>
        </p:sp>
        <p:sp>
          <p:nvSpPr>
            <p:cNvPr id="239" name="tx239"/>
            <p:cNvSpPr/>
            <p:nvPr/>
          </p:nvSpPr>
          <p:spPr>
            <a:xfrm>
              <a:off x="4247803" y="4921840"/>
              <a:ext cx="746607" cy="87416"/>
            </a:xfrm>
            <a:prstGeom prst="rect">
              <a:avLst/>
            </a:prstGeom>
            <a:noFill/>
          </p:spPr>
          <p:txBody>
            <a:bodyPr lIns="0" rIns="0" tIns="0" bIns="0" anchorCtr="1" anchor="ctr" wrap="none"/>
            <a:lstStyle/>
            <a:p>
              <a:pPr algn="l" marL="0" marR="0" indent="0">
                <a:spcBef>
                  <a:spcPts val="0"/>
                </a:spcBef>
                <a:spcAft>
                  <a:spcPts val="0"/>
                </a:spcAft>
              </a:pPr>
              <a:r>
                <a:rPr sz="1000" i="0" b="0">
                  <a:solidFill>
                    <a:srgbClr val="000000">
                      <a:alpha val="100000"/>
                    </a:srgbClr>
                  </a:solidFill>
                  <a:latin typeface="Liberation Sans"/>
                  <a:cs typeface="Liberation Sans"/>
                </a:rPr>
                <a:t>16/112 (14.3)</a:t>
              </a:r>
            </a:p>
          </p:txBody>
        </p:sp>
        <p:sp>
          <p:nvSpPr>
            <p:cNvPr id="240" name="tx240"/>
            <p:cNvSpPr/>
            <p:nvPr/>
          </p:nvSpPr>
          <p:spPr>
            <a:xfrm>
              <a:off x="4247803" y="5312674"/>
              <a:ext cx="826709" cy="87416"/>
            </a:xfrm>
            <a:prstGeom prst="rect">
              <a:avLst/>
            </a:prstGeom>
            <a:noFill/>
          </p:spPr>
          <p:txBody>
            <a:bodyPr lIns="0" rIns="0" tIns="0" bIns="0" anchorCtr="1" anchor="ctr" wrap="none"/>
            <a:lstStyle/>
            <a:p>
              <a:pPr algn="l" marL="0" marR="0" indent="0">
                <a:spcBef>
                  <a:spcPts val="0"/>
                </a:spcBef>
                <a:spcAft>
                  <a:spcPts val="0"/>
                </a:spcAft>
              </a:pPr>
              <a:r>
                <a:rPr sz="1000" i="0" b="0">
                  <a:solidFill>
                    <a:srgbClr val="000000">
                      <a:alpha val="100000"/>
                    </a:srgbClr>
                  </a:solidFill>
                  <a:latin typeface="Liberation Sans"/>
                  <a:cs typeface="Liberation Sans"/>
                </a:rPr>
                <a:t>175/1817 (9.6)</a:t>
              </a:r>
            </a:p>
          </p:txBody>
        </p:sp>
        <p:sp>
          <p:nvSpPr>
            <p:cNvPr id="241" name="tx241"/>
            <p:cNvSpPr/>
            <p:nvPr/>
          </p:nvSpPr>
          <p:spPr>
            <a:xfrm>
              <a:off x="4247803" y="5508090"/>
              <a:ext cx="675924" cy="87416"/>
            </a:xfrm>
            <a:prstGeom prst="rect">
              <a:avLst/>
            </a:prstGeom>
            <a:noFill/>
          </p:spPr>
          <p:txBody>
            <a:bodyPr lIns="0" rIns="0" tIns="0" bIns="0" anchorCtr="1" anchor="ctr" wrap="none"/>
            <a:lstStyle/>
            <a:p>
              <a:pPr algn="l" marL="0" marR="0" indent="0">
                <a:spcBef>
                  <a:spcPts val="0"/>
                </a:spcBef>
                <a:spcAft>
                  <a:spcPts val="0"/>
                </a:spcAft>
              </a:pPr>
              <a:r>
                <a:rPr sz="1000" i="0" b="0">
                  <a:solidFill>
                    <a:srgbClr val="000000">
                      <a:alpha val="100000"/>
                    </a:srgbClr>
                  </a:solidFill>
                  <a:latin typeface="Liberation Sans"/>
                  <a:cs typeface="Liberation Sans"/>
                </a:rPr>
                <a:t>11/69 (15.9)</a:t>
              </a:r>
            </a:p>
          </p:txBody>
        </p:sp>
        <p:sp>
          <p:nvSpPr>
            <p:cNvPr id="242" name="tx242"/>
            <p:cNvSpPr/>
            <p:nvPr/>
          </p:nvSpPr>
          <p:spPr>
            <a:xfrm>
              <a:off x="4247803" y="5898924"/>
              <a:ext cx="887973" cy="87416"/>
            </a:xfrm>
            <a:prstGeom prst="rect">
              <a:avLst/>
            </a:prstGeom>
            <a:noFill/>
          </p:spPr>
          <p:txBody>
            <a:bodyPr lIns="0" rIns="0" tIns="0" bIns="0" anchorCtr="1" anchor="ctr" wrap="none"/>
            <a:lstStyle/>
            <a:p>
              <a:pPr algn="l" marL="0" marR="0" indent="0">
                <a:spcBef>
                  <a:spcPts val="0"/>
                </a:spcBef>
                <a:spcAft>
                  <a:spcPts val="0"/>
                </a:spcAft>
              </a:pPr>
              <a:r>
                <a:rPr sz="1000" i="0" b="0">
                  <a:solidFill>
                    <a:srgbClr val="000000">
                      <a:alpha val="100000"/>
                    </a:srgbClr>
                  </a:solidFill>
                  <a:latin typeface="Liberation Sans"/>
                  <a:cs typeface="Liberation Sans"/>
                </a:rPr>
                <a:t>142/1411 (10.1)</a:t>
              </a:r>
            </a:p>
          </p:txBody>
        </p:sp>
        <p:sp>
          <p:nvSpPr>
            <p:cNvPr id="243" name="tx243"/>
            <p:cNvSpPr/>
            <p:nvPr/>
          </p:nvSpPr>
          <p:spPr>
            <a:xfrm>
              <a:off x="4247803" y="6094340"/>
              <a:ext cx="685342" cy="87416"/>
            </a:xfrm>
            <a:prstGeom prst="rect">
              <a:avLst/>
            </a:prstGeom>
            <a:noFill/>
          </p:spPr>
          <p:txBody>
            <a:bodyPr lIns="0" rIns="0" tIns="0" bIns="0" anchorCtr="1" anchor="ctr" wrap="none"/>
            <a:lstStyle/>
            <a:p>
              <a:pPr algn="l" marL="0" marR="0" indent="0">
                <a:spcBef>
                  <a:spcPts val="0"/>
                </a:spcBef>
                <a:spcAft>
                  <a:spcPts val="0"/>
                </a:spcAft>
              </a:pPr>
              <a:r>
                <a:rPr sz="1000" i="0" b="0">
                  <a:solidFill>
                    <a:srgbClr val="000000">
                      <a:alpha val="100000"/>
                    </a:srgbClr>
                  </a:solidFill>
                  <a:latin typeface="Liberation Sans"/>
                  <a:cs typeface="Liberation Sans"/>
                </a:rPr>
                <a:t>44/475 (9.3)</a:t>
              </a:r>
            </a:p>
          </p:txBody>
        </p:sp>
        <p:sp>
          <p:nvSpPr>
            <p:cNvPr id="244" name="tx244"/>
            <p:cNvSpPr/>
            <p:nvPr/>
          </p:nvSpPr>
          <p:spPr>
            <a:xfrm>
              <a:off x="5399608" y="231841"/>
              <a:ext cx="847100" cy="87416"/>
            </a:xfrm>
            <a:prstGeom prst="rect">
              <a:avLst/>
            </a:prstGeom>
            <a:noFill/>
          </p:spPr>
          <p:txBody>
            <a:bodyPr lIns="0" rIns="0" tIns="0" bIns="0" anchorCtr="1" anchor="ctr" wrap="none"/>
            <a:lstStyle/>
            <a:p>
              <a:pPr algn="l" marL="0" marR="0" indent="0">
                <a:spcBef>
                  <a:spcPts val="0"/>
                </a:spcBef>
                <a:spcAft>
                  <a:spcPts val="0"/>
                </a:spcAft>
              </a:pPr>
              <a:r>
                <a:rPr sz="1000" i="0" b="0">
                  <a:solidFill>
                    <a:srgbClr val="000000">
                      <a:alpha val="100000"/>
                    </a:srgbClr>
                  </a:solidFill>
                  <a:latin typeface="Liberation Sans"/>
                  <a:cs typeface="Liberation Sans"/>
                </a:rPr>
                <a:t>                        </a:t>
              </a:r>
            </a:p>
          </p:txBody>
        </p:sp>
        <p:sp>
          <p:nvSpPr>
            <p:cNvPr id="245" name="tx245"/>
            <p:cNvSpPr/>
            <p:nvPr/>
          </p:nvSpPr>
          <p:spPr>
            <a:xfrm>
              <a:off x="5399608" y="427258"/>
              <a:ext cx="847100" cy="87416"/>
            </a:xfrm>
            <a:prstGeom prst="rect">
              <a:avLst/>
            </a:prstGeom>
            <a:noFill/>
          </p:spPr>
          <p:txBody>
            <a:bodyPr lIns="0" rIns="0" tIns="0" bIns="0" anchorCtr="1" anchor="ctr" wrap="none"/>
            <a:lstStyle/>
            <a:p>
              <a:pPr algn="l" marL="0" marR="0" indent="0">
                <a:spcBef>
                  <a:spcPts val="0"/>
                </a:spcBef>
                <a:spcAft>
                  <a:spcPts val="0"/>
                </a:spcAft>
              </a:pPr>
              <a:r>
                <a:rPr sz="1000" i="0" b="0">
                  <a:solidFill>
                    <a:srgbClr val="000000">
                      <a:alpha val="100000"/>
                    </a:srgbClr>
                  </a:solidFill>
                  <a:latin typeface="Liberation Sans"/>
                  <a:cs typeface="Liberation Sans"/>
                </a:rPr>
                <a:t>                        </a:t>
              </a:r>
            </a:p>
          </p:txBody>
        </p:sp>
        <p:sp>
          <p:nvSpPr>
            <p:cNvPr id="246" name="tx246"/>
            <p:cNvSpPr/>
            <p:nvPr/>
          </p:nvSpPr>
          <p:spPr>
            <a:xfrm>
              <a:off x="5399608" y="622674"/>
              <a:ext cx="847100" cy="87416"/>
            </a:xfrm>
            <a:prstGeom prst="rect">
              <a:avLst/>
            </a:prstGeom>
            <a:noFill/>
          </p:spPr>
          <p:txBody>
            <a:bodyPr lIns="0" rIns="0" tIns="0" bIns="0" anchorCtr="1" anchor="ctr" wrap="none"/>
            <a:lstStyle/>
            <a:p>
              <a:pPr algn="l" marL="0" marR="0" indent="0">
                <a:spcBef>
                  <a:spcPts val="0"/>
                </a:spcBef>
                <a:spcAft>
                  <a:spcPts val="0"/>
                </a:spcAft>
              </a:pPr>
              <a:r>
                <a:rPr sz="1000" i="0" b="0">
                  <a:solidFill>
                    <a:srgbClr val="000000">
                      <a:alpha val="100000"/>
                    </a:srgbClr>
                  </a:solidFill>
                  <a:latin typeface="Liberation Sans"/>
                  <a:cs typeface="Liberation Sans"/>
                </a:rPr>
                <a:t>                        </a:t>
              </a:r>
            </a:p>
          </p:txBody>
        </p:sp>
        <p:sp>
          <p:nvSpPr>
            <p:cNvPr id="247" name="tx247"/>
            <p:cNvSpPr/>
            <p:nvPr/>
          </p:nvSpPr>
          <p:spPr>
            <a:xfrm>
              <a:off x="5399608" y="818091"/>
              <a:ext cx="847100" cy="87416"/>
            </a:xfrm>
            <a:prstGeom prst="rect">
              <a:avLst/>
            </a:prstGeom>
            <a:noFill/>
          </p:spPr>
          <p:txBody>
            <a:bodyPr lIns="0" rIns="0" tIns="0" bIns="0" anchorCtr="1" anchor="ctr" wrap="none"/>
            <a:lstStyle/>
            <a:p>
              <a:pPr algn="l" marL="0" marR="0" indent="0">
                <a:spcBef>
                  <a:spcPts val="0"/>
                </a:spcBef>
                <a:spcAft>
                  <a:spcPts val="0"/>
                </a:spcAft>
              </a:pPr>
              <a:r>
                <a:rPr sz="1000" i="0" b="0">
                  <a:solidFill>
                    <a:srgbClr val="000000">
                      <a:alpha val="100000"/>
                    </a:srgbClr>
                  </a:solidFill>
                  <a:latin typeface="Liberation Sans"/>
                  <a:cs typeface="Liberation Sans"/>
                </a:rPr>
                <a:t>                        </a:t>
              </a:r>
            </a:p>
          </p:txBody>
        </p:sp>
        <p:sp>
          <p:nvSpPr>
            <p:cNvPr id="248" name="tx248"/>
            <p:cNvSpPr/>
            <p:nvPr/>
          </p:nvSpPr>
          <p:spPr>
            <a:xfrm>
              <a:off x="5399608" y="1013508"/>
              <a:ext cx="847100" cy="87416"/>
            </a:xfrm>
            <a:prstGeom prst="rect">
              <a:avLst/>
            </a:prstGeom>
            <a:noFill/>
          </p:spPr>
          <p:txBody>
            <a:bodyPr lIns="0" rIns="0" tIns="0" bIns="0" anchorCtr="1" anchor="ctr" wrap="none"/>
            <a:lstStyle/>
            <a:p>
              <a:pPr algn="l" marL="0" marR="0" indent="0">
                <a:spcBef>
                  <a:spcPts val="0"/>
                </a:spcBef>
                <a:spcAft>
                  <a:spcPts val="0"/>
                </a:spcAft>
              </a:pPr>
              <a:r>
                <a:rPr sz="1000" i="0" b="0">
                  <a:solidFill>
                    <a:srgbClr val="000000">
                      <a:alpha val="100000"/>
                    </a:srgbClr>
                  </a:solidFill>
                  <a:latin typeface="Liberation Sans"/>
                  <a:cs typeface="Liberation Sans"/>
                </a:rPr>
                <a:t>                        </a:t>
              </a:r>
            </a:p>
          </p:txBody>
        </p:sp>
        <p:sp>
          <p:nvSpPr>
            <p:cNvPr id="249" name="tx249"/>
            <p:cNvSpPr/>
            <p:nvPr/>
          </p:nvSpPr>
          <p:spPr>
            <a:xfrm>
              <a:off x="5399608" y="1208924"/>
              <a:ext cx="847100" cy="87416"/>
            </a:xfrm>
            <a:prstGeom prst="rect">
              <a:avLst/>
            </a:prstGeom>
            <a:noFill/>
          </p:spPr>
          <p:txBody>
            <a:bodyPr lIns="0" rIns="0" tIns="0" bIns="0" anchorCtr="1" anchor="ctr" wrap="none"/>
            <a:lstStyle/>
            <a:p>
              <a:pPr algn="l" marL="0" marR="0" indent="0">
                <a:spcBef>
                  <a:spcPts val="0"/>
                </a:spcBef>
                <a:spcAft>
                  <a:spcPts val="0"/>
                </a:spcAft>
              </a:pPr>
              <a:r>
                <a:rPr sz="1000" i="0" b="0">
                  <a:solidFill>
                    <a:srgbClr val="000000">
                      <a:alpha val="100000"/>
                    </a:srgbClr>
                  </a:solidFill>
                  <a:latin typeface="Liberation Sans"/>
                  <a:cs typeface="Liberation Sans"/>
                </a:rPr>
                <a:t>                        </a:t>
              </a:r>
            </a:p>
          </p:txBody>
        </p:sp>
        <p:sp>
          <p:nvSpPr>
            <p:cNvPr id="250" name="tx250"/>
            <p:cNvSpPr/>
            <p:nvPr/>
          </p:nvSpPr>
          <p:spPr>
            <a:xfrm>
              <a:off x="5399608" y="1404341"/>
              <a:ext cx="847100" cy="87416"/>
            </a:xfrm>
            <a:prstGeom prst="rect">
              <a:avLst/>
            </a:prstGeom>
            <a:noFill/>
          </p:spPr>
          <p:txBody>
            <a:bodyPr lIns="0" rIns="0" tIns="0" bIns="0" anchorCtr="1" anchor="ctr" wrap="none"/>
            <a:lstStyle/>
            <a:p>
              <a:pPr algn="l" marL="0" marR="0" indent="0">
                <a:spcBef>
                  <a:spcPts val="0"/>
                </a:spcBef>
                <a:spcAft>
                  <a:spcPts val="0"/>
                </a:spcAft>
              </a:pPr>
              <a:r>
                <a:rPr sz="1000" i="0" b="0">
                  <a:solidFill>
                    <a:srgbClr val="000000">
                      <a:alpha val="100000"/>
                    </a:srgbClr>
                  </a:solidFill>
                  <a:latin typeface="Liberation Sans"/>
                  <a:cs typeface="Liberation Sans"/>
                </a:rPr>
                <a:t>                        </a:t>
              </a:r>
            </a:p>
          </p:txBody>
        </p:sp>
        <p:sp>
          <p:nvSpPr>
            <p:cNvPr id="251" name="tx251"/>
            <p:cNvSpPr/>
            <p:nvPr/>
          </p:nvSpPr>
          <p:spPr>
            <a:xfrm>
              <a:off x="5399608" y="1599757"/>
              <a:ext cx="847100" cy="87416"/>
            </a:xfrm>
            <a:prstGeom prst="rect">
              <a:avLst/>
            </a:prstGeom>
            <a:noFill/>
          </p:spPr>
          <p:txBody>
            <a:bodyPr lIns="0" rIns="0" tIns="0" bIns="0" anchorCtr="1" anchor="ctr" wrap="none"/>
            <a:lstStyle/>
            <a:p>
              <a:pPr algn="l" marL="0" marR="0" indent="0">
                <a:spcBef>
                  <a:spcPts val="0"/>
                </a:spcBef>
                <a:spcAft>
                  <a:spcPts val="0"/>
                </a:spcAft>
              </a:pPr>
              <a:r>
                <a:rPr sz="1000" i="0" b="0">
                  <a:solidFill>
                    <a:srgbClr val="000000">
                      <a:alpha val="100000"/>
                    </a:srgbClr>
                  </a:solidFill>
                  <a:latin typeface="Liberation Sans"/>
                  <a:cs typeface="Liberation Sans"/>
                </a:rPr>
                <a:t>                        </a:t>
              </a:r>
            </a:p>
          </p:txBody>
        </p:sp>
        <p:sp>
          <p:nvSpPr>
            <p:cNvPr id="252" name="tx252"/>
            <p:cNvSpPr/>
            <p:nvPr/>
          </p:nvSpPr>
          <p:spPr>
            <a:xfrm>
              <a:off x="5399608" y="1795174"/>
              <a:ext cx="847100" cy="87416"/>
            </a:xfrm>
            <a:prstGeom prst="rect">
              <a:avLst/>
            </a:prstGeom>
            <a:noFill/>
          </p:spPr>
          <p:txBody>
            <a:bodyPr lIns="0" rIns="0" tIns="0" bIns="0" anchorCtr="1" anchor="ctr" wrap="none"/>
            <a:lstStyle/>
            <a:p>
              <a:pPr algn="l" marL="0" marR="0" indent="0">
                <a:spcBef>
                  <a:spcPts val="0"/>
                </a:spcBef>
                <a:spcAft>
                  <a:spcPts val="0"/>
                </a:spcAft>
              </a:pPr>
              <a:r>
                <a:rPr sz="1000" i="0" b="0">
                  <a:solidFill>
                    <a:srgbClr val="000000">
                      <a:alpha val="100000"/>
                    </a:srgbClr>
                  </a:solidFill>
                  <a:latin typeface="Liberation Sans"/>
                  <a:cs typeface="Liberation Sans"/>
                </a:rPr>
                <a:t>                        </a:t>
              </a:r>
            </a:p>
          </p:txBody>
        </p:sp>
        <p:sp>
          <p:nvSpPr>
            <p:cNvPr id="253" name="tx253"/>
            <p:cNvSpPr/>
            <p:nvPr/>
          </p:nvSpPr>
          <p:spPr>
            <a:xfrm>
              <a:off x="5399608" y="1990591"/>
              <a:ext cx="847100" cy="87416"/>
            </a:xfrm>
            <a:prstGeom prst="rect">
              <a:avLst/>
            </a:prstGeom>
            <a:noFill/>
          </p:spPr>
          <p:txBody>
            <a:bodyPr lIns="0" rIns="0" tIns="0" bIns="0" anchorCtr="1" anchor="ctr" wrap="none"/>
            <a:lstStyle/>
            <a:p>
              <a:pPr algn="l" marL="0" marR="0" indent="0">
                <a:spcBef>
                  <a:spcPts val="0"/>
                </a:spcBef>
                <a:spcAft>
                  <a:spcPts val="0"/>
                </a:spcAft>
              </a:pPr>
              <a:r>
                <a:rPr sz="1000" i="0" b="0">
                  <a:solidFill>
                    <a:srgbClr val="000000">
                      <a:alpha val="100000"/>
                    </a:srgbClr>
                  </a:solidFill>
                  <a:latin typeface="Liberation Sans"/>
                  <a:cs typeface="Liberation Sans"/>
                </a:rPr>
                <a:t>                        </a:t>
              </a:r>
            </a:p>
          </p:txBody>
        </p:sp>
        <p:sp>
          <p:nvSpPr>
            <p:cNvPr id="254" name="tx254"/>
            <p:cNvSpPr/>
            <p:nvPr/>
          </p:nvSpPr>
          <p:spPr>
            <a:xfrm>
              <a:off x="5399608" y="2186007"/>
              <a:ext cx="847100" cy="87416"/>
            </a:xfrm>
            <a:prstGeom prst="rect">
              <a:avLst/>
            </a:prstGeom>
            <a:noFill/>
          </p:spPr>
          <p:txBody>
            <a:bodyPr lIns="0" rIns="0" tIns="0" bIns="0" anchorCtr="1" anchor="ctr" wrap="none"/>
            <a:lstStyle/>
            <a:p>
              <a:pPr algn="l" marL="0" marR="0" indent="0">
                <a:spcBef>
                  <a:spcPts val="0"/>
                </a:spcBef>
                <a:spcAft>
                  <a:spcPts val="0"/>
                </a:spcAft>
              </a:pPr>
              <a:r>
                <a:rPr sz="1000" i="0" b="0">
                  <a:solidFill>
                    <a:srgbClr val="000000">
                      <a:alpha val="100000"/>
                    </a:srgbClr>
                  </a:solidFill>
                  <a:latin typeface="Liberation Sans"/>
                  <a:cs typeface="Liberation Sans"/>
                </a:rPr>
                <a:t>                        </a:t>
              </a:r>
            </a:p>
          </p:txBody>
        </p:sp>
        <p:sp>
          <p:nvSpPr>
            <p:cNvPr id="255" name="tx255"/>
            <p:cNvSpPr/>
            <p:nvPr/>
          </p:nvSpPr>
          <p:spPr>
            <a:xfrm>
              <a:off x="5399608" y="2381424"/>
              <a:ext cx="847100" cy="87416"/>
            </a:xfrm>
            <a:prstGeom prst="rect">
              <a:avLst/>
            </a:prstGeom>
            <a:noFill/>
          </p:spPr>
          <p:txBody>
            <a:bodyPr lIns="0" rIns="0" tIns="0" bIns="0" anchorCtr="1" anchor="ctr" wrap="none"/>
            <a:lstStyle/>
            <a:p>
              <a:pPr algn="l" marL="0" marR="0" indent="0">
                <a:spcBef>
                  <a:spcPts val="0"/>
                </a:spcBef>
                <a:spcAft>
                  <a:spcPts val="0"/>
                </a:spcAft>
              </a:pPr>
              <a:r>
                <a:rPr sz="1000" i="0" b="0">
                  <a:solidFill>
                    <a:srgbClr val="000000">
                      <a:alpha val="100000"/>
                    </a:srgbClr>
                  </a:solidFill>
                  <a:latin typeface="Liberation Sans"/>
                  <a:cs typeface="Liberation Sans"/>
                </a:rPr>
                <a:t>                        </a:t>
              </a:r>
            </a:p>
          </p:txBody>
        </p:sp>
        <p:sp>
          <p:nvSpPr>
            <p:cNvPr id="256" name="tx256"/>
            <p:cNvSpPr/>
            <p:nvPr/>
          </p:nvSpPr>
          <p:spPr>
            <a:xfrm>
              <a:off x="5399608" y="2576841"/>
              <a:ext cx="847100" cy="87416"/>
            </a:xfrm>
            <a:prstGeom prst="rect">
              <a:avLst/>
            </a:prstGeom>
            <a:noFill/>
          </p:spPr>
          <p:txBody>
            <a:bodyPr lIns="0" rIns="0" tIns="0" bIns="0" anchorCtr="1" anchor="ctr" wrap="none"/>
            <a:lstStyle/>
            <a:p>
              <a:pPr algn="l" marL="0" marR="0" indent="0">
                <a:spcBef>
                  <a:spcPts val="0"/>
                </a:spcBef>
                <a:spcAft>
                  <a:spcPts val="0"/>
                </a:spcAft>
              </a:pPr>
              <a:r>
                <a:rPr sz="1000" i="0" b="0">
                  <a:solidFill>
                    <a:srgbClr val="000000">
                      <a:alpha val="100000"/>
                    </a:srgbClr>
                  </a:solidFill>
                  <a:latin typeface="Liberation Sans"/>
                  <a:cs typeface="Liberation Sans"/>
                </a:rPr>
                <a:t>                        </a:t>
              </a:r>
            </a:p>
          </p:txBody>
        </p:sp>
        <p:sp>
          <p:nvSpPr>
            <p:cNvPr id="257" name="tx257"/>
            <p:cNvSpPr/>
            <p:nvPr/>
          </p:nvSpPr>
          <p:spPr>
            <a:xfrm>
              <a:off x="5399608" y="2772257"/>
              <a:ext cx="847100" cy="87416"/>
            </a:xfrm>
            <a:prstGeom prst="rect">
              <a:avLst/>
            </a:prstGeom>
            <a:noFill/>
          </p:spPr>
          <p:txBody>
            <a:bodyPr lIns="0" rIns="0" tIns="0" bIns="0" anchorCtr="1" anchor="ctr" wrap="none"/>
            <a:lstStyle/>
            <a:p>
              <a:pPr algn="l" marL="0" marR="0" indent="0">
                <a:spcBef>
                  <a:spcPts val="0"/>
                </a:spcBef>
                <a:spcAft>
                  <a:spcPts val="0"/>
                </a:spcAft>
              </a:pPr>
              <a:r>
                <a:rPr sz="1000" i="0" b="0">
                  <a:solidFill>
                    <a:srgbClr val="000000">
                      <a:alpha val="100000"/>
                    </a:srgbClr>
                  </a:solidFill>
                  <a:latin typeface="Liberation Sans"/>
                  <a:cs typeface="Liberation Sans"/>
                </a:rPr>
                <a:t>                        </a:t>
              </a:r>
            </a:p>
          </p:txBody>
        </p:sp>
        <p:sp>
          <p:nvSpPr>
            <p:cNvPr id="258" name="tx258"/>
            <p:cNvSpPr/>
            <p:nvPr/>
          </p:nvSpPr>
          <p:spPr>
            <a:xfrm>
              <a:off x="5399608" y="2967674"/>
              <a:ext cx="847100" cy="87416"/>
            </a:xfrm>
            <a:prstGeom prst="rect">
              <a:avLst/>
            </a:prstGeom>
            <a:noFill/>
          </p:spPr>
          <p:txBody>
            <a:bodyPr lIns="0" rIns="0" tIns="0" bIns="0" anchorCtr="1" anchor="ctr" wrap="none"/>
            <a:lstStyle/>
            <a:p>
              <a:pPr algn="l" marL="0" marR="0" indent="0">
                <a:spcBef>
                  <a:spcPts val="0"/>
                </a:spcBef>
                <a:spcAft>
                  <a:spcPts val="0"/>
                </a:spcAft>
              </a:pPr>
              <a:r>
                <a:rPr sz="1000" i="0" b="0">
                  <a:solidFill>
                    <a:srgbClr val="000000">
                      <a:alpha val="100000"/>
                    </a:srgbClr>
                  </a:solidFill>
                  <a:latin typeface="Liberation Sans"/>
                  <a:cs typeface="Liberation Sans"/>
                </a:rPr>
                <a:t>                        </a:t>
              </a:r>
            </a:p>
          </p:txBody>
        </p:sp>
        <p:sp>
          <p:nvSpPr>
            <p:cNvPr id="259" name="tx259"/>
            <p:cNvSpPr/>
            <p:nvPr/>
          </p:nvSpPr>
          <p:spPr>
            <a:xfrm>
              <a:off x="5399608" y="3163091"/>
              <a:ext cx="847100" cy="87416"/>
            </a:xfrm>
            <a:prstGeom prst="rect">
              <a:avLst/>
            </a:prstGeom>
            <a:noFill/>
          </p:spPr>
          <p:txBody>
            <a:bodyPr lIns="0" rIns="0" tIns="0" bIns="0" anchorCtr="1" anchor="ctr" wrap="none"/>
            <a:lstStyle/>
            <a:p>
              <a:pPr algn="l" marL="0" marR="0" indent="0">
                <a:spcBef>
                  <a:spcPts val="0"/>
                </a:spcBef>
                <a:spcAft>
                  <a:spcPts val="0"/>
                </a:spcAft>
              </a:pPr>
              <a:r>
                <a:rPr sz="1000" i="0" b="0">
                  <a:solidFill>
                    <a:srgbClr val="000000">
                      <a:alpha val="100000"/>
                    </a:srgbClr>
                  </a:solidFill>
                  <a:latin typeface="Liberation Sans"/>
                  <a:cs typeface="Liberation Sans"/>
                </a:rPr>
                <a:t>                        </a:t>
              </a:r>
            </a:p>
          </p:txBody>
        </p:sp>
        <p:sp>
          <p:nvSpPr>
            <p:cNvPr id="260" name="tx260"/>
            <p:cNvSpPr/>
            <p:nvPr/>
          </p:nvSpPr>
          <p:spPr>
            <a:xfrm>
              <a:off x="5399608" y="3358507"/>
              <a:ext cx="847100" cy="87416"/>
            </a:xfrm>
            <a:prstGeom prst="rect">
              <a:avLst/>
            </a:prstGeom>
            <a:noFill/>
          </p:spPr>
          <p:txBody>
            <a:bodyPr lIns="0" rIns="0" tIns="0" bIns="0" anchorCtr="1" anchor="ctr" wrap="none"/>
            <a:lstStyle/>
            <a:p>
              <a:pPr algn="l" marL="0" marR="0" indent="0">
                <a:spcBef>
                  <a:spcPts val="0"/>
                </a:spcBef>
                <a:spcAft>
                  <a:spcPts val="0"/>
                </a:spcAft>
              </a:pPr>
              <a:r>
                <a:rPr sz="1000" i="0" b="0">
                  <a:solidFill>
                    <a:srgbClr val="000000">
                      <a:alpha val="100000"/>
                    </a:srgbClr>
                  </a:solidFill>
                  <a:latin typeface="Liberation Sans"/>
                  <a:cs typeface="Liberation Sans"/>
                </a:rPr>
                <a:t>                        </a:t>
              </a:r>
            </a:p>
          </p:txBody>
        </p:sp>
        <p:sp>
          <p:nvSpPr>
            <p:cNvPr id="261" name="tx261"/>
            <p:cNvSpPr/>
            <p:nvPr/>
          </p:nvSpPr>
          <p:spPr>
            <a:xfrm>
              <a:off x="5399608" y="3553924"/>
              <a:ext cx="847100" cy="87416"/>
            </a:xfrm>
            <a:prstGeom prst="rect">
              <a:avLst/>
            </a:prstGeom>
            <a:noFill/>
          </p:spPr>
          <p:txBody>
            <a:bodyPr lIns="0" rIns="0" tIns="0" bIns="0" anchorCtr="1" anchor="ctr" wrap="none"/>
            <a:lstStyle/>
            <a:p>
              <a:pPr algn="l" marL="0" marR="0" indent="0">
                <a:spcBef>
                  <a:spcPts val="0"/>
                </a:spcBef>
                <a:spcAft>
                  <a:spcPts val="0"/>
                </a:spcAft>
              </a:pPr>
              <a:r>
                <a:rPr sz="1000" i="0" b="0">
                  <a:solidFill>
                    <a:srgbClr val="000000">
                      <a:alpha val="100000"/>
                    </a:srgbClr>
                  </a:solidFill>
                  <a:latin typeface="Liberation Sans"/>
                  <a:cs typeface="Liberation Sans"/>
                </a:rPr>
                <a:t>                        </a:t>
              </a:r>
            </a:p>
          </p:txBody>
        </p:sp>
        <p:sp>
          <p:nvSpPr>
            <p:cNvPr id="262" name="tx262"/>
            <p:cNvSpPr/>
            <p:nvPr/>
          </p:nvSpPr>
          <p:spPr>
            <a:xfrm>
              <a:off x="5399608" y="3749341"/>
              <a:ext cx="847100" cy="87416"/>
            </a:xfrm>
            <a:prstGeom prst="rect">
              <a:avLst/>
            </a:prstGeom>
            <a:noFill/>
          </p:spPr>
          <p:txBody>
            <a:bodyPr lIns="0" rIns="0" tIns="0" bIns="0" anchorCtr="1" anchor="ctr" wrap="none"/>
            <a:lstStyle/>
            <a:p>
              <a:pPr algn="l" marL="0" marR="0" indent="0">
                <a:spcBef>
                  <a:spcPts val="0"/>
                </a:spcBef>
                <a:spcAft>
                  <a:spcPts val="0"/>
                </a:spcAft>
              </a:pPr>
              <a:r>
                <a:rPr sz="1000" i="0" b="0">
                  <a:solidFill>
                    <a:srgbClr val="000000">
                      <a:alpha val="100000"/>
                    </a:srgbClr>
                  </a:solidFill>
                  <a:latin typeface="Liberation Sans"/>
                  <a:cs typeface="Liberation Sans"/>
                </a:rPr>
                <a:t>                        </a:t>
              </a:r>
            </a:p>
          </p:txBody>
        </p:sp>
        <p:sp>
          <p:nvSpPr>
            <p:cNvPr id="263" name="tx263"/>
            <p:cNvSpPr/>
            <p:nvPr/>
          </p:nvSpPr>
          <p:spPr>
            <a:xfrm>
              <a:off x="5399608" y="3944757"/>
              <a:ext cx="847100" cy="87416"/>
            </a:xfrm>
            <a:prstGeom prst="rect">
              <a:avLst/>
            </a:prstGeom>
            <a:noFill/>
          </p:spPr>
          <p:txBody>
            <a:bodyPr lIns="0" rIns="0" tIns="0" bIns="0" anchorCtr="1" anchor="ctr" wrap="none"/>
            <a:lstStyle/>
            <a:p>
              <a:pPr algn="l" marL="0" marR="0" indent="0">
                <a:spcBef>
                  <a:spcPts val="0"/>
                </a:spcBef>
                <a:spcAft>
                  <a:spcPts val="0"/>
                </a:spcAft>
              </a:pPr>
              <a:r>
                <a:rPr sz="1000" i="0" b="0">
                  <a:solidFill>
                    <a:srgbClr val="000000">
                      <a:alpha val="100000"/>
                    </a:srgbClr>
                  </a:solidFill>
                  <a:latin typeface="Liberation Sans"/>
                  <a:cs typeface="Liberation Sans"/>
                </a:rPr>
                <a:t>                        </a:t>
              </a:r>
            </a:p>
          </p:txBody>
        </p:sp>
        <p:sp>
          <p:nvSpPr>
            <p:cNvPr id="264" name="tx264"/>
            <p:cNvSpPr/>
            <p:nvPr/>
          </p:nvSpPr>
          <p:spPr>
            <a:xfrm>
              <a:off x="5399608" y="4140174"/>
              <a:ext cx="847100" cy="87416"/>
            </a:xfrm>
            <a:prstGeom prst="rect">
              <a:avLst/>
            </a:prstGeom>
            <a:noFill/>
          </p:spPr>
          <p:txBody>
            <a:bodyPr lIns="0" rIns="0" tIns="0" bIns="0" anchorCtr="1" anchor="ctr" wrap="none"/>
            <a:lstStyle/>
            <a:p>
              <a:pPr algn="l" marL="0" marR="0" indent="0">
                <a:spcBef>
                  <a:spcPts val="0"/>
                </a:spcBef>
                <a:spcAft>
                  <a:spcPts val="0"/>
                </a:spcAft>
              </a:pPr>
              <a:r>
                <a:rPr sz="1000" i="0" b="0">
                  <a:solidFill>
                    <a:srgbClr val="000000">
                      <a:alpha val="100000"/>
                    </a:srgbClr>
                  </a:solidFill>
                  <a:latin typeface="Liberation Sans"/>
                  <a:cs typeface="Liberation Sans"/>
                </a:rPr>
                <a:t>                        </a:t>
              </a:r>
            </a:p>
          </p:txBody>
        </p:sp>
        <p:sp>
          <p:nvSpPr>
            <p:cNvPr id="265" name="tx265"/>
            <p:cNvSpPr/>
            <p:nvPr/>
          </p:nvSpPr>
          <p:spPr>
            <a:xfrm>
              <a:off x="5399608" y="4335590"/>
              <a:ext cx="847100" cy="87416"/>
            </a:xfrm>
            <a:prstGeom prst="rect">
              <a:avLst/>
            </a:prstGeom>
            <a:noFill/>
          </p:spPr>
          <p:txBody>
            <a:bodyPr lIns="0" rIns="0" tIns="0" bIns="0" anchorCtr="1" anchor="ctr" wrap="none"/>
            <a:lstStyle/>
            <a:p>
              <a:pPr algn="l" marL="0" marR="0" indent="0">
                <a:spcBef>
                  <a:spcPts val="0"/>
                </a:spcBef>
                <a:spcAft>
                  <a:spcPts val="0"/>
                </a:spcAft>
              </a:pPr>
              <a:r>
                <a:rPr sz="1000" i="0" b="0">
                  <a:solidFill>
                    <a:srgbClr val="000000">
                      <a:alpha val="100000"/>
                    </a:srgbClr>
                  </a:solidFill>
                  <a:latin typeface="Liberation Sans"/>
                  <a:cs typeface="Liberation Sans"/>
                </a:rPr>
                <a:t>                        </a:t>
              </a:r>
            </a:p>
          </p:txBody>
        </p:sp>
        <p:sp>
          <p:nvSpPr>
            <p:cNvPr id="266" name="tx266"/>
            <p:cNvSpPr/>
            <p:nvPr/>
          </p:nvSpPr>
          <p:spPr>
            <a:xfrm>
              <a:off x="5399608" y="4531007"/>
              <a:ext cx="847100" cy="87416"/>
            </a:xfrm>
            <a:prstGeom prst="rect">
              <a:avLst/>
            </a:prstGeom>
            <a:noFill/>
          </p:spPr>
          <p:txBody>
            <a:bodyPr lIns="0" rIns="0" tIns="0" bIns="0" anchorCtr="1" anchor="ctr" wrap="none"/>
            <a:lstStyle/>
            <a:p>
              <a:pPr algn="l" marL="0" marR="0" indent="0">
                <a:spcBef>
                  <a:spcPts val="0"/>
                </a:spcBef>
                <a:spcAft>
                  <a:spcPts val="0"/>
                </a:spcAft>
              </a:pPr>
              <a:r>
                <a:rPr sz="1000" i="0" b="0">
                  <a:solidFill>
                    <a:srgbClr val="000000">
                      <a:alpha val="100000"/>
                    </a:srgbClr>
                  </a:solidFill>
                  <a:latin typeface="Liberation Sans"/>
                  <a:cs typeface="Liberation Sans"/>
                </a:rPr>
                <a:t>                        </a:t>
              </a:r>
            </a:p>
          </p:txBody>
        </p:sp>
        <p:sp>
          <p:nvSpPr>
            <p:cNvPr id="267" name="tx267"/>
            <p:cNvSpPr/>
            <p:nvPr/>
          </p:nvSpPr>
          <p:spPr>
            <a:xfrm>
              <a:off x="5399608" y="4726424"/>
              <a:ext cx="847100" cy="87416"/>
            </a:xfrm>
            <a:prstGeom prst="rect">
              <a:avLst/>
            </a:prstGeom>
            <a:noFill/>
          </p:spPr>
          <p:txBody>
            <a:bodyPr lIns="0" rIns="0" tIns="0" bIns="0" anchorCtr="1" anchor="ctr" wrap="none"/>
            <a:lstStyle/>
            <a:p>
              <a:pPr algn="l" marL="0" marR="0" indent="0">
                <a:spcBef>
                  <a:spcPts val="0"/>
                </a:spcBef>
                <a:spcAft>
                  <a:spcPts val="0"/>
                </a:spcAft>
              </a:pPr>
              <a:r>
                <a:rPr sz="1000" i="0" b="0">
                  <a:solidFill>
                    <a:srgbClr val="000000">
                      <a:alpha val="100000"/>
                    </a:srgbClr>
                  </a:solidFill>
                  <a:latin typeface="Liberation Sans"/>
                  <a:cs typeface="Liberation Sans"/>
                </a:rPr>
                <a:t>                        </a:t>
              </a:r>
            </a:p>
          </p:txBody>
        </p:sp>
        <p:sp>
          <p:nvSpPr>
            <p:cNvPr id="268" name="tx268"/>
            <p:cNvSpPr/>
            <p:nvPr/>
          </p:nvSpPr>
          <p:spPr>
            <a:xfrm>
              <a:off x="5399608" y="4921840"/>
              <a:ext cx="847100" cy="87416"/>
            </a:xfrm>
            <a:prstGeom prst="rect">
              <a:avLst/>
            </a:prstGeom>
            <a:noFill/>
          </p:spPr>
          <p:txBody>
            <a:bodyPr lIns="0" rIns="0" tIns="0" bIns="0" anchorCtr="1" anchor="ctr" wrap="none"/>
            <a:lstStyle/>
            <a:p>
              <a:pPr algn="l" marL="0" marR="0" indent="0">
                <a:spcBef>
                  <a:spcPts val="0"/>
                </a:spcBef>
                <a:spcAft>
                  <a:spcPts val="0"/>
                </a:spcAft>
              </a:pPr>
              <a:r>
                <a:rPr sz="1000" i="0" b="0">
                  <a:solidFill>
                    <a:srgbClr val="000000">
                      <a:alpha val="100000"/>
                    </a:srgbClr>
                  </a:solidFill>
                  <a:latin typeface="Liberation Sans"/>
                  <a:cs typeface="Liberation Sans"/>
                </a:rPr>
                <a:t>                        </a:t>
              </a:r>
            </a:p>
          </p:txBody>
        </p:sp>
        <p:sp>
          <p:nvSpPr>
            <p:cNvPr id="269" name="tx269"/>
            <p:cNvSpPr/>
            <p:nvPr/>
          </p:nvSpPr>
          <p:spPr>
            <a:xfrm>
              <a:off x="5399608" y="5117257"/>
              <a:ext cx="847100" cy="87416"/>
            </a:xfrm>
            <a:prstGeom prst="rect">
              <a:avLst/>
            </a:prstGeom>
            <a:noFill/>
          </p:spPr>
          <p:txBody>
            <a:bodyPr lIns="0" rIns="0" tIns="0" bIns="0" anchorCtr="1" anchor="ctr" wrap="none"/>
            <a:lstStyle/>
            <a:p>
              <a:pPr algn="l" marL="0" marR="0" indent="0">
                <a:spcBef>
                  <a:spcPts val="0"/>
                </a:spcBef>
                <a:spcAft>
                  <a:spcPts val="0"/>
                </a:spcAft>
              </a:pPr>
              <a:r>
                <a:rPr sz="1000" i="0" b="0">
                  <a:solidFill>
                    <a:srgbClr val="000000">
                      <a:alpha val="100000"/>
                    </a:srgbClr>
                  </a:solidFill>
                  <a:latin typeface="Liberation Sans"/>
                  <a:cs typeface="Liberation Sans"/>
                </a:rPr>
                <a:t>                        </a:t>
              </a:r>
            </a:p>
          </p:txBody>
        </p:sp>
        <p:sp>
          <p:nvSpPr>
            <p:cNvPr id="270" name="tx270"/>
            <p:cNvSpPr/>
            <p:nvPr/>
          </p:nvSpPr>
          <p:spPr>
            <a:xfrm>
              <a:off x="5399608" y="5312674"/>
              <a:ext cx="847100" cy="87416"/>
            </a:xfrm>
            <a:prstGeom prst="rect">
              <a:avLst/>
            </a:prstGeom>
            <a:noFill/>
          </p:spPr>
          <p:txBody>
            <a:bodyPr lIns="0" rIns="0" tIns="0" bIns="0" anchorCtr="1" anchor="ctr" wrap="none"/>
            <a:lstStyle/>
            <a:p>
              <a:pPr algn="l" marL="0" marR="0" indent="0">
                <a:spcBef>
                  <a:spcPts val="0"/>
                </a:spcBef>
                <a:spcAft>
                  <a:spcPts val="0"/>
                </a:spcAft>
              </a:pPr>
              <a:r>
                <a:rPr sz="1000" i="0" b="0">
                  <a:solidFill>
                    <a:srgbClr val="000000">
                      <a:alpha val="100000"/>
                    </a:srgbClr>
                  </a:solidFill>
                  <a:latin typeface="Liberation Sans"/>
                  <a:cs typeface="Liberation Sans"/>
                </a:rPr>
                <a:t>                        </a:t>
              </a:r>
            </a:p>
          </p:txBody>
        </p:sp>
        <p:sp>
          <p:nvSpPr>
            <p:cNvPr id="271" name="tx271"/>
            <p:cNvSpPr/>
            <p:nvPr/>
          </p:nvSpPr>
          <p:spPr>
            <a:xfrm>
              <a:off x="5399608" y="5508090"/>
              <a:ext cx="847100" cy="87416"/>
            </a:xfrm>
            <a:prstGeom prst="rect">
              <a:avLst/>
            </a:prstGeom>
            <a:noFill/>
          </p:spPr>
          <p:txBody>
            <a:bodyPr lIns="0" rIns="0" tIns="0" bIns="0" anchorCtr="1" anchor="ctr" wrap="none"/>
            <a:lstStyle/>
            <a:p>
              <a:pPr algn="l" marL="0" marR="0" indent="0">
                <a:spcBef>
                  <a:spcPts val="0"/>
                </a:spcBef>
                <a:spcAft>
                  <a:spcPts val="0"/>
                </a:spcAft>
              </a:pPr>
              <a:r>
                <a:rPr sz="1000" i="0" b="0">
                  <a:solidFill>
                    <a:srgbClr val="000000">
                      <a:alpha val="100000"/>
                    </a:srgbClr>
                  </a:solidFill>
                  <a:latin typeface="Liberation Sans"/>
                  <a:cs typeface="Liberation Sans"/>
                </a:rPr>
                <a:t>                        </a:t>
              </a:r>
            </a:p>
          </p:txBody>
        </p:sp>
        <p:sp>
          <p:nvSpPr>
            <p:cNvPr id="272" name="tx272"/>
            <p:cNvSpPr/>
            <p:nvPr/>
          </p:nvSpPr>
          <p:spPr>
            <a:xfrm>
              <a:off x="5399608" y="5703507"/>
              <a:ext cx="847100" cy="87416"/>
            </a:xfrm>
            <a:prstGeom prst="rect">
              <a:avLst/>
            </a:prstGeom>
            <a:noFill/>
          </p:spPr>
          <p:txBody>
            <a:bodyPr lIns="0" rIns="0" tIns="0" bIns="0" anchorCtr="1" anchor="ctr" wrap="none"/>
            <a:lstStyle/>
            <a:p>
              <a:pPr algn="l" marL="0" marR="0" indent="0">
                <a:spcBef>
                  <a:spcPts val="0"/>
                </a:spcBef>
                <a:spcAft>
                  <a:spcPts val="0"/>
                </a:spcAft>
              </a:pPr>
              <a:r>
                <a:rPr sz="1000" i="0" b="0">
                  <a:solidFill>
                    <a:srgbClr val="000000">
                      <a:alpha val="100000"/>
                    </a:srgbClr>
                  </a:solidFill>
                  <a:latin typeface="Liberation Sans"/>
                  <a:cs typeface="Liberation Sans"/>
                </a:rPr>
                <a:t>                        </a:t>
              </a:r>
            </a:p>
          </p:txBody>
        </p:sp>
        <p:sp>
          <p:nvSpPr>
            <p:cNvPr id="273" name="tx273"/>
            <p:cNvSpPr/>
            <p:nvPr/>
          </p:nvSpPr>
          <p:spPr>
            <a:xfrm>
              <a:off x="5399608" y="5898924"/>
              <a:ext cx="847100" cy="87416"/>
            </a:xfrm>
            <a:prstGeom prst="rect">
              <a:avLst/>
            </a:prstGeom>
            <a:noFill/>
          </p:spPr>
          <p:txBody>
            <a:bodyPr lIns="0" rIns="0" tIns="0" bIns="0" anchorCtr="1" anchor="ctr" wrap="none"/>
            <a:lstStyle/>
            <a:p>
              <a:pPr algn="l" marL="0" marR="0" indent="0">
                <a:spcBef>
                  <a:spcPts val="0"/>
                </a:spcBef>
                <a:spcAft>
                  <a:spcPts val="0"/>
                </a:spcAft>
              </a:pPr>
              <a:r>
                <a:rPr sz="1000" i="0" b="0">
                  <a:solidFill>
                    <a:srgbClr val="000000">
                      <a:alpha val="100000"/>
                    </a:srgbClr>
                  </a:solidFill>
                  <a:latin typeface="Liberation Sans"/>
                  <a:cs typeface="Liberation Sans"/>
                </a:rPr>
                <a:t>                        </a:t>
              </a:r>
            </a:p>
          </p:txBody>
        </p:sp>
        <p:sp>
          <p:nvSpPr>
            <p:cNvPr id="274" name="tx274"/>
            <p:cNvSpPr/>
            <p:nvPr/>
          </p:nvSpPr>
          <p:spPr>
            <a:xfrm>
              <a:off x="5399608" y="6094340"/>
              <a:ext cx="847100" cy="87416"/>
            </a:xfrm>
            <a:prstGeom prst="rect">
              <a:avLst/>
            </a:prstGeom>
            <a:noFill/>
          </p:spPr>
          <p:txBody>
            <a:bodyPr lIns="0" rIns="0" tIns="0" bIns="0" anchorCtr="1" anchor="ctr" wrap="none"/>
            <a:lstStyle/>
            <a:p>
              <a:pPr algn="l" marL="0" marR="0" indent="0">
                <a:spcBef>
                  <a:spcPts val="0"/>
                </a:spcBef>
                <a:spcAft>
                  <a:spcPts val="0"/>
                </a:spcAft>
              </a:pPr>
              <a:r>
                <a:rPr sz="1000" i="0" b="0">
                  <a:solidFill>
                    <a:srgbClr val="000000">
                      <a:alpha val="100000"/>
                    </a:srgbClr>
                  </a:solidFill>
                  <a:latin typeface="Liberation Sans"/>
                  <a:cs typeface="Liberation Sans"/>
                </a:rPr>
                <a:t>                        </a:t>
              </a:r>
            </a:p>
          </p:txBody>
        </p:sp>
        <p:sp>
          <p:nvSpPr>
            <p:cNvPr id="275" name="tx275"/>
            <p:cNvSpPr/>
            <p:nvPr/>
          </p:nvSpPr>
          <p:spPr>
            <a:xfrm>
              <a:off x="6434476" y="231841"/>
              <a:ext cx="1123248" cy="87416"/>
            </a:xfrm>
            <a:prstGeom prst="rect">
              <a:avLst/>
            </a:prstGeom>
            <a:noFill/>
          </p:spPr>
          <p:txBody>
            <a:bodyPr lIns="0" rIns="0" tIns="0" bIns="0" anchorCtr="1" anchor="ctr" wrap="none"/>
            <a:lstStyle/>
            <a:p>
              <a:pPr algn="l" marL="0" marR="0" indent="0">
                <a:spcBef>
                  <a:spcPts val="0"/>
                </a:spcBef>
                <a:spcAft>
                  <a:spcPts val="0"/>
                </a:spcAft>
              </a:pPr>
              <a:r>
                <a:rPr sz="1000" i="0" b="0">
                  <a:solidFill>
                    <a:srgbClr val="000000">
                      <a:alpha val="100000"/>
                    </a:srgbClr>
                  </a:solidFill>
                  <a:latin typeface="Liberation Sans"/>
                  <a:cs typeface="Liberation Sans"/>
                </a:rPr>
                <a:t>-0.78 (-2.35 to 0.79)</a:t>
              </a:r>
            </a:p>
          </p:txBody>
        </p:sp>
        <p:sp>
          <p:nvSpPr>
            <p:cNvPr id="276" name="tx276"/>
            <p:cNvSpPr/>
            <p:nvPr/>
          </p:nvSpPr>
          <p:spPr>
            <a:xfrm>
              <a:off x="6434476" y="622674"/>
              <a:ext cx="1165585" cy="87416"/>
            </a:xfrm>
            <a:prstGeom prst="rect">
              <a:avLst/>
            </a:prstGeom>
            <a:noFill/>
          </p:spPr>
          <p:txBody>
            <a:bodyPr lIns="0" rIns="0" tIns="0" bIns="0" anchorCtr="1" anchor="ctr" wrap="none"/>
            <a:lstStyle/>
            <a:p>
              <a:pPr algn="l" marL="0" marR="0" indent="0">
                <a:spcBef>
                  <a:spcPts val="0"/>
                </a:spcBef>
                <a:spcAft>
                  <a:spcPts val="0"/>
                </a:spcAft>
              </a:pPr>
              <a:r>
                <a:rPr sz="1000" i="0" b="0">
                  <a:solidFill>
                    <a:srgbClr val="000000">
                      <a:alpha val="100000"/>
                    </a:srgbClr>
                  </a:solidFill>
                  <a:latin typeface="Liberation Sans"/>
                  <a:cs typeface="Liberation Sans"/>
                </a:rPr>
                <a:t>-2.91 (-5.58 to -0.24)</a:t>
              </a:r>
            </a:p>
          </p:txBody>
        </p:sp>
        <p:sp>
          <p:nvSpPr>
            <p:cNvPr id="277" name="tx277"/>
            <p:cNvSpPr/>
            <p:nvPr/>
          </p:nvSpPr>
          <p:spPr>
            <a:xfrm>
              <a:off x="6434476" y="818091"/>
              <a:ext cx="1080912" cy="87416"/>
            </a:xfrm>
            <a:prstGeom prst="rect">
              <a:avLst/>
            </a:prstGeom>
            <a:noFill/>
          </p:spPr>
          <p:txBody>
            <a:bodyPr lIns="0" rIns="0" tIns="0" bIns="0" anchorCtr="1" anchor="ctr" wrap="none"/>
            <a:lstStyle/>
            <a:p>
              <a:pPr algn="l" marL="0" marR="0" indent="0">
                <a:spcBef>
                  <a:spcPts val="0"/>
                </a:spcBef>
                <a:spcAft>
                  <a:spcPts val="0"/>
                </a:spcAft>
              </a:pPr>
              <a:r>
                <a:rPr sz="1000" i="0" b="0">
                  <a:solidFill>
                    <a:srgbClr val="000000">
                      <a:alpha val="100000"/>
                    </a:srgbClr>
                  </a:solidFill>
                  <a:latin typeface="Liberation Sans"/>
                  <a:cs typeface="Liberation Sans"/>
                </a:rPr>
                <a:t>0.28 (-1.66 to 2.21)</a:t>
              </a:r>
            </a:p>
          </p:txBody>
        </p:sp>
        <p:sp>
          <p:nvSpPr>
            <p:cNvPr id="278" name="tx278"/>
            <p:cNvSpPr/>
            <p:nvPr/>
          </p:nvSpPr>
          <p:spPr>
            <a:xfrm>
              <a:off x="6434476" y="1208924"/>
              <a:ext cx="1123248" cy="87416"/>
            </a:xfrm>
            <a:prstGeom prst="rect">
              <a:avLst/>
            </a:prstGeom>
            <a:noFill/>
          </p:spPr>
          <p:txBody>
            <a:bodyPr lIns="0" rIns="0" tIns="0" bIns="0" anchorCtr="1" anchor="ctr" wrap="none"/>
            <a:lstStyle/>
            <a:p>
              <a:pPr algn="l" marL="0" marR="0" indent="0">
                <a:spcBef>
                  <a:spcPts val="0"/>
                </a:spcBef>
                <a:spcAft>
                  <a:spcPts val="0"/>
                </a:spcAft>
              </a:pPr>
              <a:r>
                <a:rPr sz="1000" i="0" b="0">
                  <a:solidFill>
                    <a:srgbClr val="000000">
                      <a:alpha val="100000"/>
                    </a:srgbClr>
                  </a:solidFill>
                  <a:latin typeface="Liberation Sans"/>
                  <a:cs typeface="Liberation Sans"/>
                </a:rPr>
                <a:t>-0.32 (-3.23 to 2.60)</a:t>
              </a:r>
            </a:p>
          </p:txBody>
        </p:sp>
        <p:sp>
          <p:nvSpPr>
            <p:cNvPr id="279" name="tx279"/>
            <p:cNvSpPr/>
            <p:nvPr/>
          </p:nvSpPr>
          <p:spPr>
            <a:xfrm>
              <a:off x="6434476" y="1404341"/>
              <a:ext cx="1123248" cy="87416"/>
            </a:xfrm>
            <a:prstGeom prst="rect">
              <a:avLst/>
            </a:prstGeom>
            <a:noFill/>
          </p:spPr>
          <p:txBody>
            <a:bodyPr lIns="0" rIns="0" tIns="0" bIns="0" anchorCtr="1" anchor="ctr" wrap="none"/>
            <a:lstStyle/>
            <a:p>
              <a:pPr algn="l" marL="0" marR="0" indent="0">
                <a:spcBef>
                  <a:spcPts val="0"/>
                </a:spcBef>
                <a:spcAft>
                  <a:spcPts val="0"/>
                </a:spcAft>
              </a:pPr>
              <a:r>
                <a:rPr sz="1000" i="0" b="0">
                  <a:solidFill>
                    <a:srgbClr val="000000">
                      <a:alpha val="100000"/>
                    </a:srgbClr>
                  </a:solidFill>
                  <a:latin typeface="Liberation Sans"/>
                  <a:cs typeface="Liberation Sans"/>
                </a:rPr>
                <a:t>-0.95 (-2.80 to 0.90)</a:t>
              </a:r>
            </a:p>
          </p:txBody>
        </p:sp>
        <p:sp>
          <p:nvSpPr>
            <p:cNvPr id="280" name="tx280"/>
            <p:cNvSpPr/>
            <p:nvPr/>
          </p:nvSpPr>
          <p:spPr>
            <a:xfrm>
              <a:off x="6434476" y="1795174"/>
              <a:ext cx="1123248" cy="87416"/>
            </a:xfrm>
            <a:prstGeom prst="rect">
              <a:avLst/>
            </a:prstGeom>
            <a:noFill/>
          </p:spPr>
          <p:txBody>
            <a:bodyPr lIns="0" rIns="0" tIns="0" bIns="0" anchorCtr="1" anchor="ctr" wrap="none"/>
            <a:lstStyle/>
            <a:p>
              <a:pPr algn="l" marL="0" marR="0" indent="0">
                <a:spcBef>
                  <a:spcPts val="0"/>
                </a:spcBef>
                <a:spcAft>
                  <a:spcPts val="0"/>
                </a:spcAft>
              </a:pPr>
              <a:r>
                <a:rPr sz="1000" i="0" b="0">
                  <a:solidFill>
                    <a:srgbClr val="000000">
                      <a:alpha val="100000"/>
                    </a:srgbClr>
                  </a:solidFill>
                  <a:latin typeface="Liberation Sans"/>
                  <a:cs typeface="Liberation Sans"/>
                </a:rPr>
                <a:t>-0.09 (-2.22 to 2.05)</a:t>
              </a:r>
            </a:p>
          </p:txBody>
        </p:sp>
        <p:sp>
          <p:nvSpPr>
            <p:cNvPr id="281" name="tx281"/>
            <p:cNvSpPr/>
            <p:nvPr/>
          </p:nvSpPr>
          <p:spPr>
            <a:xfrm>
              <a:off x="6434476" y="1990591"/>
              <a:ext cx="1123248" cy="87416"/>
            </a:xfrm>
            <a:prstGeom prst="rect">
              <a:avLst/>
            </a:prstGeom>
            <a:noFill/>
          </p:spPr>
          <p:txBody>
            <a:bodyPr lIns="0" rIns="0" tIns="0" bIns="0" anchorCtr="1" anchor="ctr" wrap="none"/>
            <a:lstStyle/>
            <a:p>
              <a:pPr algn="l" marL="0" marR="0" indent="0">
                <a:spcBef>
                  <a:spcPts val="0"/>
                </a:spcBef>
                <a:spcAft>
                  <a:spcPts val="0"/>
                </a:spcAft>
              </a:pPr>
              <a:r>
                <a:rPr sz="1000" i="0" b="0">
                  <a:solidFill>
                    <a:srgbClr val="000000">
                      <a:alpha val="100000"/>
                    </a:srgbClr>
                  </a:solidFill>
                  <a:latin typeface="Liberation Sans"/>
                  <a:cs typeface="Liberation Sans"/>
                </a:rPr>
                <a:t>-1.56 (-3.87 to 0.74)</a:t>
              </a:r>
            </a:p>
          </p:txBody>
        </p:sp>
        <p:sp>
          <p:nvSpPr>
            <p:cNvPr id="282" name="tx282"/>
            <p:cNvSpPr/>
            <p:nvPr/>
          </p:nvSpPr>
          <p:spPr>
            <a:xfrm>
              <a:off x="6434476" y="2381424"/>
              <a:ext cx="1123248" cy="87416"/>
            </a:xfrm>
            <a:prstGeom prst="rect">
              <a:avLst/>
            </a:prstGeom>
            <a:noFill/>
          </p:spPr>
          <p:txBody>
            <a:bodyPr lIns="0" rIns="0" tIns="0" bIns="0" anchorCtr="1" anchor="ctr" wrap="none"/>
            <a:lstStyle/>
            <a:p>
              <a:pPr algn="l" marL="0" marR="0" indent="0">
                <a:spcBef>
                  <a:spcPts val="0"/>
                </a:spcBef>
                <a:spcAft>
                  <a:spcPts val="0"/>
                </a:spcAft>
              </a:pPr>
              <a:r>
                <a:rPr sz="1000" i="0" b="0">
                  <a:solidFill>
                    <a:srgbClr val="000000">
                      <a:alpha val="100000"/>
                    </a:srgbClr>
                  </a:solidFill>
                  <a:latin typeface="Liberation Sans"/>
                  <a:cs typeface="Liberation Sans"/>
                </a:rPr>
                <a:t>-0.53 (-2.45 to 1.39)</a:t>
              </a:r>
            </a:p>
          </p:txBody>
        </p:sp>
        <p:sp>
          <p:nvSpPr>
            <p:cNvPr id="283" name="tx283"/>
            <p:cNvSpPr/>
            <p:nvPr/>
          </p:nvSpPr>
          <p:spPr>
            <a:xfrm>
              <a:off x="6434476" y="2576841"/>
              <a:ext cx="1123248" cy="87416"/>
            </a:xfrm>
            <a:prstGeom prst="rect">
              <a:avLst/>
            </a:prstGeom>
            <a:noFill/>
          </p:spPr>
          <p:txBody>
            <a:bodyPr lIns="0" rIns="0" tIns="0" bIns="0" anchorCtr="1" anchor="ctr" wrap="none"/>
            <a:lstStyle/>
            <a:p>
              <a:pPr algn="l" marL="0" marR="0" indent="0">
                <a:spcBef>
                  <a:spcPts val="0"/>
                </a:spcBef>
                <a:spcAft>
                  <a:spcPts val="0"/>
                </a:spcAft>
              </a:pPr>
              <a:r>
                <a:rPr sz="1000" i="0" b="0">
                  <a:solidFill>
                    <a:srgbClr val="000000">
                      <a:alpha val="100000"/>
                    </a:srgbClr>
                  </a:solidFill>
                  <a:latin typeface="Liberation Sans"/>
                  <a:cs typeface="Liberation Sans"/>
                </a:rPr>
                <a:t>-1.20 (-3.89 to 1.49)</a:t>
              </a:r>
            </a:p>
          </p:txBody>
        </p:sp>
        <p:sp>
          <p:nvSpPr>
            <p:cNvPr id="284" name="tx284"/>
            <p:cNvSpPr/>
            <p:nvPr/>
          </p:nvSpPr>
          <p:spPr>
            <a:xfrm>
              <a:off x="6434476" y="2967674"/>
              <a:ext cx="1113830" cy="87416"/>
            </a:xfrm>
            <a:prstGeom prst="rect">
              <a:avLst/>
            </a:prstGeom>
            <a:noFill/>
          </p:spPr>
          <p:txBody>
            <a:bodyPr lIns="0" rIns="0" tIns="0" bIns="0" anchorCtr="1" anchor="ctr" wrap="none"/>
            <a:lstStyle/>
            <a:p>
              <a:pPr algn="l" marL="0" marR="0" indent="0">
                <a:spcBef>
                  <a:spcPts val="0"/>
                </a:spcBef>
                <a:spcAft>
                  <a:spcPts val="0"/>
                </a:spcAft>
              </a:pPr>
              <a:r>
                <a:rPr sz="1000" i="0" b="0">
                  <a:solidFill>
                    <a:srgbClr val="000000">
                      <a:alpha val="100000"/>
                    </a:srgbClr>
                  </a:solidFill>
                  <a:latin typeface="Liberation Sans"/>
                  <a:cs typeface="Liberation Sans"/>
                </a:rPr>
                <a:t>-2.54 (-5.11 to 0.03)</a:t>
              </a:r>
            </a:p>
          </p:txBody>
        </p:sp>
        <p:sp>
          <p:nvSpPr>
            <p:cNvPr id="285" name="tx285"/>
            <p:cNvSpPr/>
            <p:nvPr/>
          </p:nvSpPr>
          <p:spPr>
            <a:xfrm>
              <a:off x="6434476" y="3163091"/>
              <a:ext cx="1071493" cy="87416"/>
            </a:xfrm>
            <a:prstGeom prst="rect">
              <a:avLst/>
            </a:prstGeom>
            <a:noFill/>
          </p:spPr>
          <p:txBody>
            <a:bodyPr lIns="0" rIns="0" tIns="0" bIns="0" anchorCtr="1" anchor="ctr" wrap="none"/>
            <a:lstStyle/>
            <a:p>
              <a:pPr algn="l" marL="0" marR="0" indent="0">
                <a:spcBef>
                  <a:spcPts val="0"/>
                </a:spcBef>
                <a:spcAft>
                  <a:spcPts val="0"/>
                </a:spcAft>
              </a:pPr>
              <a:r>
                <a:rPr sz="1000" i="0" b="0">
                  <a:solidFill>
                    <a:srgbClr val="000000">
                      <a:alpha val="100000"/>
                    </a:srgbClr>
                  </a:solidFill>
                  <a:latin typeface="Liberation Sans"/>
                  <a:cs typeface="Liberation Sans"/>
                </a:rPr>
                <a:t>0.14 (-1.83 to 2.11)</a:t>
              </a:r>
            </a:p>
          </p:txBody>
        </p:sp>
        <p:sp>
          <p:nvSpPr>
            <p:cNvPr id="286" name="tx286"/>
            <p:cNvSpPr/>
            <p:nvPr/>
          </p:nvSpPr>
          <p:spPr>
            <a:xfrm>
              <a:off x="6434476" y="3553924"/>
              <a:ext cx="1123248" cy="87416"/>
            </a:xfrm>
            <a:prstGeom prst="rect">
              <a:avLst/>
            </a:prstGeom>
            <a:noFill/>
          </p:spPr>
          <p:txBody>
            <a:bodyPr lIns="0" rIns="0" tIns="0" bIns="0" anchorCtr="1" anchor="ctr" wrap="none"/>
            <a:lstStyle/>
            <a:p>
              <a:pPr algn="l" marL="0" marR="0" indent="0">
                <a:spcBef>
                  <a:spcPts val="0"/>
                </a:spcBef>
                <a:spcAft>
                  <a:spcPts val="0"/>
                </a:spcAft>
              </a:pPr>
              <a:r>
                <a:rPr sz="1000" i="0" b="0">
                  <a:solidFill>
                    <a:srgbClr val="000000">
                      <a:alpha val="100000"/>
                    </a:srgbClr>
                  </a:solidFill>
                  <a:latin typeface="Liberation Sans"/>
                  <a:cs typeface="Liberation Sans"/>
                </a:rPr>
                <a:t>-1.02 (-2.64 to 0.61)</a:t>
              </a:r>
            </a:p>
          </p:txBody>
        </p:sp>
        <p:sp>
          <p:nvSpPr>
            <p:cNvPr id="287" name="tx287"/>
            <p:cNvSpPr/>
            <p:nvPr/>
          </p:nvSpPr>
          <p:spPr>
            <a:xfrm>
              <a:off x="6434476" y="3749341"/>
              <a:ext cx="1080912" cy="87416"/>
            </a:xfrm>
            <a:prstGeom prst="rect">
              <a:avLst/>
            </a:prstGeom>
            <a:noFill/>
          </p:spPr>
          <p:txBody>
            <a:bodyPr lIns="0" rIns="0" tIns="0" bIns="0" anchorCtr="1" anchor="ctr" wrap="none"/>
            <a:lstStyle/>
            <a:p>
              <a:pPr algn="l" marL="0" marR="0" indent="0">
                <a:spcBef>
                  <a:spcPts val="0"/>
                </a:spcBef>
                <a:spcAft>
                  <a:spcPts val="0"/>
                </a:spcAft>
              </a:pPr>
              <a:r>
                <a:rPr sz="1000" i="0" b="0">
                  <a:solidFill>
                    <a:srgbClr val="000000">
                      <a:alpha val="100000"/>
                    </a:srgbClr>
                  </a:solidFill>
                  <a:latin typeface="Liberation Sans"/>
                  <a:cs typeface="Liberation Sans"/>
                </a:rPr>
                <a:t>1.41 (-4.13 to 6.96)</a:t>
              </a:r>
            </a:p>
          </p:txBody>
        </p:sp>
        <p:sp>
          <p:nvSpPr>
            <p:cNvPr id="288" name="tx288"/>
            <p:cNvSpPr/>
            <p:nvPr/>
          </p:nvSpPr>
          <p:spPr>
            <a:xfrm>
              <a:off x="6434476" y="4140174"/>
              <a:ext cx="1123248" cy="87416"/>
            </a:xfrm>
            <a:prstGeom prst="rect">
              <a:avLst/>
            </a:prstGeom>
            <a:noFill/>
          </p:spPr>
          <p:txBody>
            <a:bodyPr lIns="0" rIns="0" tIns="0" bIns="0" anchorCtr="1" anchor="ctr" wrap="none"/>
            <a:lstStyle/>
            <a:p>
              <a:pPr algn="l" marL="0" marR="0" indent="0">
                <a:spcBef>
                  <a:spcPts val="0"/>
                </a:spcBef>
                <a:spcAft>
                  <a:spcPts val="0"/>
                </a:spcAft>
              </a:pPr>
              <a:r>
                <a:rPr sz="1000" i="0" b="0">
                  <a:solidFill>
                    <a:srgbClr val="000000">
                      <a:alpha val="100000"/>
                    </a:srgbClr>
                  </a:solidFill>
                  <a:latin typeface="Liberation Sans"/>
                  <a:cs typeface="Liberation Sans"/>
                </a:rPr>
                <a:t>-1.64 (-3.60 to 0.32)</a:t>
              </a:r>
            </a:p>
          </p:txBody>
        </p:sp>
        <p:sp>
          <p:nvSpPr>
            <p:cNvPr id="289" name="tx289"/>
            <p:cNvSpPr/>
            <p:nvPr/>
          </p:nvSpPr>
          <p:spPr>
            <a:xfrm>
              <a:off x="6434476" y="4335590"/>
              <a:ext cx="1080912" cy="87416"/>
            </a:xfrm>
            <a:prstGeom prst="rect">
              <a:avLst/>
            </a:prstGeom>
            <a:noFill/>
          </p:spPr>
          <p:txBody>
            <a:bodyPr lIns="0" rIns="0" tIns="0" bIns="0" anchorCtr="1" anchor="ctr" wrap="none"/>
            <a:lstStyle/>
            <a:p>
              <a:pPr algn="l" marL="0" marR="0" indent="0">
                <a:spcBef>
                  <a:spcPts val="0"/>
                </a:spcBef>
                <a:spcAft>
                  <a:spcPts val="0"/>
                </a:spcAft>
              </a:pPr>
              <a:r>
                <a:rPr sz="1000" i="0" b="0">
                  <a:solidFill>
                    <a:srgbClr val="000000">
                      <a:alpha val="100000"/>
                    </a:srgbClr>
                  </a:solidFill>
                  <a:latin typeface="Liberation Sans"/>
                  <a:cs typeface="Liberation Sans"/>
                </a:rPr>
                <a:t>0.55 (-2.04 to 3.15)</a:t>
              </a:r>
            </a:p>
          </p:txBody>
        </p:sp>
        <p:sp>
          <p:nvSpPr>
            <p:cNvPr id="290" name="tx290"/>
            <p:cNvSpPr/>
            <p:nvPr/>
          </p:nvSpPr>
          <p:spPr>
            <a:xfrm>
              <a:off x="6434476" y="4726424"/>
              <a:ext cx="1123248" cy="87416"/>
            </a:xfrm>
            <a:prstGeom prst="rect">
              <a:avLst/>
            </a:prstGeom>
            <a:noFill/>
          </p:spPr>
          <p:txBody>
            <a:bodyPr lIns="0" rIns="0" tIns="0" bIns="0" anchorCtr="1" anchor="ctr" wrap="none"/>
            <a:lstStyle/>
            <a:p>
              <a:pPr algn="l" marL="0" marR="0" indent="0">
                <a:spcBef>
                  <a:spcPts val="0"/>
                </a:spcBef>
                <a:spcAft>
                  <a:spcPts val="0"/>
                </a:spcAft>
              </a:pPr>
              <a:r>
                <a:rPr sz="1000" i="0" b="0">
                  <a:solidFill>
                    <a:srgbClr val="000000">
                      <a:alpha val="100000"/>
                    </a:srgbClr>
                  </a:solidFill>
                  <a:latin typeface="Liberation Sans"/>
                  <a:cs typeface="Liberation Sans"/>
                </a:rPr>
                <a:t>-0.66 (-2.26 to 0.94)</a:t>
              </a:r>
            </a:p>
          </p:txBody>
        </p:sp>
        <p:sp>
          <p:nvSpPr>
            <p:cNvPr id="291" name="tx291"/>
            <p:cNvSpPr/>
            <p:nvPr/>
          </p:nvSpPr>
          <p:spPr>
            <a:xfrm>
              <a:off x="6434476" y="4921840"/>
              <a:ext cx="1193932" cy="87416"/>
            </a:xfrm>
            <a:prstGeom prst="rect">
              <a:avLst/>
            </a:prstGeom>
            <a:noFill/>
          </p:spPr>
          <p:txBody>
            <a:bodyPr lIns="0" rIns="0" tIns="0" bIns="0" anchorCtr="1" anchor="ctr" wrap="none"/>
            <a:lstStyle/>
            <a:p>
              <a:pPr algn="l" marL="0" marR="0" indent="0">
                <a:spcBef>
                  <a:spcPts val="0"/>
                </a:spcBef>
                <a:spcAft>
                  <a:spcPts val="0"/>
                </a:spcAft>
              </a:pPr>
              <a:r>
                <a:rPr sz="1000" i="0" b="0">
                  <a:solidFill>
                    <a:srgbClr val="000000">
                      <a:alpha val="100000"/>
                    </a:srgbClr>
                  </a:solidFill>
                  <a:latin typeface="Liberation Sans"/>
                  <a:cs typeface="Liberation Sans"/>
                </a:rPr>
                <a:t>-2.40 (-10.00 to 5.19)</a:t>
              </a:r>
            </a:p>
          </p:txBody>
        </p:sp>
        <p:sp>
          <p:nvSpPr>
            <p:cNvPr id="292" name="tx292"/>
            <p:cNvSpPr/>
            <p:nvPr/>
          </p:nvSpPr>
          <p:spPr>
            <a:xfrm>
              <a:off x="6434476" y="5312674"/>
              <a:ext cx="1123248" cy="87416"/>
            </a:xfrm>
            <a:prstGeom prst="rect">
              <a:avLst/>
            </a:prstGeom>
            <a:noFill/>
          </p:spPr>
          <p:txBody>
            <a:bodyPr lIns="0" rIns="0" tIns="0" bIns="0" anchorCtr="1" anchor="ctr" wrap="none"/>
            <a:lstStyle/>
            <a:p>
              <a:pPr algn="l" marL="0" marR="0" indent="0">
                <a:spcBef>
                  <a:spcPts val="0"/>
                </a:spcBef>
                <a:spcAft>
                  <a:spcPts val="0"/>
                </a:spcAft>
              </a:pPr>
              <a:r>
                <a:rPr sz="1000" i="0" b="0">
                  <a:solidFill>
                    <a:srgbClr val="000000">
                      <a:alpha val="100000"/>
                    </a:srgbClr>
                  </a:solidFill>
                  <a:latin typeface="Liberation Sans"/>
                  <a:cs typeface="Liberation Sans"/>
                </a:rPr>
                <a:t>-0.55 (-2.14 to 1.04)</a:t>
              </a:r>
            </a:p>
          </p:txBody>
        </p:sp>
        <p:sp>
          <p:nvSpPr>
            <p:cNvPr id="293" name="tx293"/>
            <p:cNvSpPr/>
            <p:nvPr/>
          </p:nvSpPr>
          <p:spPr>
            <a:xfrm>
              <a:off x="6434476" y="5508090"/>
              <a:ext cx="1193932" cy="87416"/>
            </a:xfrm>
            <a:prstGeom prst="rect">
              <a:avLst/>
            </a:prstGeom>
            <a:noFill/>
          </p:spPr>
          <p:txBody>
            <a:bodyPr lIns="0" rIns="0" tIns="0" bIns="0" anchorCtr="1" anchor="ctr" wrap="none"/>
            <a:lstStyle/>
            <a:p>
              <a:pPr algn="l" marL="0" marR="0" indent="0">
                <a:spcBef>
                  <a:spcPts val="0"/>
                </a:spcBef>
                <a:spcAft>
                  <a:spcPts val="0"/>
                </a:spcAft>
              </a:pPr>
              <a:r>
                <a:rPr sz="1000" i="0" b="0">
                  <a:solidFill>
                    <a:srgbClr val="000000">
                      <a:alpha val="100000"/>
                    </a:srgbClr>
                  </a:solidFill>
                  <a:latin typeface="Liberation Sans"/>
                  <a:cs typeface="Liberation Sans"/>
                </a:rPr>
                <a:t>-6.85 (-16.15 to 2.45)</a:t>
              </a:r>
            </a:p>
          </p:txBody>
        </p:sp>
        <p:sp>
          <p:nvSpPr>
            <p:cNvPr id="294" name="tx294"/>
            <p:cNvSpPr/>
            <p:nvPr/>
          </p:nvSpPr>
          <p:spPr>
            <a:xfrm>
              <a:off x="6434476" y="5898924"/>
              <a:ext cx="1123248" cy="87416"/>
            </a:xfrm>
            <a:prstGeom prst="rect">
              <a:avLst/>
            </a:prstGeom>
            <a:noFill/>
          </p:spPr>
          <p:txBody>
            <a:bodyPr lIns="0" rIns="0" tIns="0" bIns="0" anchorCtr="1" anchor="ctr" wrap="none"/>
            <a:lstStyle/>
            <a:p>
              <a:pPr algn="l" marL="0" marR="0" indent="0">
                <a:spcBef>
                  <a:spcPts val="0"/>
                </a:spcBef>
                <a:spcAft>
                  <a:spcPts val="0"/>
                </a:spcAft>
              </a:pPr>
              <a:r>
                <a:rPr sz="1000" i="0" b="0">
                  <a:solidFill>
                    <a:srgbClr val="000000">
                      <a:alpha val="100000"/>
                    </a:srgbClr>
                  </a:solidFill>
                  <a:latin typeface="Liberation Sans"/>
                  <a:cs typeface="Liberation Sans"/>
                </a:rPr>
                <a:t>-1.46 (-3.26 to 0.34)</a:t>
              </a:r>
            </a:p>
          </p:txBody>
        </p:sp>
        <p:sp>
          <p:nvSpPr>
            <p:cNvPr id="295" name="tx295"/>
            <p:cNvSpPr/>
            <p:nvPr/>
          </p:nvSpPr>
          <p:spPr>
            <a:xfrm>
              <a:off x="6434476" y="6094340"/>
              <a:ext cx="1080912" cy="87416"/>
            </a:xfrm>
            <a:prstGeom prst="rect">
              <a:avLst/>
            </a:prstGeom>
            <a:noFill/>
          </p:spPr>
          <p:txBody>
            <a:bodyPr lIns="0" rIns="0" tIns="0" bIns="0" anchorCtr="1" anchor="ctr" wrap="none"/>
            <a:lstStyle/>
            <a:p>
              <a:pPr algn="l" marL="0" marR="0" indent="0">
                <a:spcBef>
                  <a:spcPts val="0"/>
                </a:spcBef>
                <a:spcAft>
                  <a:spcPts val="0"/>
                </a:spcAft>
              </a:pPr>
              <a:r>
                <a:rPr sz="1000" i="0" b="0">
                  <a:solidFill>
                    <a:srgbClr val="000000">
                      <a:alpha val="100000"/>
                    </a:srgbClr>
                  </a:solidFill>
                  <a:latin typeface="Liberation Sans"/>
                  <a:cs typeface="Liberation Sans"/>
                </a:rPr>
                <a:t>1.19 (-1.97 to 4.35)</a:t>
              </a:r>
            </a:p>
          </p:txBody>
        </p:sp>
        <p:sp>
          <p:nvSpPr>
            <p:cNvPr id="296" name="pl296"/>
            <p:cNvSpPr/>
            <p:nvPr/>
          </p:nvSpPr>
          <p:spPr>
            <a:xfrm>
              <a:off x="5845604" y="197383"/>
              <a:ext cx="0" cy="6018832"/>
            </a:xfrm>
            <a:custGeom>
              <a:avLst/>
              <a:pathLst>
                <a:path w="0" h="6018832">
                  <a:moveTo>
                    <a:pt x="0" y="6018832"/>
                  </a:moveTo>
                  <a:lnTo>
                    <a:pt x="0" y="0"/>
                  </a:lnTo>
                </a:path>
              </a:pathLst>
            </a:custGeom>
            <a:ln w="8572" cap="rnd">
              <a:solidFill>
                <a:srgbClr val="222222">
                  <a:alpha val="100000"/>
                </a:srgbClr>
              </a:solidFill>
              <a:prstDash val="dash"/>
              <a:round/>
            </a:ln>
          </p:spPr>
          <p:txBody>
            <a:bodyPr/>
            <a:lstStyle/>
            <a:p/>
          </p:txBody>
        </p:sp>
        <p:sp>
          <p:nvSpPr>
            <p:cNvPr id="297" name="pl297"/>
            <p:cNvSpPr/>
            <p:nvPr/>
          </p:nvSpPr>
          <p:spPr>
            <a:xfrm>
              <a:off x="5944714" y="197383"/>
              <a:ext cx="0" cy="6018832"/>
            </a:xfrm>
            <a:custGeom>
              <a:avLst/>
              <a:pathLst>
                <a:path w="0" h="6018832">
                  <a:moveTo>
                    <a:pt x="0" y="6018832"/>
                  </a:moveTo>
                  <a:lnTo>
                    <a:pt x="0" y="0"/>
                  </a:lnTo>
                </a:path>
              </a:pathLst>
            </a:custGeom>
            <a:ln w="8572" cap="rnd">
              <a:solidFill>
                <a:srgbClr val="666666">
                  <a:alpha val="100000"/>
                </a:srgbClr>
              </a:solidFill>
              <a:prstDash val="dash"/>
              <a:round/>
            </a:ln>
          </p:spPr>
          <p:txBody>
            <a:bodyPr/>
            <a:lstStyle/>
            <a:p/>
          </p:txBody>
        </p:sp>
        <p:sp>
          <p:nvSpPr>
            <p:cNvPr id="298" name="pl298"/>
            <p:cNvSpPr/>
            <p:nvPr/>
          </p:nvSpPr>
          <p:spPr>
            <a:xfrm>
              <a:off x="5729269" y="275549"/>
              <a:ext cx="155279" cy="0"/>
            </a:xfrm>
            <a:custGeom>
              <a:avLst/>
              <a:pathLst>
                <a:path w="155279" h="0">
                  <a:moveTo>
                    <a:pt x="0" y="0"/>
                  </a:moveTo>
                  <a:lnTo>
                    <a:pt x="155279" y="0"/>
                  </a:lnTo>
                </a:path>
              </a:pathLst>
            </a:custGeom>
            <a:ln w="11429" cap="rnd">
              <a:solidFill>
                <a:srgbClr val="222222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99" name="pl299"/>
            <p:cNvSpPr/>
            <p:nvPr/>
          </p:nvSpPr>
          <p:spPr>
            <a:xfrm>
              <a:off x="5729269" y="275549"/>
              <a:ext cx="0" cy="0"/>
            </a:xfrm>
            <a:custGeom>
              <a:avLst/>
              <a:pathLst>
                <a:path w="0" h="0">
                  <a:moveTo>
                    <a:pt x="0" y="0"/>
                  </a:moveTo>
                  <a:lnTo>
                    <a:pt x="0" y="0"/>
                  </a:lnTo>
                </a:path>
              </a:pathLst>
            </a:custGeom>
            <a:ln w="11429" cap="rnd">
              <a:solidFill>
                <a:srgbClr val="222222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300" name="pl300"/>
            <p:cNvSpPr/>
            <p:nvPr/>
          </p:nvSpPr>
          <p:spPr>
            <a:xfrm>
              <a:off x="5884549" y="275549"/>
              <a:ext cx="0" cy="0"/>
            </a:xfrm>
            <a:custGeom>
              <a:avLst/>
              <a:pathLst>
                <a:path w="0" h="0">
                  <a:moveTo>
                    <a:pt x="0" y="0"/>
                  </a:moveTo>
                  <a:lnTo>
                    <a:pt x="0" y="0"/>
                  </a:lnTo>
                </a:path>
              </a:pathLst>
            </a:custGeom>
            <a:ln w="11429" cap="rnd">
              <a:solidFill>
                <a:srgbClr val="222222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301" name="pg301"/>
            <p:cNvSpPr/>
            <p:nvPr/>
          </p:nvSpPr>
          <p:spPr>
            <a:xfrm>
              <a:off x="5786907" y="255547"/>
              <a:ext cx="40004" cy="40004"/>
            </a:xfrm>
            <a:custGeom>
              <a:avLst/>
              <a:pathLst>
                <a:path w="40004" h="40004">
                  <a:moveTo>
                    <a:pt x="0" y="40004"/>
                  </a:moveTo>
                  <a:lnTo>
                    <a:pt x="40004" y="40004"/>
                  </a:lnTo>
                  <a:lnTo>
                    <a:pt x="40004" y="0"/>
                  </a:lnTo>
                  <a:lnTo>
                    <a:pt x="0" y="0"/>
                  </a:lnTo>
                  <a:close/>
                </a:path>
              </a:pathLst>
            </a:custGeom>
            <a:solidFill>
              <a:srgbClr val="222222">
                <a:alpha val="100000"/>
              </a:srgbClr>
            </a:solidFill>
          </p:spPr>
          <p:txBody>
            <a:bodyPr/>
            <a:lstStyle/>
            <a:p/>
          </p:txBody>
        </p:sp>
        <p:sp>
          <p:nvSpPr>
            <p:cNvPr id="302" name="pl302"/>
            <p:cNvSpPr/>
            <p:nvPr/>
          </p:nvSpPr>
          <p:spPr>
            <a:xfrm>
              <a:off x="5569316" y="666383"/>
              <a:ext cx="264329" cy="0"/>
            </a:xfrm>
            <a:custGeom>
              <a:avLst/>
              <a:pathLst>
                <a:path w="264329" h="0">
                  <a:moveTo>
                    <a:pt x="0" y="0"/>
                  </a:moveTo>
                  <a:lnTo>
                    <a:pt x="264329" y="0"/>
                  </a:lnTo>
                </a:path>
              </a:pathLst>
            </a:custGeom>
            <a:ln w="11429" cap="rnd">
              <a:solidFill>
                <a:srgbClr val="222222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303" name="pl303"/>
            <p:cNvSpPr/>
            <p:nvPr/>
          </p:nvSpPr>
          <p:spPr>
            <a:xfrm>
              <a:off x="5569316" y="666383"/>
              <a:ext cx="0" cy="0"/>
            </a:xfrm>
            <a:custGeom>
              <a:avLst/>
              <a:pathLst>
                <a:path w="0" h="0">
                  <a:moveTo>
                    <a:pt x="0" y="0"/>
                  </a:moveTo>
                  <a:lnTo>
                    <a:pt x="0" y="0"/>
                  </a:lnTo>
                </a:path>
              </a:pathLst>
            </a:custGeom>
            <a:ln w="11429" cap="rnd">
              <a:solidFill>
                <a:srgbClr val="222222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304" name="pl304"/>
            <p:cNvSpPr/>
            <p:nvPr/>
          </p:nvSpPr>
          <p:spPr>
            <a:xfrm>
              <a:off x="5833646" y="666383"/>
              <a:ext cx="0" cy="0"/>
            </a:xfrm>
            <a:custGeom>
              <a:avLst/>
              <a:pathLst>
                <a:path w="0" h="0">
                  <a:moveTo>
                    <a:pt x="0" y="0"/>
                  </a:moveTo>
                  <a:lnTo>
                    <a:pt x="0" y="0"/>
                  </a:lnTo>
                </a:path>
              </a:pathLst>
            </a:custGeom>
            <a:ln w="11429" cap="rnd">
              <a:solidFill>
                <a:srgbClr val="222222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305" name="pg305"/>
            <p:cNvSpPr/>
            <p:nvPr/>
          </p:nvSpPr>
          <p:spPr>
            <a:xfrm>
              <a:off x="5681478" y="646380"/>
              <a:ext cx="40004" cy="40005"/>
            </a:xfrm>
            <a:custGeom>
              <a:avLst/>
              <a:pathLst>
                <a:path w="40004" h="40005">
                  <a:moveTo>
                    <a:pt x="0" y="40005"/>
                  </a:moveTo>
                  <a:lnTo>
                    <a:pt x="40004" y="40005"/>
                  </a:lnTo>
                  <a:lnTo>
                    <a:pt x="40004" y="0"/>
                  </a:lnTo>
                  <a:lnTo>
                    <a:pt x="0" y="0"/>
                  </a:lnTo>
                  <a:close/>
                </a:path>
              </a:pathLst>
            </a:custGeom>
            <a:solidFill>
              <a:srgbClr val="222222">
                <a:alpha val="100000"/>
              </a:srgbClr>
            </a:solidFill>
          </p:spPr>
          <p:txBody>
            <a:bodyPr/>
            <a:lstStyle/>
            <a:p/>
          </p:txBody>
        </p:sp>
        <p:sp>
          <p:nvSpPr>
            <p:cNvPr id="306" name="pl306"/>
            <p:cNvSpPr/>
            <p:nvPr/>
          </p:nvSpPr>
          <p:spPr>
            <a:xfrm>
              <a:off x="5763299" y="861799"/>
              <a:ext cx="192049" cy="0"/>
            </a:xfrm>
            <a:custGeom>
              <a:avLst/>
              <a:pathLst>
                <a:path w="192049" h="0">
                  <a:moveTo>
                    <a:pt x="0" y="0"/>
                  </a:moveTo>
                  <a:lnTo>
                    <a:pt x="192049" y="0"/>
                  </a:lnTo>
                </a:path>
              </a:pathLst>
            </a:custGeom>
            <a:ln w="11429" cap="rnd">
              <a:solidFill>
                <a:srgbClr val="222222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307" name="pl307"/>
            <p:cNvSpPr/>
            <p:nvPr/>
          </p:nvSpPr>
          <p:spPr>
            <a:xfrm>
              <a:off x="5763299" y="861799"/>
              <a:ext cx="0" cy="0"/>
            </a:xfrm>
            <a:custGeom>
              <a:avLst/>
              <a:pathLst>
                <a:path w="0" h="0">
                  <a:moveTo>
                    <a:pt x="0" y="0"/>
                  </a:moveTo>
                  <a:lnTo>
                    <a:pt x="0" y="0"/>
                  </a:lnTo>
                </a:path>
              </a:pathLst>
            </a:custGeom>
            <a:ln w="11429" cap="rnd">
              <a:solidFill>
                <a:srgbClr val="222222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308" name="pl308"/>
            <p:cNvSpPr/>
            <p:nvPr/>
          </p:nvSpPr>
          <p:spPr>
            <a:xfrm>
              <a:off x="5955349" y="861799"/>
              <a:ext cx="0" cy="0"/>
            </a:xfrm>
            <a:custGeom>
              <a:avLst/>
              <a:pathLst>
                <a:path w="0" h="0">
                  <a:moveTo>
                    <a:pt x="0" y="0"/>
                  </a:moveTo>
                  <a:lnTo>
                    <a:pt x="0" y="0"/>
                  </a:lnTo>
                </a:path>
              </a:pathLst>
            </a:custGeom>
            <a:ln w="11429" cap="rnd">
              <a:solidFill>
                <a:srgbClr val="222222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309" name="pg309"/>
            <p:cNvSpPr/>
            <p:nvPr/>
          </p:nvSpPr>
          <p:spPr>
            <a:xfrm>
              <a:off x="5839321" y="841797"/>
              <a:ext cx="40004" cy="40005"/>
            </a:xfrm>
            <a:custGeom>
              <a:avLst/>
              <a:pathLst>
                <a:path w="40004" h="40005">
                  <a:moveTo>
                    <a:pt x="0" y="40005"/>
                  </a:moveTo>
                  <a:lnTo>
                    <a:pt x="40004" y="40005"/>
                  </a:lnTo>
                  <a:lnTo>
                    <a:pt x="40004" y="0"/>
                  </a:lnTo>
                  <a:lnTo>
                    <a:pt x="0" y="0"/>
                  </a:lnTo>
                  <a:close/>
                </a:path>
              </a:pathLst>
            </a:custGeom>
            <a:solidFill>
              <a:srgbClr val="222222">
                <a:alpha val="100000"/>
              </a:srgbClr>
            </a:solidFill>
          </p:spPr>
          <p:txBody>
            <a:bodyPr/>
            <a:lstStyle/>
            <a:p/>
          </p:txBody>
        </p:sp>
        <p:sp>
          <p:nvSpPr>
            <p:cNvPr id="310" name="pl310"/>
            <p:cNvSpPr/>
            <p:nvPr/>
          </p:nvSpPr>
          <p:spPr>
            <a:xfrm>
              <a:off x="5685319" y="1252633"/>
              <a:ext cx="289204" cy="0"/>
            </a:xfrm>
            <a:custGeom>
              <a:avLst/>
              <a:pathLst>
                <a:path w="289204" h="0">
                  <a:moveTo>
                    <a:pt x="0" y="0"/>
                  </a:moveTo>
                  <a:lnTo>
                    <a:pt x="289204" y="0"/>
                  </a:lnTo>
                </a:path>
              </a:pathLst>
            </a:custGeom>
            <a:ln w="11429" cap="rnd">
              <a:solidFill>
                <a:srgbClr val="222222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311" name="pl311"/>
            <p:cNvSpPr/>
            <p:nvPr/>
          </p:nvSpPr>
          <p:spPr>
            <a:xfrm>
              <a:off x="5685319" y="1252633"/>
              <a:ext cx="0" cy="0"/>
            </a:xfrm>
            <a:custGeom>
              <a:avLst/>
              <a:pathLst>
                <a:path w="0" h="0">
                  <a:moveTo>
                    <a:pt x="0" y="0"/>
                  </a:moveTo>
                  <a:lnTo>
                    <a:pt x="0" y="0"/>
                  </a:lnTo>
                </a:path>
              </a:pathLst>
            </a:custGeom>
            <a:ln w="11429" cap="rnd">
              <a:solidFill>
                <a:srgbClr val="222222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312" name="pl312"/>
            <p:cNvSpPr/>
            <p:nvPr/>
          </p:nvSpPr>
          <p:spPr>
            <a:xfrm>
              <a:off x="5974524" y="1252633"/>
              <a:ext cx="0" cy="0"/>
            </a:xfrm>
            <a:custGeom>
              <a:avLst/>
              <a:pathLst>
                <a:path w="0" h="0">
                  <a:moveTo>
                    <a:pt x="0" y="0"/>
                  </a:moveTo>
                  <a:lnTo>
                    <a:pt x="0" y="0"/>
                  </a:lnTo>
                </a:path>
              </a:pathLst>
            </a:custGeom>
            <a:ln w="11429" cap="rnd">
              <a:solidFill>
                <a:srgbClr val="222222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313" name="pg313"/>
            <p:cNvSpPr/>
            <p:nvPr/>
          </p:nvSpPr>
          <p:spPr>
            <a:xfrm>
              <a:off x="5809919" y="1232630"/>
              <a:ext cx="40004" cy="40005"/>
            </a:xfrm>
            <a:custGeom>
              <a:avLst/>
              <a:pathLst>
                <a:path w="40004" h="40005">
                  <a:moveTo>
                    <a:pt x="0" y="40005"/>
                  </a:moveTo>
                  <a:lnTo>
                    <a:pt x="40004" y="40005"/>
                  </a:lnTo>
                  <a:lnTo>
                    <a:pt x="40004" y="0"/>
                  </a:lnTo>
                  <a:lnTo>
                    <a:pt x="0" y="0"/>
                  </a:lnTo>
                  <a:close/>
                </a:path>
              </a:pathLst>
            </a:custGeom>
            <a:solidFill>
              <a:srgbClr val="222222">
                <a:alpha val="100000"/>
              </a:srgbClr>
            </a:solidFill>
          </p:spPr>
          <p:txBody>
            <a:bodyPr/>
            <a:lstStyle/>
            <a:p/>
          </p:txBody>
        </p:sp>
        <p:sp>
          <p:nvSpPr>
            <p:cNvPr id="314" name="pl314"/>
            <p:cNvSpPr/>
            <p:nvPr/>
          </p:nvSpPr>
          <p:spPr>
            <a:xfrm>
              <a:off x="5707023" y="1448049"/>
              <a:ext cx="183259" cy="0"/>
            </a:xfrm>
            <a:custGeom>
              <a:avLst/>
              <a:pathLst>
                <a:path w="183259" h="0">
                  <a:moveTo>
                    <a:pt x="0" y="0"/>
                  </a:moveTo>
                  <a:lnTo>
                    <a:pt x="183259" y="0"/>
                  </a:lnTo>
                </a:path>
              </a:pathLst>
            </a:custGeom>
            <a:ln w="11429" cap="rnd">
              <a:solidFill>
                <a:srgbClr val="222222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315" name="pl315"/>
            <p:cNvSpPr/>
            <p:nvPr/>
          </p:nvSpPr>
          <p:spPr>
            <a:xfrm>
              <a:off x="5707023" y="1448049"/>
              <a:ext cx="0" cy="0"/>
            </a:xfrm>
            <a:custGeom>
              <a:avLst/>
              <a:pathLst>
                <a:path w="0" h="0">
                  <a:moveTo>
                    <a:pt x="0" y="0"/>
                  </a:moveTo>
                  <a:lnTo>
                    <a:pt x="0" y="0"/>
                  </a:lnTo>
                </a:path>
              </a:pathLst>
            </a:custGeom>
            <a:ln w="11429" cap="rnd">
              <a:solidFill>
                <a:srgbClr val="222222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316" name="pl316"/>
            <p:cNvSpPr/>
            <p:nvPr/>
          </p:nvSpPr>
          <p:spPr>
            <a:xfrm>
              <a:off x="5890283" y="1448049"/>
              <a:ext cx="0" cy="0"/>
            </a:xfrm>
            <a:custGeom>
              <a:avLst/>
              <a:pathLst>
                <a:path w="0" h="0">
                  <a:moveTo>
                    <a:pt x="0" y="0"/>
                  </a:moveTo>
                  <a:lnTo>
                    <a:pt x="0" y="0"/>
                  </a:lnTo>
                </a:path>
              </a:pathLst>
            </a:custGeom>
            <a:ln w="11429" cap="rnd">
              <a:solidFill>
                <a:srgbClr val="222222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317" name="pg317"/>
            <p:cNvSpPr/>
            <p:nvPr/>
          </p:nvSpPr>
          <p:spPr>
            <a:xfrm>
              <a:off x="5778650" y="1428047"/>
              <a:ext cx="40004" cy="40005"/>
            </a:xfrm>
            <a:custGeom>
              <a:avLst/>
              <a:pathLst>
                <a:path w="40004" h="40005">
                  <a:moveTo>
                    <a:pt x="0" y="40005"/>
                  </a:moveTo>
                  <a:lnTo>
                    <a:pt x="40004" y="40005"/>
                  </a:lnTo>
                  <a:lnTo>
                    <a:pt x="40004" y="0"/>
                  </a:lnTo>
                  <a:lnTo>
                    <a:pt x="0" y="0"/>
                  </a:lnTo>
                  <a:close/>
                </a:path>
              </a:pathLst>
            </a:custGeom>
            <a:solidFill>
              <a:srgbClr val="222222">
                <a:alpha val="100000"/>
              </a:srgbClr>
            </a:solidFill>
          </p:spPr>
          <p:txBody>
            <a:bodyPr/>
            <a:lstStyle/>
            <a:p/>
          </p:txBody>
        </p:sp>
        <p:sp>
          <p:nvSpPr>
            <p:cNvPr id="318" name="pl318"/>
            <p:cNvSpPr/>
            <p:nvPr/>
          </p:nvSpPr>
          <p:spPr>
            <a:xfrm>
              <a:off x="5735725" y="1838882"/>
              <a:ext cx="211268" cy="0"/>
            </a:xfrm>
            <a:custGeom>
              <a:avLst/>
              <a:pathLst>
                <a:path w="211268" h="0">
                  <a:moveTo>
                    <a:pt x="0" y="0"/>
                  </a:moveTo>
                  <a:lnTo>
                    <a:pt x="211268" y="0"/>
                  </a:lnTo>
                </a:path>
              </a:pathLst>
            </a:custGeom>
            <a:ln w="11429" cap="rnd">
              <a:solidFill>
                <a:srgbClr val="222222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319" name="pl319"/>
            <p:cNvSpPr/>
            <p:nvPr/>
          </p:nvSpPr>
          <p:spPr>
            <a:xfrm>
              <a:off x="5735725" y="1838882"/>
              <a:ext cx="0" cy="0"/>
            </a:xfrm>
            <a:custGeom>
              <a:avLst/>
              <a:pathLst>
                <a:path w="0" h="0">
                  <a:moveTo>
                    <a:pt x="0" y="0"/>
                  </a:moveTo>
                  <a:lnTo>
                    <a:pt x="0" y="0"/>
                  </a:lnTo>
                </a:path>
              </a:pathLst>
            </a:custGeom>
            <a:ln w="11429" cap="rnd">
              <a:solidFill>
                <a:srgbClr val="222222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320" name="pl320"/>
            <p:cNvSpPr/>
            <p:nvPr/>
          </p:nvSpPr>
          <p:spPr>
            <a:xfrm>
              <a:off x="5946993" y="1838882"/>
              <a:ext cx="0" cy="0"/>
            </a:xfrm>
            <a:custGeom>
              <a:avLst/>
              <a:pathLst>
                <a:path w="0" h="0">
                  <a:moveTo>
                    <a:pt x="0" y="0"/>
                  </a:moveTo>
                  <a:lnTo>
                    <a:pt x="0" y="0"/>
                  </a:lnTo>
                </a:path>
              </a:pathLst>
            </a:custGeom>
            <a:ln w="11429" cap="rnd">
              <a:solidFill>
                <a:srgbClr val="222222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321" name="pg321"/>
            <p:cNvSpPr/>
            <p:nvPr/>
          </p:nvSpPr>
          <p:spPr>
            <a:xfrm>
              <a:off x="5821357" y="1818880"/>
              <a:ext cx="40004" cy="40004"/>
            </a:xfrm>
            <a:custGeom>
              <a:avLst/>
              <a:pathLst>
                <a:path w="40004" h="40004">
                  <a:moveTo>
                    <a:pt x="0" y="40004"/>
                  </a:moveTo>
                  <a:lnTo>
                    <a:pt x="40004" y="40004"/>
                  </a:lnTo>
                  <a:lnTo>
                    <a:pt x="40004" y="0"/>
                  </a:lnTo>
                  <a:lnTo>
                    <a:pt x="0" y="0"/>
                  </a:lnTo>
                  <a:close/>
                </a:path>
              </a:pathLst>
            </a:custGeom>
            <a:solidFill>
              <a:srgbClr val="222222">
                <a:alpha val="100000"/>
              </a:srgbClr>
            </a:solidFill>
          </p:spPr>
          <p:txBody>
            <a:bodyPr/>
            <a:lstStyle/>
            <a:p/>
          </p:txBody>
        </p:sp>
        <p:sp>
          <p:nvSpPr>
            <p:cNvPr id="322" name="pl322"/>
            <p:cNvSpPr/>
            <p:nvPr/>
          </p:nvSpPr>
          <p:spPr>
            <a:xfrm>
              <a:off x="5653720" y="2034299"/>
              <a:ext cx="228760" cy="0"/>
            </a:xfrm>
            <a:custGeom>
              <a:avLst/>
              <a:pathLst>
                <a:path w="228760" h="0">
                  <a:moveTo>
                    <a:pt x="0" y="0"/>
                  </a:moveTo>
                  <a:lnTo>
                    <a:pt x="228760" y="0"/>
                  </a:lnTo>
                </a:path>
              </a:pathLst>
            </a:custGeom>
            <a:ln w="11429" cap="rnd">
              <a:solidFill>
                <a:srgbClr val="222222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323" name="pl323"/>
            <p:cNvSpPr/>
            <p:nvPr/>
          </p:nvSpPr>
          <p:spPr>
            <a:xfrm>
              <a:off x="5653720" y="2034299"/>
              <a:ext cx="0" cy="0"/>
            </a:xfrm>
            <a:custGeom>
              <a:avLst/>
              <a:pathLst>
                <a:path w="0" h="0">
                  <a:moveTo>
                    <a:pt x="0" y="0"/>
                  </a:moveTo>
                  <a:lnTo>
                    <a:pt x="0" y="0"/>
                  </a:lnTo>
                </a:path>
              </a:pathLst>
            </a:custGeom>
            <a:ln w="11429" cap="rnd">
              <a:solidFill>
                <a:srgbClr val="222222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324" name="pl324"/>
            <p:cNvSpPr/>
            <p:nvPr/>
          </p:nvSpPr>
          <p:spPr>
            <a:xfrm>
              <a:off x="5882480" y="2034299"/>
              <a:ext cx="0" cy="0"/>
            </a:xfrm>
            <a:custGeom>
              <a:avLst/>
              <a:pathLst>
                <a:path w="0" h="0">
                  <a:moveTo>
                    <a:pt x="0" y="0"/>
                  </a:moveTo>
                  <a:lnTo>
                    <a:pt x="0" y="0"/>
                  </a:lnTo>
                </a:path>
              </a:pathLst>
            </a:custGeom>
            <a:ln w="11429" cap="rnd">
              <a:solidFill>
                <a:srgbClr val="222222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325" name="pg325"/>
            <p:cNvSpPr/>
            <p:nvPr/>
          </p:nvSpPr>
          <p:spPr>
            <a:xfrm>
              <a:off x="5748097" y="2014297"/>
              <a:ext cx="40004" cy="40004"/>
            </a:xfrm>
            <a:custGeom>
              <a:avLst/>
              <a:pathLst>
                <a:path w="40004" h="40004">
                  <a:moveTo>
                    <a:pt x="0" y="40004"/>
                  </a:moveTo>
                  <a:lnTo>
                    <a:pt x="40004" y="40004"/>
                  </a:lnTo>
                  <a:lnTo>
                    <a:pt x="40004" y="0"/>
                  </a:lnTo>
                  <a:lnTo>
                    <a:pt x="0" y="0"/>
                  </a:lnTo>
                  <a:close/>
                </a:path>
              </a:pathLst>
            </a:custGeom>
            <a:solidFill>
              <a:srgbClr val="222222">
                <a:alpha val="100000"/>
              </a:srgbClr>
            </a:solidFill>
          </p:spPr>
          <p:txBody>
            <a:bodyPr/>
            <a:lstStyle/>
            <a:p/>
          </p:txBody>
        </p:sp>
        <p:sp>
          <p:nvSpPr>
            <p:cNvPr id="326" name="pl326"/>
            <p:cNvSpPr/>
            <p:nvPr/>
          </p:nvSpPr>
          <p:spPr>
            <a:xfrm>
              <a:off x="5724046" y="2425132"/>
              <a:ext cx="190222" cy="0"/>
            </a:xfrm>
            <a:custGeom>
              <a:avLst/>
              <a:pathLst>
                <a:path w="190222" h="0">
                  <a:moveTo>
                    <a:pt x="0" y="0"/>
                  </a:moveTo>
                  <a:lnTo>
                    <a:pt x="190222" y="0"/>
                  </a:lnTo>
                </a:path>
              </a:pathLst>
            </a:custGeom>
            <a:ln w="11429" cap="rnd">
              <a:solidFill>
                <a:srgbClr val="222222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327" name="pl327"/>
            <p:cNvSpPr/>
            <p:nvPr/>
          </p:nvSpPr>
          <p:spPr>
            <a:xfrm>
              <a:off x="5724046" y="2425132"/>
              <a:ext cx="0" cy="0"/>
            </a:xfrm>
            <a:custGeom>
              <a:avLst/>
              <a:pathLst>
                <a:path w="0" h="0">
                  <a:moveTo>
                    <a:pt x="0" y="0"/>
                  </a:moveTo>
                  <a:lnTo>
                    <a:pt x="0" y="0"/>
                  </a:lnTo>
                </a:path>
              </a:pathLst>
            </a:custGeom>
            <a:ln w="11429" cap="rnd">
              <a:solidFill>
                <a:srgbClr val="222222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328" name="pl328"/>
            <p:cNvSpPr/>
            <p:nvPr/>
          </p:nvSpPr>
          <p:spPr>
            <a:xfrm>
              <a:off x="5914269" y="2425132"/>
              <a:ext cx="0" cy="0"/>
            </a:xfrm>
            <a:custGeom>
              <a:avLst/>
              <a:pathLst>
                <a:path w="0" h="0">
                  <a:moveTo>
                    <a:pt x="0" y="0"/>
                  </a:moveTo>
                  <a:lnTo>
                    <a:pt x="0" y="0"/>
                  </a:lnTo>
                </a:path>
              </a:pathLst>
            </a:custGeom>
            <a:ln w="11429" cap="rnd">
              <a:solidFill>
                <a:srgbClr val="222222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329" name="pg329"/>
            <p:cNvSpPr/>
            <p:nvPr/>
          </p:nvSpPr>
          <p:spPr>
            <a:xfrm>
              <a:off x="5799155" y="2405130"/>
              <a:ext cx="40004" cy="40004"/>
            </a:xfrm>
            <a:custGeom>
              <a:avLst/>
              <a:pathLst>
                <a:path w="40004" h="40004">
                  <a:moveTo>
                    <a:pt x="0" y="40004"/>
                  </a:moveTo>
                  <a:lnTo>
                    <a:pt x="40004" y="40004"/>
                  </a:lnTo>
                  <a:lnTo>
                    <a:pt x="40004" y="0"/>
                  </a:lnTo>
                  <a:lnTo>
                    <a:pt x="0" y="0"/>
                  </a:lnTo>
                  <a:close/>
                </a:path>
              </a:pathLst>
            </a:custGeom>
            <a:solidFill>
              <a:srgbClr val="222222">
                <a:alpha val="100000"/>
              </a:srgbClr>
            </a:solidFill>
          </p:spPr>
          <p:txBody>
            <a:bodyPr/>
            <a:lstStyle/>
            <a:p/>
          </p:txBody>
        </p:sp>
        <p:sp>
          <p:nvSpPr>
            <p:cNvPr id="330" name="pl330"/>
            <p:cNvSpPr/>
            <p:nvPr/>
          </p:nvSpPr>
          <p:spPr>
            <a:xfrm>
              <a:off x="5652591" y="2620549"/>
              <a:ext cx="266669" cy="0"/>
            </a:xfrm>
            <a:custGeom>
              <a:avLst/>
              <a:pathLst>
                <a:path w="266669" h="0">
                  <a:moveTo>
                    <a:pt x="0" y="0"/>
                  </a:moveTo>
                  <a:lnTo>
                    <a:pt x="266669" y="0"/>
                  </a:lnTo>
                </a:path>
              </a:pathLst>
            </a:custGeom>
            <a:ln w="11429" cap="rnd">
              <a:solidFill>
                <a:srgbClr val="222222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331" name="pl331"/>
            <p:cNvSpPr/>
            <p:nvPr/>
          </p:nvSpPr>
          <p:spPr>
            <a:xfrm>
              <a:off x="5652591" y="2620549"/>
              <a:ext cx="0" cy="0"/>
            </a:xfrm>
            <a:custGeom>
              <a:avLst/>
              <a:pathLst>
                <a:path w="0" h="0">
                  <a:moveTo>
                    <a:pt x="0" y="0"/>
                  </a:moveTo>
                  <a:lnTo>
                    <a:pt x="0" y="0"/>
                  </a:lnTo>
                </a:path>
              </a:pathLst>
            </a:custGeom>
            <a:ln w="11429" cap="rnd">
              <a:solidFill>
                <a:srgbClr val="222222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332" name="pl332"/>
            <p:cNvSpPr/>
            <p:nvPr/>
          </p:nvSpPr>
          <p:spPr>
            <a:xfrm>
              <a:off x="5919261" y="2620549"/>
              <a:ext cx="0" cy="0"/>
            </a:xfrm>
            <a:custGeom>
              <a:avLst/>
              <a:pathLst>
                <a:path w="0" h="0">
                  <a:moveTo>
                    <a:pt x="0" y="0"/>
                  </a:moveTo>
                  <a:lnTo>
                    <a:pt x="0" y="0"/>
                  </a:lnTo>
                </a:path>
              </a:pathLst>
            </a:custGeom>
            <a:ln w="11429" cap="rnd">
              <a:solidFill>
                <a:srgbClr val="222222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333" name="pg333"/>
            <p:cNvSpPr/>
            <p:nvPr/>
          </p:nvSpPr>
          <p:spPr>
            <a:xfrm>
              <a:off x="5765924" y="2600547"/>
              <a:ext cx="40004" cy="40004"/>
            </a:xfrm>
            <a:custGeom>
              <a:avLst/>
              <a:pathLst>
                <a:path w="40004" h="40004">
                  <a:moveTo>
                    <a:pt x="0" y="40004"/>
                  </a:moveTo>
                  <a:lnTo>
                    <a:pt x="40004" y="40004"/>
                  </a:lnTo>
                  <a:lnTo>
                    <a:pt x="40004" y="0"/>
                  </a:lnTo>
                  <a:lnTo>
                    <a:pt x="0" y="0"/>
                  </a:lnTo>
                  <a:close/>
                </a:path>
              </a:pathLst>
            </a:custGeom>
            <a:solidFill>
              <a:srgbClr val="222222">
                <a:alpha val="100000"/>
              </a:srgbClr>
            </a:solidFill>
          </p:spPr>
          <p:txBody>
            <a:bodyPr/>
            <a:lstStyle/>
            <a:p/>
          </p:txBody>
        </p:sp>
        <p:sp>
          <p:nvSpPr>
            <p:cNvPr id="334" name="pl334"/>
            <p:cNvSpPr/>
            <p:nvPr/>
          </p:nvSpPr>
          <p:spPr>
            <a:xfrm>
              <a:off x="5592294" y="3011382"/>
              <a:ext cx="254705" cy="0"/>
            </a:xfrm>
            <a:custGeom>
              <a:avLst/>
              <a:pathLst>
                <a:path w="254705" h="0">
                  <a:moveTo>
                    <a:pt x="0" y="0"/>
                  </a:moveTo>
                  <a:lnTo>
                    <a:pt x="254705" y="0"/>
                  </a:lnTo>
                </a:path>
              </a:pathLst>
            </a:custGeom>
            <a:ln w="11429" cap="rnd">
              <a:solidFill>
                <a:srgbClr val="222222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335" name="pl335"/>
            <p:cNvSpPr/>
            <p:nvPr/>
          </p:nvSpPr>
          <p:spPr>
            <a:xfrm>
              <a:off x="5592294" y="3011382"/>
              <a:ext cx="0" cy="0"/>
            </a:xfrm>
            <a:custGeom>
              <a:avLst/>
              <a:pathLst>
                <a:path w="0" h="0">
                  <a:moveTo>
                    <a:pt x="0" y="0"/>
                  </a:moveTo>
                  <a:lnTo>
                    <a:pt x="0" y="0"/>
                  </a:lnTo>
                </a:path>
              </a:pathLst>
            </a:custGeom>
            <a:ln w="11429" cap="rnd">
              <a:solidFill>
                <a:srgbClr val="222222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336" name="pl336"/>
            <p:cNvSpPr/>
            <p:nvPr/>
          </p:nvSpPr>
          <p:spPr>
            <a:xfrm>
              <a:off x="5846999" y="3011382"/>
              <a:ext cx="0" cy="0"/>
            </a:xfrm>
            <a:custGeom>
              <a:avLst/>
              <a:pathLst>
                <a:path w="0" h="0">
                  <a:moveTo>
                    <a:pt x="0" y="0"/>
                  </a:moveTo>
                  <a:lnTo>
                    <a:pt x="0" y="0"/>
                  </a:lnTo>
                </a:path>
              </a:pathLst>
            </a:custGeom>
            <a:ln w="11429" cap="rnd">
              <a:solidFill>
                <a:srgbClr val="222222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337" name="pg337"/>
            <p:cNvSpPr/>
            <p:nvPr/>
          </p:nvSpPr>
          <p:spPr>
            <a:xfrm>
              <a:off x="5699644" y="2991380"/>
              <a:ext cx="40004" cy="40004"/>
            </a:xfrm>
            <a:custGeom>
              <a:avLst/>
              <a:pathLst>
                <a:path w="40004" h="40004">
                  <a:moveTo>
                    <a:pt x="0" y="40004"/>
                  </a:moveTo>
                  <a:lnTo>
                    <a:pt x="40004" y="40004"/>
                  </a:lnTo>
                  <a:lnTo>
                    <a:pt x="40004" y="0"/>
                  </a:lnTo>
                  <a:lnTo>
                    <a:pt x="0" y="0"/>
                  </a:lnTo>
                  <a:close/>
                </a:path>
              </a:pathLst>
            </a:custGeom>
            <a:solidFill>
              <a:srgbClr val="222222">
                <a:alpha val="100000"/>
              </a:srgbClr>
            </a:solidFill>
          </p:spPr>
          <p:txBody>
            <a:bodyPr/>
            <a:lstStyle/>
            <a:p/>
          </p:txBody>
        </p:sp>
        <p:sp>
          <p:nvSpPr>
            <p:cNvPr id="338" name="pl338"/>
            <p:cNvSpPr/>
            <p:nvPr/>
          </p:nvSpPr>
          <p:spPr>
            <a:xfrm>
              <a:off x="5755119" y="3206799"/>
              <a:ext cx="195216" cy="0"/>
            </a:xfrm>
            <a:custGeom>
              <a:avLst/>
              <a:pathLst>
                <a:path w="195216" h="0">
                  <a:moveTo>
                    <a:pt x="0" y="0"/>
                  </a:moveTo>
                  <a:lnTo>
                    <a:pt x="195216" y="0"/>
                  </a:lnTo>
                </a:path>
              </a:pathLst>
            </a:custGeom>
            <a:ln w="11429" cap="rnd">
              <a:solidFill>
                <a:srgbClr val="222222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339" name="pl339"/>
            <p:cNvSpPr/>
            <p:nvPr/>
          </p:nvSpPr>
          <p:spPr>
            <a:xfrm>
              <a:off x="5755119" y="3206799"/>
              <a:ext cx="0" cy="0"/>
            </a:xfrm>
            <a:custGeom>
              <a:avLst/>
              <a:pathLst>
                <a:path w="0" h="0">
                  <a:moveTo>
                    <a:pt x="0" y="0"/>
                  </a:moveTo>
                  <a:lnTo>
                    <a:pt x="0" y="0"/>
                  </a:lnTo>
                </a:path>
              </a:pathLst>
            </a:custGeom>
            <a:ln w="11429" cap="rnd">
              <a:solidFill>
                <a:srgbClr val="222222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340" name="pl340"/>
            <p:cNvSpPr/>
            <p:nvPr/>
          </p:nvSpPr>
          <p:spPr>
            <a:xfrm>
              <a:off x="5950336" y="3206799"/>
              <a:ext cx="0" cy="0"/>
            </a:xfrm>
            <a:custGeom>
              <a:avLst/>
              <a:pathLst>
                <a:path w="0" h="0">
                  <a:moveTo>
                    <a:pt x="0" y="0"/>
                  </a:moveTo>
                  <a:lnTo>
                    <a:pt x="0" y="0"/>
                  </a:lnTo>
                </a:path>
              </a:pathLst>
            </a:custGeom>
            <a:ln w="11429" cap="rnd">
              <a:solidFill>
                <a:srgbClr val="222222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341" name="pg341"/>
            <p:cNvSpPr/>
            <p:nvPr/>
          </p:nvSpPr>
          <p:spPr>
            <a:xfrm>
              <a:off x="5832725" y="3186796"/>
              <a:ext cx="40004" cy="40004"/>
            </a:xfrm>
            <a:custGeom>
              <a:avLst/>
              <a:pathLst>
                <a:path w="40004" h="40004">
                  <a:moveTo>
                    <a:pt x="0" y="40004"/>
                  </a:moveTo>
                  <a:lnTo>
                    <a:pt x="40004" y="40004"/>
                  </a:lnTo>
                  <a:lnTo>
                    <a:pt x="40004" y="0"/>
                  </a:lnTo>
                  <a:lnTo>
                    <a:pt x="0" y="0"/>
                  </a:lnTo>
                  <a:close/>
                </a:path>
              </a:pathLst>
            </a:custGeom>
            <a:solidFill>
              <a:srgbClr val="222222">
                <a:alpha val="100000"/>
              </a:srgbClr>
            </a:solidFill>
          </p:spPr>
          <p:txBody>
            <a:bodyPr/>
            <a:lstStyle/>
            <a:p/>
          </p:txBody>
        </p:sp>
        <p:sp>
          <p:nvSpPr>
            <p:cNvPr id="342" name="pl342"/>
            <p:cNvSpPr/>
            <p:nvPr/>
          </p:nvSpPr>
          <p:spPr>
            <a:xfrm>
              <a:off x="5714554" y="3597632"/>
              <a:ext cx="161040" cy="0"/>
            </a:xfrm>
            <a:custGeom>
              <a:avLst/>
              <a:pathLst>
                <a:path w="161040" h="0">
                  <a:moveTo>
                    <a:pt x="0" y="0"/>
                  </a:moveTo>
                  <a:lnTo>
                    <a:pt x="161040" y="0"/>
                  </a:lnTo>
                </a:path>
              </a:pathLst>
            </a:custGeom>
            <a:ln w="11429" cap="rnd">
              <a:solidFill>
                <a:srgbClr val="222222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343" name="pl343"/>
            <p:cNvSpPr/>
            <p:nvPr/>
          </p:nvSpPr>
          <p:spPr>
            <a:xfrm>
              <a:off x="5714554" y="3597632"/>
              <a:ext cx="0" cy="0"/>
            </a:xfrm>
            <a:custGeom>
              <a:avLst/>
              <a:pathLst>
                <a:path w="0" h="0">
                  <a:moveTo>
                    <a:pt x="0" y="0"/>
                  </a:moveTo>
                  <a:lnTo>
                    <a:pt x="0" y="0"/>
                  </a:lnTo>
                </a:path>
              </a:pathLst>
            </a:custGeom>
            <a:ln w="11429" cap="rnd">
              <a:solidFill>
                <a:srgbClr val="222222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344" name="pl344"/>
            <p:cNvSpPr/>
            <p:nvPr/>
          </p:nvSpPr>
          <p:spPr>
            <a:xfrm>
              <a:off x="5875595" y="3597632"/>
              <a:ext cx="0" cy="0"/>
            </a:xfrm>
            <a:custGeom>
              <a:avLst/>
              <a:pathLst>
                <a:path w="0" h="0">
                  <a:moveTo>
                    <a:pt x="0" y="0"/>
                  </a:moveTo>
                  <a:lnTo>
                    <a:pt x="0" y="0"/>
                  </a:lnTo>
                </a:path>
              </a:pathLst>
            </a:custGeom>
            <a:ln w="11429" cap="rnd">
              <a:solidFill>
                <a:srgbClr val="222222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345" name="pg345"/>
            <p:cNvSpPr/>
            <p:nvPr/>
          </p:nvSpPr>
          <p:spPr>
            <a:xfrm>
              <a:off x="5775072" y="3577630"/>
              <a:ext cx="40004" cy="40004"/>
            </a:xfrm>
            <a:custGeom>
              <a:avLst/>
              <a:pathLst>
                <a:path w="40004" h="40004">
                  <a:moveTo>
                    <a:pt x="0" y="40004"/>
                  </a:moveTo>
                  <a:lnTo>
                    <a:pt x="40004" y="40004"/>
                  </a:lnTo>
                  <a:lnTo>
                    <a:pt x="40004" y="0"/>
                  </a:lnTo>
                  <a:lnTo>
                    <a:pt x="0" y="0"/>
                  </a:lnTo>
                  <a:close/>
                </a:path>
              </a:pathLst>
            </a:custGeom>
            <a:solidFill>
              <a:srgbClr val="222222">
                <a:alpha val="100000"/>
              </a:srgbClr>
            </a:solidFill>
          </p:spPr>
          <p:txBody>
            <a:bodyPr/>
            <a:lstStyle/>
            <a:p/>
          </p:txBody>
        </p:sp>
        <p:sp>
          <p:nvSpPr>
            <p:cNvPr id="346" name="pl346"/>
            <p:cNvSpPr/>
            <p:nvPr/>
          </p:nvSpPr>
          <p:spPr>
            <a:xfrm>
              <a:off x="5640695" y="3793049"/>
              <a:ext cx="549681" cy="0"/>
            </a:xfrm>
            <a:custGeom>
              <a:avLst/>
              <a:pathLst>
                <a:path w="549681" h="0">
                  <a:moveTo>
                    <a:pt x="0" y="0"/>
                  </a:moveTo>
                  <a:lnTo>
                    <a:pt x="549681" y="0"/>
                  </a:lnTo>
                </a:path>
              </a:pathLst>
            </a:custGeom>
            <a:ln w="11429" cap="rnd">
              <a:solidFill>
                <a:srgbClr val="222222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347" name="pl347"/>
            <p:cNvSpPr/>
            <p:nvPr/>
          </p:nvSpPr>
          <p:spPr>
            <a:xfrm>
              <a:off x="5640695" y="3793049"/>
              <a:ext cx="0" cy="0"/>
            </a:xfrm>
            <a:custGeom>
              <a:avLst/>
              <a:pathLst>
                <a:path w="0" h="0">
                  <a:moveTo>
                    <a:pt x="0" y="0"/>
                  </a:moveTo>
                  <a:lnTo>
                    <a:pt x="0" y="0"/>
                  </a:lnTo>
                </a:path>
              </a:pathLst>
            </a:custGeom>
            <a:ln w="11429" cap="rnd">
              <a:solidFill>
                <a:srgbClr val="222222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348" name="pl348"/>
            <p:cNvSpPr/>
            <p:nvPr/>
          </p:nvSpPr>
          <p:spPr>
            <a:xfrm>
              <a:off x="6190376" y="3793049"/>
              <a:ext cx="0" cy="0"/>
            </a:xfrm>
            <a:custGeom>
              <a:avLst/>
              <a:pathLst>
                <a:path w="0" h="0">
                  <a:moveTo>
                    <a:pt x="0" y="0"/>
                  </a:moveTo>
                  <a:lnTo>
                    <a:pt x="0" y="0"/>
                  </a:lnTo>
                </a:path>
              </a:pathLst>
            </a:custGeom>
            <a:ln w="11429" cap="rnd">
              <a:solidFill>
                <a:srgbClr val="222222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349" name="pg349"/>
            <p:cNvSpPr/>
            <p:nvPr/>
          </p:nvSpPr>
          <p:spPr>
            <a:xfrm>
              <a:off x="5895533" y="3773046"/>
              <a:ext cx="40004" cy="40004"/>
            </a:xfrm>
            <a:custGeom>
              <a:avLst/>
              <a:pathLst>
                <a:path w="40004" h="40004">
                  <a:moveTo>
                    <a:pt x="0" y="40004"/>
                  </a:moveTo>
                  <a:lnTo>
                    <a:pt x="40004" y="40004"/>
                  </a:lnTo>
                  <a:lnTo>
                    <a:pt x="40004" y="0"/>
                  </a:lnTo>
                  <a:lnTo>
                    <a:pt x="0" y="0"/>
                  </a:lnTo>
                  <a:close/>
                </a:path>
              </a:pathLst>
            </a:custGeom>
            <a:solidFill>
              <a:srgbClr val="222222">
                <a:alpha val="100000"/>
              </a:srgbClr>
            </a:solidFill>
          </p:spPr>
          <p:txBody>
            <a:bodyPr/>
            <a:lstStyle/>
            <a:p/>
          </p:txBody>
        </p:sp>
        <p:sp>
          <p:nvSpPr>
            <p:cNvPr id="350" name="pl350"/>
            <p:cNvSpPr/>
            <p:nvPr/>
          </p:nvSpPr>
          <p:spPr>
            <a:xfrm>
              <a:off x="5667272" y="4183882"/>
              <a:ext cx="193989" cy="0"/>
            </a:xfrm>
            <a:custGeom>
              <a:avLst/>
              <a:pathLst>
                <a:path w="193989" h="0">
                  <a:moveTo>
                    <a:pt x="0" y="0"/>
                  </a:moveTo>
                  <a:lnTo>
                    <a:pt x="193989" y="0"/>
                  </a:lnTo>
                </a:path>
              </a:pathLst>
            </a:custGeom>
            <a:ln w="11429" cap="rnd">
              <a:solidFill>
                <a:srgbClr val="222222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351" name="pl351"/>
            <p:cNvSpPr/>
            <p:nvPr/>
          </p:nvSpPr>
          <p:spPr>
            <a:xfrm>
              <a:off x="5667272" y="4183882"/>
              <a:ext cx="0" cy="0"/>
            </a:xfrm>
            <a:custGeom>
              <a:avLst/>
              <a:pathLst>
                <a:path w="0" h="0">
                  <a:moveTo>
                    <a:pt x="0" y="0"/>
                  </a:moveTo>
                  <a:lnTo>
                    <a:pt x="0" y="0"/>
                  </a:lnTo>
                </a:path>
              </a:pathLst>
            </a:custGeom>
            <a:ln w="11429" cap="rnd">
              <a:solidFill>
                <a:srgbClr val="222222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352" name="pl352"/>
            <p:cNvSpPr/>
            <p:nvPr/>
          </p:nvSpPr>
          <p:spPr>
            <a:xfrm>
              <a:off x="5861261" y="4183882"/>
              <a:ext cx="0" cy="0"/>
            </a:xfrm>
            <a:custGeom>
              <a:avLst/>
              <a:pathLst>
                <a:path w="0" h="0">
                  <a:moveTo>
                    <a:pt x="0" y="0"/>
                  </a:moveTo>
                  <a:lnTo>
                    <a:pt x="0" y="0"/>
                  </a:lnTo>
                </a:path>
              </a:pathLst>
            </a:custGeom>
            <a:ln w="11429" cap="rnd">
              <a:solidFill>
                <a:srgbClr val="222222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353" name="pg353"/>
            <p:cNvSpPr/>
            <p:nvPr/>
          </p:nvSpPr>
          <p:spPr>
            <a:xfrm>
              <a:off x="5744264" y="4163880"/>
              <a:ext cx="40004" cy="40004"/>
            </a:xfrm>
            <a:custGeom>
              <a:avLst/>
              <a:pathLst>
                <a:path w="40004" h="40004">
                  <a:moveTo>
                    <a:pt x="0" y="40004"/>
                  </a:moveTo>
                  <a:lnTo>
                    <a:pt x="40004" y="40004"/>
                  </a:lnTo>
                  <a:lnTo>
                    <a:pt x="40004" y="0"/>
                  </a:lnTo>
                  <a:lnTo>
                    <a:pt x="0" y="0"/>
                  </a:lnTo>
                  <a:close/>
                </a:path>
              </a:pathLst>
            </a:custGeom>
            <a:solidFill>
              <a:srgbClr val="222222">
                <a:alpha val="100000"/>
              </a:srgbClr>
            </a:solidFill>
          </p:spPr>
          <p:txBody>
            <a:bodyPr/>
            <a:lstStyle/>
            <a:p/>
          </p:txBody>
        </p:sp>
        <p:sp>
          <p:nvSpPr>
            <p:cNvPr id="354" name="pl354"/>
            <p:cNvSpPr/>
            <p:nvPr/>
          </p:nvSpPr>
          <p:spPr>
            <a:xfrm>
              <a:off x="5744272" y="4379299"/>
              <a:ext cx="257290" cy="0"/>
            </a:xfrm>
            <a:custGeom>
              <a:avLst/>
              <a:pathLst>
                <a:path w="257290" h="0">
                  <a:moveTo>
                    <a:pt x="0" y="0"/>
                  </a:moveTo>
                  <a:lnTo>
                    <a:pt x="257290" y="0"/>
                  </a:lnTo>
                </a:path>
              </a:pathLst>
            </a:custGeom>
            <a:ln w="11429" cap="rnd">
              <a:solidFill>
                <a:srgbClr val="222222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355" name="pl355"/>
            <p:cNvSpPr/>
            <p:nvPr/>
          </p:nvSpPr>
          <p:spPr>
            <a:xfrm>
              <a:off x="5744272" y="4379299"/>
              <a:ext cx="0" cy="0"/>
            </a:xfrm>
            <a:custGeom>
              <a:avLst/>
              <a:pathLst>
                <a:path w="0" h="0">
                  <a:moveTo>
                    <a:pt x="0" y="0"/>
                  </a:moveTo>
                  <a:lnTo>
                    <a:pt x="0" y="0"/>
                  </a:lnTo>
                </a:path>
              </a:pathLst>
            </a:custGeom>
            <a:ln w="11429" cap="rnd">
              <a:solidFill>
                <a:srgbClr val="222222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356" name="pl356"/>
            <p:cNvSpPr/>
            <p:nvPr/>
          </p:nvSpPr>
          <p:spPr>
            <a:xfrm>
              <a:off x="6001562" y="4379299"/>
              <a:ext cx="0" cy="0"/>
            </a:xfrm>
            <a:custGeom>
              <a:avLst/>
              <a:pathLst>
                <a:path w="0" h="0">
                  <a:moveTo>
                    <a:pt x="0" y="0"/>
                  </a:moveTo>
                  <a:lnTo>
                    <a:pt x="0" y="0"/>
                  </a:lnTo>
                </a:path>
              </a:pathLst>
            </a:custGeom>
            <a:ln w="11429" cap="rnd">
              <a:solidFill>
                <a:srgbClr val="222222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357" name="pg357"/>
            <p:cNvSpPr/>
            <p:nvPr/>
          </p:nvSpPr>
          <p:spPr>
            <a:xfrm>
              <a:off x="5852914" y="4359296"/>
              <a:ext cx="40004" cy="40004"/>
            </a:xfrm>
            <a:custGeom>
              <a:avLst/>
              <a:pathLst>
                <a:path w="40004" h="40004">
                  <a:moveTo>
                    <a:pt x="0" y="40004"/>
                  </a:moveTo>
                  <a:lnTo>
                    <a:pt x="40004" y="40004"/>
                  </a:lnTo>
                  <a:lnTo>
                    <a:pt x="40004" y="0"/>
                  </a:lnTo>
                  <a:lnTo>
                    <a:pt x="0" y="0"/>
                  </a:lnTo>
                  <a:close/>
                </a:path>
              </a:pathLst>
            </a:custGeom>
            <a:solidFill>
              <a:srgbClr val="222222">
                <a:alpha val="100000"/>
              </a:srgbClr>
            </a:solidFill>
          </p:spPr>
          <p:txBody>
            <a:bodyPr/>
            <a:lstStyle/>
            <a:p/>
          </p:txBody>
        </p:sp>
        <p:sp>
          <p:nvSpPr>
            <p:cNvPr id="358" name="pl358"/>
            <p:cNvSpPr/>
            <p:nvPr/>
          </p:nvSpPr>
          <p:spPr>
            <a:xfrm>
              <a:off x="5733834" y="4770132"/>
              <a:ext cx="158197" cy="0"/>
            </a:xfrm>
            <a:custGeom>
              <a:avLst/>
              <a:pathLst>
                <a:path w="158197" h="0">
                  <a:moveTo>
                    <a:pt x="0" y="0"/>
                  </a:moveTo>
                  <a:lnTo>
                    <a:pt x="158197" y="0"/>
                  </a:lnTo>
                </a:path>
              </a:pathLst>
            </a:custGeom>
            <a:ln w="11429" cap="rnd">
              <a:solidFill>
                <a:srgbClr val="222222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359" name="pl359"/>
            <p:cNvSpPr/>
            <p:nvPr/>
          </p:nvSpPr>
          <p:spPr>
            <a:xfrm>
              <a:off x="5733834" y="4770132"/>
              <a:ext cx="0" cy="0"/>
            </a:xfrm>
            <a:custGeom>
              <a:avLst/>
              <a:pathLst>
                <a:path w="0" h="0">
                  <a:moveTo>
                    <a:pt x="0" y="0"/>
                  </a:moveTo>
                  <a:lnTo>
                    <a:pt x="0" y="0"/>
                  </a:lnTo>
                </a:path>
              </a:pathLst>
            </a:custGeom>
            <a:ln w="11429" cap="rnd">
              <a:solidFill>
                <a:srgbClr val="222222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360" name="pl360"/>
            <p:cNvSpPr/>
            <p:nvPr/>
          </p:nvSpPr>
          <p:spPr>
            <a:xfrm>
              <a:off x="5892032" y="4770132"/>
              <a:ext cx="0" cy="0"/>
            </a:xfrm>
            <a:custGeom>
              <a:avLst/>
              <a:pathLst>
                <a:path w="0" h="0">
                  <a:moveTo>
                    <a:pt x="0" y="0"/>
                  </a:moveTo>
                  <a:lnTo>
                    <a:pt x="0" y="0"/>
                  </a:lnTo>
                </a:path>
              </a:pathLst>
            </a:custGeom>
            <a:ln w="11429" cap="rnd">
              <a:solidFill>
                <a:srgbClr val="222222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361" name="pg361"/>
            <p:cNvSpPr/>
            <p:nvPr/>
          </p:nvSpPr>
          <p:spPr>
            <a:xfrm>
              <a:off x="5792931" y="4750130"/>
              <a:ext cx="40004" cy="40004"/>
            </a:xfrm>
            <a:custGeom>
              <a:avLst/>
              <a:pathLst>
                <a:path w="40004" h="40004">
                  <a:moveTo>
                    <a:pt x="0" y="40004"/>
                  </a:moveTo>
                  <a:lnTo>
                    <a:pt x="40004" y="40004"/>
                  </a:lnTo>
                  <a:lnTo>
                    <a:pt x="40004" y="0"/>
                  </a:lnTo>
                  <a:lnTo>
                    <a:pt x="0" y="0"/>
                  </a:lnTo>
                  <a:close/>
                </a:path>
              </a:pathLst>
            </a:custGeom>
            <a:solidFill>
              <a:srgbClr val="222222">
                <a:alpha val="100000"/>
              </a:srgbClr>
            </a:solidFill>
          </p:spPr>
          <p:txBody>
            <a:bodyPr/>
            <a:lstStyle/>
            <a:p/>
          </p:txBody>
        </p:sp>
        <p:sp>
          <p:nvSpPr>
            <p:cNvPr id="362" name="pl362"/>
            <p:cNvSpPr/>
            <p:nvPr/>
          </p:nvSpPr>
          <p:spPr>
            <a:xfrm>
              <a:off x="5350270" y="4965549"/>
              <a:ext cx="752355" cy="0"/>
            </a:xfrm>
            <a:custGeom>
              <a:avLst/>
              <a:pathLst>
                <a:path w="752355" h="0">
                  <a:moveTo>
                    <a:pt x="0" y="0"/>
                  </a:moveTo>
                  <a:lnTo>
                    <a:pt x="752355" y="0"/>
                  </a:lnTo>
                </a:path>
              </a:pathLst>
            </a:custGeom>
            <a:ln w="11429" cap="rnd">
              <a:solidFill>
                <a:srgbClr val="222222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363" name="pl363"/>
            <p:cNvSpPr/>
            <p:nvPr/>
          </p:nvSpPr>
          <p:spPr>
            <a:xfrm>
              <a:off x="5350270" y="4965549"/>
              <a:ext cx="0" cy="0"/>
            </a:xfrm>
            <a:custGeom>
              <a:avLst/>
              <a:pathLst>
                <a:path w="0" h="0">
                  <a:moveTo>
                    <a:pt x="0" y="0"/>
                  </a:moveTo>
                  <a:lnTo>
                    <a:pt x="0" y="0"/>
                  </a:lnTo>
                </a:path>
              </a:pathLst>
            </a:custGeom>
            <a:ln w="11429" cap="rnd">
              <a:solidFill>
                <a:srgbClr val="222222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364" name="pl364"/>
            <p:cNvSpPr/>
            <p:nvPr/>
          </p:nvSpPr>
          <p:spPr>
            <a:xfrm>
              <a:off x="6102625" y="4965549"/>
              <a:ext cx="0" cy="0"/>
            </a:xfrm>
            <a:custGeom>
              <a:avLst/>
              <a:pathLst>
                <a:path w="0" h="0">
                  <a:moveTo>
                    <a:pt x="0" y="0"/>
                  </a:moveTo>
                  <a:lnTo>
                    <a:pt x="0" y="0"/>
                  </a:lnTo>
                </a:path>
              </a:pathLst>
            </a:custGeom>
            <a:ln w="11429" cap="rnd">
              <a:solidFill>
                <a:srgbClr val="222222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365" name="pg365"/>
            <p:cNvSpPr/>
            <p:nvPr/>
          </p:nvSpPr>
          <p:spPr>
            <a:xfrm>
              <a:off x="5706445" y="4945546"/>
              <a:ext cx="40004" cy="40004"/>
            </a:xfrm>
            <a:custGeom>
              <a:avLst/>
              <a:pathLst>
                <a:path w="40004" h="40004">
                  <a:moveTo>
                    <a:pt x="0" y="40004"/>
                  </a:moveTo>
                  <a:lnTo>
                    <a:pt x="40004" y="40004"/>
                  </a:lnTo>
                  <a:lnTo>
                    <a:pt x="40004" y="0"/>
                  </a:lnTo>
                  <a:lnTo>
                    <a:pt x="0" y="0"/>
                  </a:lnTo>
                  <a:close/>
                </a:path>
              </a:pathLst>
            </a:custGeom>
            <a:solidFill>
              <a:srgbClr val="222222">
                <a:alpha val="100000"/>
              </a:srgbClr>
            </a:solidFill>
          </p:spPr>
          <p:txBody>
            <a:bodyPr/>
            <a:lstStyle/>
            <a:p/>
          </p:txBody>
        </p:sp>
        <p:sp>
          <p:nvSpPr>
            <p:cNvPr id="366" name="pl366"/>
            <p:cNvSpPr/>
            <p:nvPr/>
          </p:nvSpPr>
          <p:spPr>
            <a:xfrm>
              <a:off x="5739699" y="5356382"/>
              <a:ext cx="157268" cy="0"/>
            </a:xfrm>
            <a:custGeom>
              <a:avLst/>
              <a:pathLst>
                <a:path w="157268" h="0">
                  <a:moveTo>
                    <a:pt x="0" y="0"/>
                  </a:moveTo>
                  <a:lnTo>
                    <a:pt x="157268" y="0"/>
                  </a:lnTo>
                </a:path>
              </a:pathLst>
            </a:custGeom>
            <a:ln w="11429" cap="rnd">
              <a:solidFill>
                <a:srgbClr val="222222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367" name="pl367"/>
            <p:cNvSpPr/>
            <p:nvPr/>
          </p:nvSpPr>
          <p:spPr>
            <a:xfrm>
              <a:off x="5739699" y="5356382"/>
              <a:ext cx="0" cy="0"/>
            </a:xfrm>
            <a:custGeom>
              <a:avLst/>
              <a:pathLst>
                <a:path w="0" h="0">
                  <a:moveTo>
                    <a:pt x="0" y="0"/>
                  </a:moveTo>
                  <a:lnTo>
                    <a:pt x="0" y="0"/>
                  </a:lnTo>
                </a:path>
              </a:pathLst>
            </a:custGeom>
            <a:ln w="11429" cap="rnd">
              <a:solidFill>
                <a:srgbClr val="222222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368" name="pl368"/>
            <p:cNvSpPr/>
            <p:nvPr/>
          </p:nvSpPr>
          <p:spPr>
            <a:xfrm>
              <a:off x="5896968" y="5356382"/>
              <a:ext cx="0" cy="0"/>
            </a:xfrm>
            <a:custGeom>
              <a:avLst/>
              <a:pathLst>
                <a:path w="0" h="0">
                  <a:moveTo>
                    <a:pt x="0" y="0"/>
                  </a:moveTo>
                  <a:lnTo>
                    <a:pt x="0" y="0"/>
                  </a:lnTo>
                </a:path>
              </a:pathLst>
            </a:custGeom>
            <a:ln w="11429" cap="rnd">
              <a:solidFill>
                <a:srgbClr val="222222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369" name="pg369"/>
            <p:cNvSpPr/>
            <p:nvPr/>
          </p:nvSpPr>
          <p:spPr>
            <a:xfrm>
              <a:off x="5798331" y="5336379"/>
              <a:ext cx="40004" cy="40004"/>
            </a:xfrm>
            <a:custGeom>
              <a:avLst/>
              <a:pathLst>
                <a:path w="40004" h="40004">
                  <a:moveTo>
                    <a:pt x="0" y="40004"/>
                  </a:moveTo>
                  <a:lnTo>
                    <a:pt x="40004" y="40004"/>
                  </a:lnTo>
                  <a:lnTo>
                    <a:pt x="40004" y="0"/>
                  </a:lnTo>
                  <a:lnTo>
                    <a:pt x="0" y="0"/>
                  </a:lnTo>
                  <a:close/>
                </a:path>
              </a:pathLst>
            </a:custGeom>
            <a:solidFill>
              <a:srgbClr val="222222">
                <a:alpha val="100000"/>
              </a:srgbClr>
            </a:solidFill>
          </p:spPr>
          <p:txBody>
            <a:bodyPr/>
            <a:lstStyle/>
            <a:p/>
          </p:txBody>
        </p:sp>
        <p:sp>
          <p:nvSpPr>
            <p:cNvPr id="370" name="pl370"/>
            <p:cNvSpPr/>
            <p:nvPr/>
          </p:nvSpPr>
          <p:spPr>
            <a:xfrm>
              <a:off x="5350053" y="5551799"/>
              <a:ext cx="616726" cy="0"/>
            </a:xfrm>
            <a:custGeom>
              <a:avLst/>
              <a:pathLst>
                <a:path w="616726" h="0">
                  <a:moveTo>
                    <a:pt x="0" y="0"/>
                  </a:moveTo>
                  <a:lnTo>
                    <a:pt x="616726" y="0"/>
                  </a:lnTo>
                </a:path>
              </a:pathLst>
            </a:custGeom>
            <a:ln w="11429" cap="rnd">
              <a:solidFill>
                <a:srgbClr val="222222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371" name="pl371"/>
            <p:cNvSpPr/>
            <p:nvPr/>
          </p:nvSpPr>
          <p:spPr>
            <a:xfrm>
              <a:off x="5350053" y="5528939"/>
              <a:ext cx="39594" cy="45720"/>
            </a:xfrm>
            <a:custGeom>
              <a:avLst/>
              <a:pathLst>
                <a:path w="39594" h="45720">
                  <a:moveTo>
                    <a:pt x="39594" y="0"/>
                  </a:moveTo>
                  <a:lnTo>
                    <a:pt x="0" y="22860"/>
                  </a:lnTo>
                  <a:lnTo>
                    <a:pt x="39594" y="45720"/>
                  </a:lnTo>
                </a:path>
              </a:pathLst>
            </a:custGeom>
            <a:ln w="11429" cap="rnd">
              <a:solidFill>
                <a:srgbClr val="222222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372" name="pl372"/>
            <p:cNvSpPr/>
            <p:nvPr/>
          </p:nvSpPr>
          <p:spPr>
            <a:xfrm>
              <a:off x="5966780" y="5551799"/>
              <a:ext cx="0" cy="0"/>
            </a:xfrm>
            <a:custGeom>
              <a:avLst/>
              <a:pathLst>
                <a:path w="0" h="0">
                  <a:moveTo>
                    <a:pt x="0" y="0"/>
                  </a:moveTo>
                  <a:lnTo>
                    <a:pt x="0" y="0"/>
                  </a:lnTo>
                </a:path>
              </a:pathLst>
            </a:custGeom>
            <a:ln w="11429" cap="rnd">
              <a:solidFill>
                <a:srgbClr val="222222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373" name="pg373"/>
            <p:cNvSpPr/>
            <p:nvPr/>
          </p:nvSpPr>
          <p:spPr>
            <a:xfrm>
              <a:off x="5486094" y="5531796"/>
              <a:ext cx="40004" cy="40004"/>
            </a:xfrm>
            <a:custGeom>
              <a:avLst/>
              <a:pathLst>
                <a:path w="40004" h="40004">
                  <a:moveTo>
                    <a:pt x="0" y="40004"/>
                  </a:moveTo>
                  <a:lnTo>
                    <a:pt x="40004" y="40004"/>
                  </a:lnTo>
                  <a:lnTo>
                    <a:pt x="40004" y="0"/>
                  </a:lnTo>
                  <a:lnTo>
                    <a:pt x="0" y="0"/>
                  </a:lnTo>
                  <a:close/>
                </a:path>
              </a:pathLst>
            </a:custGeom>
            <a:solidFill>
              <a:srgbClr val="222222">
                <a:alpha val="100000"/>
              </a:srgbClr>
            </a:solidFill>
          </p:spPr>
          <p:txBody>
            <a:bodyPr/>
            <a:lstStyle/>
            <a:p/>
          </p:txBody>
        </p:sp>
        <p:sp>
          <p:nvSpPr>
            <p:cNvPr id="374" name="pl374"/>
            <p:cNvSpPr/>
            <p:nvPr/>
          </p:nvSpPr>
          <p:spPr>
            <a:xfrm>
              <a:off x="5684039" y="5942632"/>
              <a:ext cx="178645" cy="0"/>
            </a:xfrm>
            <a:custGeom>
              <a:avLst/>
              <a:pathLst>
                <a:path w="178645" h="0">
                  <a:moveTo>
                    <a:pt x="0" y="0"/>
                  </a:moveTo>
                  <a:lnTo>
                    <a:pt x="178645" y="0"/>
                  </a:lnTo>
                </a:path>
              </a:pathLst>
            </a:custGeom>
            <a:ln w="11429" cap="rnd">
              <a:solidFill>
                <a:srgbClr val="222222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375" name="pl375"/>
            <p:cNvSpPr/>
            <p:nvPr/>
          </p:nvSpPr>
          <p:spPr>
            <a:xfrm>
              <a:off x="5684039" y="5942632"/>
              <a:ext cx="0" cy="0"/>
            </a:xfrm>
            <a:custGeom>
              <a:avLst/>
              <a:pathLst>
                <a:path w="0" h="0">
                  <a:moveTo>
                    <a:pt x="0" y="0"/>
                  </a:moveTo>
                  <a:lnTo>
                    <a:pt x="0" y="0"/>
                  </a:lnTo>
                </a:path>
              </a:pathLst>
            </a:custGeom>
            <a:ln w="11429" cap="rnd">
              <a:solidFill>
                <a:srgbClr val="222222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376" name="pl376"/>
            <p:cNvSpPr/>
            <p:nvPr/>
          </p:nvSpPr>
          <p:spPr>
            <a:xfrm>
              <a:off x="5862685" y="5942632"/>
              <a:ext cx="0" cy="0"/>
            </a:xfrm>
            <a:custGeom>
              <a:avLst/>
              <a:pathLst>
                <a:path w="0" h="0">
                  <a:moveTo>
                    <a:pt x="0" y="0"/>
                  </a:moveTo>
                  <a:lnTo>
                    <a:pt x="0" y="0"/>
                  </a:lnTo>
                </a:path>
              </a:pathLst>
            </a:custGeom>
            <a:ln w="11429" cap="rnd">
              <a:solidFill>
                <a:srgbClr val="222222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377" name="pg377"/>
            <p:cNvSpPr/>
            <p:nvPr/>
          </p:nvSpPr>
          <p:spPr>
            <a:xfrm>
              <a:off x="5753359" y="5922629"/>
              <a:ext cx="40004" cy="40004"/>
            </a:xfrm>
            <a:custGeom>
              <a:avLst/>
              <a:pathLst>
                <a:path w="40004" h="40004">
                  <a:moveTo>
                    <a:pt x="0" y="40004"/>
                  </a:moveTo>
                  <a:lnTo>
                    <a:pt x="40004" y="40004"/>
                  </a:lnTo>
                  <a:lnTo>
                    <a:pt x="40004" y="0"/>
                  </a:lnTo>
                  <a:lnTo>
                    <a:pt x="0" y="0"/>
                  </a:lnTo>
                  <a:close/>
                </a:path>
              </a:pathLst>
            </a:custGeom>
            <a:solidFill>
              <a:srgbClr val="222222">
                <a:alpha val="100000"/>
              </a:srgbClr>
            </a:solidFill>
          </p:spPr>
          <p:txBody>
            <a:bodyPr/>
            <a:lstStyle/>
            <a:p/>
          </p:txBody>
        </p:sp>
        <p:sp>
          <p:nvSpPr>
            <p:cNvPr id="378" name="pl378"/>
            <p:cNvSpPr/>
            <p:nvPr/>
          </p:nvSpPr>
          <p:spPr>
            <a:xfrm>
              <a:off x="5747940" y="6138049"/>
              <a:ext cx="313037" cy="0"/>
            </a:xfrm>
            <a:custGeom>
              <a:avLst/>
              <a:pathLst>
                <a:path w="313037" h="0">
                  <a:moveTo>
                    <a:pt x="0" y="0"/>
                  </a:moveTo>
                  <a:lnTo>
                    <a:pt x="313037" y="0"/>
                  </a:lnTo>
                </a:path>
              </a:pathLst>
            </a:custGeom>
            <a:ln w="11429" cap="rnd">
              <a:solidFill>
                <a:srgbClr val="222222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379" name="pl379"/>
            <p:cNvSpPr/>
            <p:nvPr/>
          </p:nvSpPr>
          <p:spPr>
            <a:xfrm>
              <a:off x="5747940" y="6138049"/>
              <a:ext cx="0" cy="0"/>
            </a:xfrm>
            <a:custGeom>
              <a:avLst/>
              <a:pathLst>
                <a:path w="0" h="0">
                  <a:moveTo>
                    <a:pt x="0" y="0"/>
                  </a:moveTo>
                  <a:lnTo>
                    <a:pt x="0" y="0"/>
                  </a:lnTo>
                </a:path>
              </a:pathLst>
            </a:custGeom>
            <a:ln w="11429" cap="rnd">
              <a:solidFill>
                <a:srgbClr val="222222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380" name="pl380"/>
            <p:cNvSpPr/>
            <p:nvPr/>
          </p:nvSpPr>
          <p:spPr>
            <a:xfrm>
              <a:off x="6060977" y="6138049"/>
              <a:ext cx="0" cy="0"/>
            </a:xfrm>
            <a:custGeom>
              <a:avLst/>
              <a:pathLst>
                <a:path w="0" h="0">
                  <a:moveTo>
                    <a:pt x="0" y="0"/>
                  </a:moveTo>
                  <a:lnTo>
                    <a:pt x="0" y="0"/>
                  </a:lnTo>
                </a:path>
              </a:pathLst>
            </a:custGeom>
            <a:ln w="11429" cap="rnd">
              <a:solidFill>
                <a:srgbClr val="222222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381" name="pg381"/>
            <p:cNvSpPr/>
            <p:nvPr/>
          </p:nvSpPr>
          <p:spPr>
            <a:xfrm>
              <a:off x="5884456" y="6118046"/>
              <a:ext cx="40004" cy="40004"/>
            </a:xfrm>
            <a:custGeom>
              <a:avLst/>
              <a:pathLst>
                <a:path w="40004" h="40004">
                  <a:moveTo>
                    <a:pt x="0" y="40004"/>
                  </a:moveTo>
                  <a:lnTo>
                    <a:pt x="40004" y="40004"/>
                  </a:lnTo>
                  <a:lnTo>
                    <a:pt x="40004" y="0"/>
                  </a:lnTo>
                  <a:lnTo>
                    <a:pt x="0" y="0"/>
                  </a:lnTo>
                  <a:close/>
                </a:path>
              </a:pathLst>
            </a:custGeom>
            <a:solidFill>
              <a:srgbClr val="222222">
                <a:alpha val="100000"/>
              </a:srgbClr>
            </a:solidFill>
          </p:spPr>
          <p:txBody>
            <a:bodyPr/>
            <a:lstStyle/>
            <a:p/>
          </p:txBody>
        </p:sp>
        <p:sp>
          <p:nvSpPr>
            <p:cNvPr id="382" name="tx382"/>
            <p:cNvSpPr/>
            <p:nvPr/>
          </p:nvSpPr>
          <p:spPr>
            <a:xfrm>
              <a:off x="936390" y="6317977"/>
              <a:ext cx="4407316" cy="41879"/>
            </a:xfrm>
            <a:prstGeom prst="rect">
              <a:avLst/>
            </a:prstGeom>
            <a:noFill/>
          </p:spPr>
          <p:txBody>
            <a:bodyPr lIns="0" rIns="0" tIns="0" bIns="0" anchorCtr="1" anchor="ctr" wrap="none"/>
            <a:lstStyle/>
            <a:p>
              <a:pPr algn="l" marL="0" marR="0" indent="0">
                <a:spcBef>
                  <a:spcPts val="0"/>
                </a:spcBef>
                <a:spcAft>
                  <a:spcPts val="0"/>
                </a:spcAft>
              </a:pPr>
              <a:r>
                <a:rPr sz="480" i="0" b="0">
                  <a:solidFill>
                    <a:srgbClr val="333333">
                      <a:alpha val="100000"/>
                    </a:srgbClr>
                  </a:solidFill>
                  <a:latin typeface="Liberation Sans"/>
                  <a:cs typeface="Liberation Sans"/>
                </a:rPr>
                <a:t>The vertical dashed line indicates the prespecified absolute-difference 2.0%p non-inferiority margin. Synthetic example data; not original RACING patient-level data.</a:t>
              </a:r>
            </a:p>
          </p:txBody>
        </p:sp>
        <p:sp>
          <p:nvSpPr>
            <p:cNvPr id="383" name="pl383"/>
            <p:cNvSpPr/>
            <p:nvPr/>
          </p:nvSpPr>
          <p:spPr>
            <a:xfrm>
              <a:off x="5350053" y="6238726"/>
              <a:ext cx="991100" cy="0"/>
            </a:xfrm>
            <a:custGeom>
              <a:avLst/>
              <a:pathLst>
                <a:path w="991100" h="0">
                  <a:moveTo>
                    <a:pt x="0" y="0"/>
                  </a:moveTo>
                  <a:lnTo>
                    <a:pt x="991100" y="0"/>
                  </a:lnTo>
                </a:path>
              </a:pathLst>
            </a:custGeom>
            <a:ln w="5714" cap="rnd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384" name="pl384"/>
            <p:cNvSpPr/>
            <p:nvPr/>
          </p:nvSpPr>
          <p:spPr>
            <a:xfrm>
              <a:off x="5350053" y="6238726"/>
              <a:ext cx="0" cy="68579"/>
            </a:xfrm>
            <a:custGeom>
              <a:avLst/>
              <a:pathLst>
                <a:path w="0" h="68579">
                  <a:moveTo>
                    <a:pt x="0" y="0"/>
                  </a:moveTo>
                  <a:lnTo>
                    <a:pt x="0" y="68579"/>
                  </a:lnTo>
                </a:path>
              </a:pathLst>
            </a:custGeom>
            <a:ln w="5714" cap="rnd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385" name="pl385"/>
            <p:cNvSpPr/>
            <p:nvPr/>
          </p:nvSpPr>
          <p:spPr>
            <a:xfrm>
              <a:off x="5597829" y="6238726"/>
              <a:ext cx="0" cy="68579"/>
            </a:xfrm>
            <a:custGeom>
              <a:avLst/>
              <a:pathLst>
                <a:path w="0" h="68579">
                  <a:moveTo>
                    <a:pt x="0" y="0"/>
                  </a:moveTo>
                  <a:lnTo>
                    <a:pt x="0" y="68579"/>
                  </a:lnTo>
                </a:path>
              </a:pathLst>
            </a:custGeom>
            <a:ln w="5714" cap="rnd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386" name="pl386"/>
            <p:cNvSpPr/>
            <p:nvPr/>
          </p:nvSpPr>
          <p:spPr>
            <a:xfrm>
              <a:off x="5845604" y="6238726"/>
              <a:ext cx="0" cy="68579"/>
            </a:xfrm>
            <a:custGeom>
              <a:avLst/>
              <a:pathLst>
                <a:path w="0" h="68579">
                  <a:moveTo>
                    <a:pt x="0" y="0"/>
                  </a:moveTo>
                  <a:lnTo>
                    <a:pt x="0" y="68579"/>
                  </a:lnTo>
                </a:path>
              </a:pathLst>
            </a:custGeom>
            <a:ln w="5714" cap="rnd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387" name="pl387"/>
            <p:cNvSpPr/>
            <p:nvPr/>
          </p:nvSpPr>
          <p:spPr>
            <a:xfrm>
              <a:off x="5944714" y="6238726"/>
              <a:ext cx="0" cy="68579"/>
            </a:xfrm>
            <a:custGeom>
              <a:avLst/>
              <a:pathLst>
                <a:path w="0" h="68579">
                  <a:moveTo>
                    <a:pt x="0" y="0"/>
                  </a:moveTo>
                  <a:lnTo>
                    <a:pt x="0" y="68579"/>
                  </a:lnTo>
                </a:path>
              </a:pathLst>
            </a:custGeom>
            <a:ln w="5714" cap="rnd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388" name="pl388"/>
            <p:cNvSpPr/>
            <p:nvPr/>
          </p:nvSpPr>
          <p:spPr>
            <a:xfrm>
              <a:off x="6093379" y="6238726"/>
              <a:ext cx="0" cy="68579"/>
            </a:xfrm>
            <a:custGeom>
              <a:avLst/>
              <a:pathLst>
                <a:path w="0" h="68579">
                  <a:moveTo>
                    <a:pt x="0" y="0"/>
                  </a:moveTo>
                  <a:lnTo>
                    <a:pt x="0" y="68579"/>
                  </a:lnTo>
                </a:path>
              </a:pathLst>
            </a:custGeom>
            <a:ln w="5714" cap="rnd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389" name="pl389"/>
            <p:cNvSpPr/>
            <p:nvPr/>
          </p:nvSpPr>
          <p:spPr>
            <a:xfrm>
              <a:off x="6341154" y="6238726"/>
              <a:ext cx="0" cy="68579"/>
            </a:xfrm>
            <a:custGeom>
              <a:avLst/>
              <a:pathLst>
                <a:path w="0" h="68579">
                  <a:moveTo>
                    <a:pt x="0" y="0"/>
                  </a:moveTo>
                  <a:lnTo>
                    <a:pt x="0" y="68579"/>
                  </a:lnTo>
                </a:path>
              </a:pathLst>
            </a:custGeom>
            <a:ln w="5714" cap="rnd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390" name="tx390"/>
            <p:cNvSpPr/>
            <p:nvPr/>
          </p:nvSpPr>
          <p:spPr>
            <a:xfrm>
              <a:off x="5267483" y="6336567"/>
              <a:ext cx="165140" cy="78638"/>
            </a:xfrm>
            <a:prstGeom prst="rect">
              <a:avLst/>
            </a:prstGeom>
            <a:noFill/>
          </p:spPr>
          <p:txBody>
            <a:bodyPr lIns="0" rIns="0" tIns="0" bIns="0" anchorCtr="1" anchor="ctr" wrap="none"/>
            <a:lstStyle/>
            <a:p>
              <a:pPr algn="l" marL="0" marR="0" indent="0">
                <a:spcBef>
                  <a:spcPts val="0"/>
                </a:spcBef>
                <a:spcAft>
                  <a:spcPts val="0"/>
                </a:spcAft>
              </a:pPr>
              <a:r>
                <a:rPr sz="900" i="0" b="0">
                  <a:solidFill>
                    <a:srgbClr val="000000">
                      <a:alpha val="100000"/>
                    </a:srgbClr>
                  </a:solidFill>
                  <a:latin typeface="Liberation Sans"/>
                  <a:cs typeface="Liberation Sans"/>
                </a:rPr>
                <a:t>-10</a:t>
              </a:r>
            </a:p>
          </p:txBody>
        </p:sp>
        <p:sp>
          <p:nvSpPr>
            <p:cNvPr id="391" name="tx391"/>
            <p:cNvSpPr/>
            <p:nvPr/>
          </p:nvSpPr>
          <p:spPr>
            <a:xfrm>
              <a:off x="5547034" y="6336567"/>
              <a:ext cx="101589" cy="78638"/>
            </a:xfrm>
            <a:prstGeom prst="rect">
              <a:avLst/>
            </a:prstGeom>
            <a:noFill/>
          </p:spPr>
          <p:txBody>
            <a:bodyPr lIns="0" rIns="0" tIns="0" bIns="0" anchorCtr="1" anchor="ctr" wrap="none"/>
            <a:lstStyle/>
            <a:p>
              <a:pPr algn="l" marL="0" marR="0" indent="0">
                <a:spcBef>
                  <a:spcPts val="0"/>
                </a:spcBef>
                <a:spcAft>
                  <a:spcPts val="0"/>
                </a:spcAft>
              </a:pPr>
              <a:r>
                <a:rPr sz="900" i="0" b="0">
                  <a:solidFill>
                    <a:srgbClr val="000000">
                      <a:alpha val="100000"/>
                    </a:srgbClr>
                  </a:solidFill>
                  <a:latin typeface="Liberation Sans"/>
                  <a:cs typeface="Liberation Sans"/>
                </a:rPr>
                <a:t>-5</a:t>
              </a:r>
            </a:p>
          </p:txBody>
        </p:sp>
        <p:sp>
          <p:nvSpPr>
            <p:cNvPr id="392" name="tx392"/>
            <p:cNvSpPr/>
            <p:nvPr/>
          </p:nvSpPr>
          <p:spPr>
            <a:xfrm>
              <a:off x="5813828" y="6336567"/>
              <a:ext cx="63550" cy="78638"/>
            </a:xfrm>
            <a:prstGeom prst="rect">
              <a:avLst/>
            </a:prstGeom>
            <a:noFill/>
          </p:spPr>
          <p:txBody>
            <a:bodyPr lIns="0" rIns="0" tIns="0" bIns="0" anchorCtr="1" anchor="ctr" wrap="none"/>
            <a:lstStyle/>
            <a:p>
              <a:pPr algn="l" marL="0" marR="0" indent="0">
                <a:spcBef>
                  <a:spcPts val="0"/>
                </a:spcBef>
                <a:spcAft>
                  <a:spcPts val="0"/>
                </a:spcAft>
              </a:pPr>
              <a:r>
                <a:rPr sz="900" i="0" b="0">
                  <a:solidFill>
                    <a:srgbClr val="000000">
                      <a:alpha val="100000"/>
                    </a:srgbClr>
                  </a:solidFill>
                  <a:latin typeface="Liberation Sans"/>
                  <a:cs typeface="Liberation Sans"/>
                </a:rPr>
                <a:t>0</a:t>
              </a:r>
            </a:p>
          </p:txBody>
        </p:sp>
        <p:sp>
          <p:nvSpPr>
            <p:cNvPr id="393" name="tx393"/>
            <p:cNvSpPr/>
            <p:nvPr/>
          </p:nvSpPr>
          <p:spPr>
            <a:xfrm>
              <a:off x="5912938" y="6336567"/>
              <a:ext cx="63550" cy="78638"/>
            </a:xfrm>
            <a:prstGeom prst="rect">
              <a:avLst/>
            </a:prstGeom>
            <a:noFill/>
          </p:spPr>
          <p:txBody>
            <a:bodyPr lIns="0" rIns="0" tIns="0" bIns="0" anchorCtr="1" anchor="ctr" wrap="none"/>
            <a:lstStyle/>
            <a:p>
              <a:pPr algn="l" marL="0" marR="0" indent="0">
                <a:spcBef>
                  <a:spcPts val="0"/>
                </a:spcBef>
                <a:spcAft>
                  <a:spcPts val="0"/>
                </a:spcAft>
              </a:pPr>
              <a:r>
                <a:rPr sz="900" i="0" b="0">
                  <a:solidFill>
                    <a:srgbClr val="000000">
                      <a:alpha val="100000"/>
                    </a:srgbClr>
                  </a:solidFill>
                  <a:latin typeface="Liberation Sans"/>
                  <a:cs typeface="Liberation Sans"/>
                </a:rPr>
                <a:t>2</a:t>
              </a:r>
            </a:p>
          </p:txBody>
        </p:sp>
        <p:sp>
          <p:nvSpPr>
            <p:cNvPr id="394" name="tx394"/>
            <p:cNvSpPr/>
            <p:nvPr/>
          </p:nvSpPr>
          <p:spPr>
            <a:xfrm>
              <a:off x="6061603" y="6336567"/>
              <a:ext cx="63550" cy="78638"/>
            </a:xfrm>
            <a:prstGeom prst="rect">
              <a:avLst/>
            </a:prstGeom>
            <a:noFill/>
          </p:spPr>
          <p:txBody>
            <a:bodyPr lIns="0" rIns="0" tIns="0" bIns="0" anchorCtr="1" anchor="ctr" wrap="none"/>
            <a:lstStyle/>
            <a:p>
              <a:pPr algn="l" marL="0" marR="0" indent="0">
                <a:spcBef>
                  <a:spcPts val="0"/>
                </a:spcBef>
                <a:spcAft>
                  <a:spcPts val="0"/>
                </a:spcAft>
              </a:pPr>
              <a:r>
                <a:rPr sz="900" i="0" b="0">
                  <a:solidFill>
                    <a:srgbClr val="000000">
                      <a:alpha val="100000"/>
                    </a:srgbClr>
                  </a:solidFill>
                  <a:latin typeface="Liberation Sans"/>
                  <a:cs typeface="Liberation Sans"/>
                </a:rPr>
                <a:t>5</a:t>
              </a:r>
            </a:p>
          </p:txBody>
        </p:sp>
        <p:sp>
          <p:nvSpPr>
            <p:cNvPr id="395" name="tx395"/>
            <p:cNvSpPr/>
            <p:nvPr/>
          </p:nvSpPr>
          <p:spPr>
            <a:xfrm>
              <a:off x="6277603" y="6336567"/>
              <a:ext cx="127101" cy="78638"/>
            </a:xfrm>
            <a:prstGeom prst="rect">
              <a:avLst/>
            </a:prstGeom>
            <a:noFill/>
          </p:spPr>
          <p:txBody>
            <a:bodyPr lIns="0" rIns="0" tIns="0" bIns="0" anchorCtr="1" anchor="ctr" wrap="none"/>
            <a:lstStyle/>
            <a:p>
              <a:pPr algn="l" marL="0" marR="0" indent="0">
                <a:spcBef>
                  <a:spcPts val="0"/>
                </a:spcBef>
                <a:spcAft>
                  <a:spcPts val="0"/>
                </a:spcAft>
              </a:pPr>
              <a:r>
                <a:rPr sz="900" i="0" b="0">
                  <a:solidFill>
                    <a:srgbClr val="000000">
                      <a:alpha val="100000"/>
                    </a:srgbClr>
                  </a:solidFill>
                  <a:latin typeface="Liberation Sans"/>
                  <a:cs typeface="Liberation Sans"/>
                </a:rPr>
                <a:t>10</a:t>
              </a:r>
            </a:p>
          </p:txBody>
        </p:sp>
        <p:sp>
          <p:nvSpPr>
            <p:cNvPr id="396" name="tx396"/>
            <p:cNvSpPr/>
            <p:nvPr/>
          </p:nvSpPr>
          <p:spPr>
            <a:xfrm>
              <a:off x="4161096" y="6598423"/>
              <a:ext cx="1638787" cy="87416"/>
            </a:xfrm>
            <a:prstGeom prst="rect">
              <a:avLst/>
            </a:prstGeom>
            <a:noFill/>
          </p:spPr>
          <p:txBody>
            <a:bodyPr lIns="0" rIns="0" tIns="0" bIns="0" anchorCtr="1" anchor="ctr" wrap="none"/>
            <a:lstStyle/>
            <a:p>
              <a:pPr algn="l" marL="0" marR="0" indent="0">
                <a:spcBef>
                  <a:spcPts val="0"/>
                </a:spcBef>
                <a:spcAft>
                  <a:spcPts val="0"/>
                </a:spcAft>
              </a:pPr>
              <a:r>
                <a:rPr sz="1000" i="0" b="0">
                  <a:solidFill>
                    <a:srgbClr val="222222">
                      <a:alpha val="100000"/>
                    </a:srgbClr>
                  </a:solidFill>
                  <a:latin typeface="Liberation Sans"/>
                  <a:cs typeface="Liberation Sans"/>
                </a:rPr>
                <a:t>Favours combination therapy</a:t>
              </a:r>
            </a:p>
          </p:txBody>
        </p:sp>
        <p:sp>
          <p:nvSpPr>
            <p:cNvPr id="397" name="pl397"/>
            <p:cNvSpPr/>
            <p:nvPr/>
          </p:nvSpPr>
          <p:spPr>
            <a:xfrm>
              <a:off x="4161096" y="6537463"/>
              <a:ext cx="1638787" cy="0"/>
            </a:xfrm>
            <a:custGeom>
              <a:avLst/>
              <a:pathLst>
                <a:path w="1638787" h="0">
                  <a:moveTo>
                    <a:pt x="0" y="0"/>
                  </a:moveTo>
                  <a:lnTo>
                    <a:pt x="1638787" y="0"/>
                  </a:lnTo>
                </a:path>
              </a:pathLst>
            </a:custGeom>
            <a:ln w="7620" cap="rnd">
              <a:solidFill>
                <a:srgbClr val="222222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398" name="pl398"/>
            <p:cNvSpPr/>
            <p:nvPr/>
          </p:nvSpPr>
          <p:spPr>
            <a:xfrm>
              <a:off x="4161096" y="6514603"/>
              <a:ext cx="39594" cy="45719"/>
            </a:xfrm>
            <a:custGeom>
              <a:avLst/>
              <a:pathLst>
                <a:path w="39594" h="45719">
                  <a:moveTo>
                    <a:pt x="39594" y="0"/>
                  </a:moveTo>
                  <a:lnTo>
                    <a:pt x="0" y="22859"/>
                  </a:lnTo>
                  <a:lnTo>
                    <a:pt x="39594" y="45719"/>
                  </a:lnTo>
                </a:path>
              </a:pathLst>
            </a:custGeom>
            <a:ln w="7620" cap="rnd">
              <a:solidFill>
                <a:srgbClr val="222222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399" name="tx399"/>
            <p:cNvSpPr/>
            <p:nvPr/>
          </p:nvSpPr>
          <p:spPr>
            <a:xfrm>
              <a:off x="5891324" y="6598423"/>
              <a:ext cx="1236085" cy="87416"/>
            </a:xfrm>
            <a:prstGeom prst="rect">
              <a:avLst/>
            </a:prstGeom>
            <a:noFill/>
          </p:spPr>
          <p:txBody>
            <a:bodyPr lIns="0" rIns="0" tIns="0" bIns="0" anchorCtr="1" anchor="ctr" wrap="none"/>
            <a:lstStyle/>
            <a:p>
              <a:pPr algn="l" marL="0" marR="0" indent="0">
                <a:spcBef>
                  <a:spcPts val="0"/>
                </a:spcBef>
                <a:spcAft>
                  <a:spcPts val="0"/>
                </a:spcAft>
              </a:pPr>
              <a:r>
                <a:rPr sz="1000" i="0" b="0">
                  <a:solidFill>
                    <a:srgbClr val="222222">
                      <a:alpha val="100000"/>
                    </a:srgbClr>
                  </a:solidFill>
                  <a:latin typeface="Liberation Sans"/>
                  <a:cs typeface="Liberation Sans"/>
                </a:rPr>
                <a:t>Favours monotherapy</a:t>
              </a:r>
            </a:p>
          </p:txBody>
        </p:sp>
        <p:sp>
          <p:nvSpPr>
            <p:cNvPr id="400" name="pl400"/>
            <p:cNvSpPr/>
            <p:nvPr/>
          </p:nvSpPr>
          <p:spPr>
            <a:xfrm>
              <a:off x="5891324" y="6537463"/>
              <a:ext cx="1236085" cy="0"/>
            </a:xfrm>
            <a:custGeom>
              <a:avLst/>
              <a:pathLst>
                <a:path w="1236085" h="0">
                  <a:moveTo>
                    <a:pt x="1236085" y="0"/>
                  </a:moveTo>
                  <a:lnTo>
                    <a:pt x="0" y="0"/>
                  </a:lnTo>
                </a:path>
              </a:pathLst>
            </a:custGeom>
            <a:ln w="7620" cap="rnd">
              <a:solidFill>
                <a:srgbClr val="222222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401" name="pl401"/>
            <p:cNvSpPr/>
            <p:nvPr/>
          </p:nvSpPr>
          <p:spPr>
            <a:xfrm>
              <a:off x="7087815" y="6514603"/>
              <a:ext cx="39594" cy="45719"/>
            </a:xfrm>
            <a:custGeom>
              <a:avLst/>
              <a:pathLst>
                <a:path w="39594" h="45719">
                  <a:moveTo>
                    <a:pt x="0" y="45719"/>
                  </a:moveTo>
                  <a:lnTo>
                    <a:pt x="39594" y="22859"/>
                  </a:lnTo>
                  <a:lnTo>
                    <a:pt x="0" y="0"/>
                  </a:lnTo>
                </a:path>
              </a:pathLst>
            </a:custGeom>
            <a:ln w="7620" cap="rnd">
              <a:solidFill>
                <a:srgbClr val="222222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402" name="tx402"/>
            <p:cNvSpPr/>
            <p:nvPr/>
          </p:nvSpPr>
          <p:spPr>
            <a:xfrm>
              <a:off x="0" y="6629720"/>
              <a:ext cx="6925665" cy="113659"/>
            </a:xfrm>
            <a:prstGeom prst="rect">
              <a:avLst/>
            </a:prstGeom>
            <a:noFill/>
          </p:spPr>
          <p:txBody>
            <a:bodyPr lIns="0" rIns="0" tIns="0" bIns="0" anchorCtr="1" anchor="ctr" wrap="none"/>
            <a:lstStyle/>
            <a:p>
              <a:pPr algn="l" marL="0" marR="0" indent="0">
                <a:spcBef>
                  <a:spcPts val="0"/>
                </a:spcBef>
                <a:spcAft>
                  <a:spcPts val="0"/>
                </a:spcAft>
              </a:pPr>
              <a:r>
                <a:rPr sz="1300" i="0" b="1">
                  <a:solidFill>
                    <a:srgbClr val="111111">
                      <a:alpha val="100000"/>
                    </a:srgbClr>
                  </a:solidFill>
                  <a:latin typeface="Liberation Sans"/>
                  <a:cs typeface="Liberation Sans"/>
                </a:rPr>
                <a:t>Figure 3: Subgroup analysis for the primary endpoint of the intention-to-treat population</a:t>
              </a:r>
            </a:p>
          </p:txBody>
        </p:sp>
      </p:grpSp>
    </p:spTree>
  </p:cSld>
  <p:clrMapOvr>
    <a:masterClrMapping/>
  </p:clrMapOvr>
</p:sld>
</file>

<file path=ppt/tags/tag1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_AMO_UNIQUEIDENTIFIER" val="Empty"/>
</p:tagLst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Macintosh PowerPoint</Application>
  <PresentationFormat>Présentation à l'écran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Thème</vt:lpstr>
      </vt:variant>
      <vt:variant>
        <vt:i4>1</vt:i4>
      </vt:variant>
      <vt:variant>
        <vt:lpstr>Titres des diapositives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mitype="http://purl.org/dc/dcmitype/" xmlns:dcterms="http://purl.org/dc/terms/" xmlns:xsi="http://www.w3.org/2001/XMLSchema-instance">
  <dc:title/>
  <dc:subject/>
  <dc:creator/>
  <cp:keywords/>
  <dc:description/>
  <cp:lastModifiedBy>chaeeon.lee</cp:lastModifiedBy>
  <cp:revision>3</cp:revision>
  <dcterms:created xsi:type="dcterms:W3CDTF">2017-02-13T16:18:36Z</dcterms:created>
  <dcterms:modified xsi:type="dcterms:W3CDTF">2026-07-13T14:29:46Z</dcterms:modified>
  <cp:category/>
</cp:coreProperties>
</file>